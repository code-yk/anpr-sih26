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e026d1d378e4308" /><Relationship Type="http://schemas.openxmlformats.org/officeDocument/2006/relationships/extended-properties" Target="/docProps/app.xml" Id="Re750c0ea64f34aeb" /><Relationship Type="http://schemas.openxmlformats.org/officeDocument/2006/relationships/officeDocument" Target="/ppt/presentation.xml" Id="Rd6d2fc710a6642d2" /></Relationships>
</file>

<file path=ppt/presentation.xml><?xml version="1.0" encoding="utf-8"?>
<p:presentation xmlns:p="http://schemas.openxmlformats.org/presentationml/2006/main">
  <p:sldMasterIdLst>
    <p:sldMasterId xmlns:r="http://schemas.openxmlformats.org/officeDocument/2006/relationships" id="2147483648" r:id="Rac3a4b6aef614bad"/>
  </p:sldMasterIdLst>
  <p:notesMasterIdLst>
    <p:notesMasterId xmlns:r="http://schemas.openxmlformats.org/officeDocument/2006/relationships" r:id="R5b052077fd5f46f8"/>
  </p:notesMasterIdLst>
  <p:sldIdLst>
    <p:sldId xmlns:r="http://schemas.openxmlformats.org/officeDocument/2006/relationships" id="256" r:id="R19f2174dc3734f01"/>
    <p:sldId xmlns:r="http://schemas.openxmlformats.org/officeDocument/2006/relationships" id="257" r:id="Ra1939ceab77b45b3"/>
    <p:sldId xmlns:r="http://schemas.openxmlformats.org/officeDocument/2006/relationships" id="258" r:id="R91e2d41ca13446aa"/>
    <p:sldId xmlns:r="http://schemas.openxmlformats.org/officeDocument/2006/relationships" id="259" r:id="R0ddf2c7216374e81"/>
    <p:sldId xmlns:r="http://schemas.openxmlformats.org/officeDocument/2006/relationships" id="260" r:id="Rc881adad4f1947aa"/>
    <p:sldId xmlns:r="http://schemas.openxmlformats.org/officeDocument/2006/relationships" id="261" r:id="R2c50957755bd4e38"/>
    <p:sldId xmlns:r="http://schemas.openxmlformats.org/officeDocument/2006/relationships" id="262" r:id="R5f9c890d00b64f41"/>
    <p:sldId xmlns:r="http://schemas.openxmlformats.org/officeDocument/2006/relationships" id="263" r:id="R3edb247ca78342d2"/>
    <p:sldId xmlns:r="http://schemas.openxmlformats.org/officeDocument/2006/relationships" id="264" r:id="R3355943906074c86"/>
    <p:sldId xmlns:r="http://schemas.openxmlformats.org/officeDocument/2006/relationships" id="265" r:id="Rec7e587e98eb44c2"/>
    <p:sldId xmlns:r="http://schemas.openxmlformats.org/officeDocument/2006/relationships" id="266" r:id="R46452c0ed2824a3f"/>
    <p:sldId xmlns:r="http://schemas.openxmlformats.org/officeDocument/2006/relationships" id="267" r:id="Raf07e2a6a9154388"/>
    <p:sldId xmlns:r="http://schemas.openxmlformats.org/officeDocument/2006/relationships" id="268" r:id="R7d0fa9ba99bc4271"/>
    <p:sldId xmlns:r="http://schemas.openxmlformats.org/officeDocument/2006/relationships" id="269" r:id="R3c75249e128b44ba"/>
    <p:sldId xmlns:r="http://schemas.openxmlformats.org/officeDocument/2006/relationships" id="270" r:id="R5621c49953494e7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1650c6c1a80452d" /><Relationship Type="http://schemas.openxmlformats.org/officeDocument/2006/relationships/slideMaster" Target="/ppt/slideMasters/slideMaster1.xml" Id="Rac3a4b6aef614bad" /><Relationship Type="http://schemas.openxmlformats.org/officeDocument/2006/relationships/notesMaster" Target="/ppt/notesMasters/notesMaster1.xml" Id="R5b052077fd5f46f8" /><Relationship Type="http://schemas.openxmlformats.org/officeDocument/2006/relationships/presProps" Target="/ppt/presProps.xml" Id="R943ea2eeaddc4b1c" /><Relationship Type="http://schemas.openxmlformats.org/officeDocument/2006/relationships/viewProps" Target="/ppt/viewProps.xml" Id="R227d0da46d7743ec" /><Relationship Type="http://schemas.openxmlformats.org/officeDocument/2006/relationships/tableStyles" Target="/ppt/tableStyles.xml" Id="Rca8b6c48d1c24794" /><Relationship Type="http://schemas.openxmlformats.org/officeDocument/2006/relationships/slide" Target="/ppt/slides/slide1.xml" Id="R19f2174dc3734f01" /><Relationship Type="http://schemas.openxmlformats.org/officeDocument/2006/relationships/slide" Target="/ppt/slides/slide2.xml" Id="Ra1939ceab77b45b3" /><Relationship Type="http://schemas.openxmlformats.org/officeDocument/2006/relationships/slide" Target="/ppt/slides/slide3.xml" Id="R91e2d41ca13446aa" /><Relationship Type="http://schemas.openxmlformats.org/officeDocument/2006/relationships/slide" Target="/ppt/slides/slide4.xml" Id="R0ddf2c7216374e81" /><Relationship Type="http://schemas.openxmlformats.org/officeDocument/2006/relationships/slide" Target="/ppt/slides/slide5.xml" Id="Rc881adad4f1947aa" /><Relationship Type="http://schemas.openxmlformats.org/officeDocument/2006/relationships/slide" Target="/ppt/slides/slide6.xml" Id="R2c50957755bd4e38" /><Relationship Type="http://schemas.openxmlformats.org/officeDocument/2006/relationships/slide" Target="/ppt/slides/slide7.xml" Id="R5f9c890d00b64f41" /><Relationship Type="http://schemas.openxmlformats.org/officeDocument/2006/relationships/slide" Target="/ppt/slides/slide8.xml" Id="R3edb247ca78342d2" /><Relationship Type="http://schemas.openxmlformats.org/officeDocument/2006/relationships/slide" Target="/ppt/slides/slide9.xml" Id="R3355943906074c86" /><Relationship Type="http://schemas.openxmlformats.org/officeDocument/2006/relationships/slide" Target="/ppt/slides/slide10.xml" Id="Rec7e587e98eb44c2" /><Relationship Type="http://schemas.openxmlformats.org/officeDocument/2006/relationships/slide" Target="/ppt/slides/slide11.xml" Id="R46452c0ed2824a3f" /><Relationship Type="http://schemas.openxmlformats.org/officeDocument/2006/relationships/slide" Target="/ppt/slides/slide12.xml" Id="Raf07e2a6a9154388" /><Relationship Type="http://schemas.openxmlformats.org/officeDocument/2006/relationships/slide" Target="/ppt/slides/slide13.xml" Id="R7d0fa9ba99bc4271" /><Relationship Type="http://schemas.openxmlformats.org/officeDocument/2006/relationships/slide" Target="/ppt/slides/slide14.xml" Id="R3c75249e128b44ba" /><Relationship Type="http://schemas.openxmlformats.org/officeDocument/2006/relationships/slide" Target="/ppt/slides/slide15.xml" Id="R5621c49953494e7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c5746edbae4451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c9f1d4a0ffd41da" /><Relationship Type="http://schemas.openxmlformats.org/officeDocument/2006/relationships/notesMaster" Target="/ppt/notesMasters/notesMaster1.xml" Id="R994b34cea2ac4b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cb5ce0989df4dc9" /><Relationship Type="http://schemas.openxmlformats.org/officeDocument/2006/relationships/notesMaster" Target="/ppt/notesMasters/notesMaster1.xml" Id="R87ee4c75205f48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19b81061c0874dfa" /><Relationship Type="http://schemas.openxmlformats.org/officeDocument/2006/relationships/notesMaster" Target="/ppt/notesMasters/notesMaster1.xml" Id="R13652efd4a8e4e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21d80c3ae5476c" /><Relationship Type="http://schemas.openxmlformats.org/officeDocument/2006/relationships/notesMaster" Target="/ppt/notesMasters/notesMaster1.xml" Id="R633ee25b164f4b9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a7651a6d15d4eaa" /><Relationship Type="http://schemas.openxmlformats.org/officeDocument/2006/relationships/notesMaster" Target="/ppt/notesMasters/notesMaster1.xml" Id="R2191c0adcc9246e6" /></Relationships>
</file>

<file path=ppt/notesSlides/_rels/notesSlide6.xml.rels>&#65279;<?xml version="1.0" encoding="utf-8"?><Relationships xmlns="http://schemas.openxmlformats.org/package/2006/relationships"><Relationship Type="http://schemas.openxmlformats.org/officeDocument/2006/relationships/slide" Target="/ppt/slides/slide6.xml" Id="R77cd957f3d114c18" /><Relationship Type="http://schemas.openxmlformats.org/officeDocument/2006/relationships/notesMaster" Target="/ppt/notesMasters/notesMaster1.xml" Id="R23b6044b10004254" /></Relationships>
</file>

<file path=ppt/notesSlides/_rels/notesSlide7.xml.rels>&#65279;<?xml version="1.0" encoding="utf-8"?><Relationships xmlns="http://schemas.openxmlformats.org/package/2006/relationships"><Relationship Type="http://schemas.openxmlformats.org/officeDocument/2006/relationships/slide" Target="/ppt/slides/slide7.xml" Id="Rba8edaf1e4764d1b" /><Relationship Type="http://schemas.openxmlformats.org/officeDocument/2006/relationships/notesMaster" Target="/ppt/notesMasters/notesMaster1.xml" Id="R405abbaeb730454b" /></Relationships>
</file>

<file path=ppt/notesSlides/_rels/notesSlide8.xml.rels>&#65279;<?xml version="1.0" encoding="utf-8"?><Relationships xmlns="http://schemas.openxmlformats.org/package/2006/relationships"><Relationship Type="http://schemas.openxmlformats.org/officeDocument/2006/relationships/slide" Target="/ppt/slides/slide8.xml" Id="R94edef37ad364e51" /><Relationship Type="http://schemas.openxmlformats.org/officeDocument/2006/relationships/notesMaster" Target="/ppt/notesMasters/notesMaster1.xml" Id="Rb692a07d33004db1" /></Relationships>
</file>

<file path=ppt/notesSlides/_rels/notesSlide9.xml.rels>&#65279;<?xml version="1.0" encoding="utf-8"?><Relationships xmlns="http://schemas.openxmlformats.org/package/2006/relationships"><Relationship Type="http://schemas.openxmlformats.org/officeDocument/2006/relationships/slide" Target="/ppt/slides/slide9.xml" Id="Rd1ad60eaeff94bd3" /><Relationship Type="http://schemas.openxmlformats.org/officeDocument/2006/relationships/notesMaster" Target="/ppt/notesMasters/notesMaster1.xml" Id="R84598194dc814ff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09e35f74d614d80" /><Relationship Type="http://schemas.openxmlformats.org/officeDocument/2006/relationships/notesMaster" Target="/ppt/notesMasters/notesMaster1.xml" Id="Rc60157907b9b4b0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ca4100ef34c400a" /><Relationship Type="http://schemas.openxmlformats.org/officeDocument/2006/relationships/notesMaster" Target="/ppt/notesMasters/notesMaster1.xml" Id="R01c86b40459c490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9b84f9966474691" /><Relationship Type="http://schemas.openxmlformats.org/officeDocument/2006/relationships/notesMaster" Target="/ppt/notesMasters/notesMaster1.xml" Id="R1d9891456a204f2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9f73b67d4ff4150" /><Relationship Type="http://schemas.openxmlformats.org/officeDocument/2006/relationships/notesMaster" Target="/ppt/notesMasters/notesMaster1.xml" Id="Rd81646d21f15442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644638de17548bc" /><Relationship Type="http://schemas.openxmlformats.org/officeDocument/2006/relationships/notesMaster" Target="/ppt/notesMasters/notesMaster1.xml" Id="R36118a2d6dcd41f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e32597b638245d7" /><Relationship Type="http://schemas.openxmlformats.org/officeDocument/2006/relationships/notesMaster" Target="/ppt/notesMasters/notesMaster1.xml" Id="R56e98b1a274a42f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docs/Sentinel-High-Level-Design.docx</a:t>
            </a:r>
          </a:p>
          <a:p xmlns:a="http://schemas.openxmlformats.org/drawingml/2006/main">
            <a:r>
              <a:t>- User-provided Solution Presentation guideline</a:t>
            </a:r>
          </a:p>
          <a:p xmlns:a="http://schemas.openxmlformats.org/drawingml/2006/main">
            <a:r>
              <a:t>- Existing Sentinel presentation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docs/Sentinel-High-Level-Design.docx</a:t>
            </a:r>
          </a:p>
          <a:p xmlns:a="http://schemas.openxmlformats.org/drawingml/2006/main">
            <a:r>
              <a:t>- User-provided Solution Presentation guideline</a:t>
            </a:r>
          </a:p>
          <a:p xmlns:a="http://schemas.openxmlformats.org/drawingml/2006/main">
            <a:r>
              <a:t>- Existing Sentinel presentation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docs/Sentinel-High-Level-Design.docx</a:t>
            </a:r>
          </a:p>
          <a:p xmlns:a="http://schemas.openxmlformats.org/drawingml/2006/main">
            <a:r>
              <a:t>- User-provided Solution Presentation guideline</a:t>
            </a:r>
          </a:p>
          <a:p xmlns:a="http://schemas.openxmlformats.org/drawingml/2006/main">
            <a:r>
              <a:t>- Existing Sentinel presentation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docs/Sentinel-High-Level-Design.docx</a:t>
            </a:r>
          </a:p>
          <a:p xmlns:a="http://schemas.openxmlformats.org/drawingml/2006/main">
            <a:r>
              <a:t>- User-provided Solution Presentation guideline</a:t>
            </a:r>
          </a:p>
          <a:p xmlns:a="http://schemas.openxmlformats.org/drawingml/2006/main">
            <a:r>
              <a:t>- Existing Sentinel presentation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docs/Sentinel-High-Level-Design.docx</a:t>
            </a:r>
          </a:p>
          <a:p xmlns:a="http://schemas.openxmlformats.org/drawingml/2006/main">
            <a:r>
              <a:t>- User-provided Solution Presentation guideline</a:t>
            </a:r>
          </a:p>
          <a:p xmlns:a="http://schemas.openxmlformats.org/drawingml/2006/main">
            <a:r>
              <a:t>- Existing Sentinel presentation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docs/Sentinel-High-Level-Design.docx</a:t>
            </a:r>
          </a:p>
          <a:p xmlns:a="http://schemas.openxmlformats.org/drawingml/2006/main">
            <a:r>
              <a:t>- User-provided Solution Presentation guideline</a:t>
            </a:r>
          </a:p>
          <a:p xmlns:a="http://schemas.openxmlformats.org/drawingml/2006/main">
            <a:r>
              <a:t>- Existing Sentinel presentation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docs/Sentinel-High-Level-Design.docx</a:t>
            </a:r>
          </a:p>
          <a:p xmlns:a="http://schemas.openxmlformats.org/drawingml/2006/main">
            <a:r>
              <a:t>- User-provided Solution Presentation guideline</a:t>
            </a:r>
          </a:p>
          <a:p xmlns:a="http://schemas.openxmlformats.org/drawingml/2006/main">
            <a:r>
              <a:t>- Existing Sentinel presentation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docs/Sentinel-High-Level-Design.docx</a:t>
            </a:r>
          </a:p>
          <a:p xmlns:a="http://schemas.openxmlformats.org/drawingml/2006/main">
            <a:r>
              <a:t>- User-provided Solution Presentation guideline</a:t>
            </a:r>
          </a:p>
          <a:p xmlns:a="http://schemas.openxmlformats.org/drawingml/2006/main">
            <a:r>
              <a:t>- Existing Sentinel presentation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docs/Sentinel-High-Level-Design.docx</a:t>
            </a:r>
          </a:p>
          <a:p xmlns:a="http://schemas.openxmlformats.org/drawingml/2006/main">
            <a:r>
              <a:t>- User-provided Solution Presentation guideline</a:t>
            </a:r>
          </a:p>
          <a:p xmlns:a="http://schemas.openxmlformats.org/drawingml/2006/main">
            <a:r>
              <a:t>- Existing Sentinel presentation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docs/Sentinel-High-Level-Design.docx</a:t>
            </a:r>
          </a:p>
          <a:p xmlns:a="http://schemas.openxmlformats.org/drawingml/2006/main">
            <a:r>
              <a:t>- User-provided Solution Presentation guideline</a:t>
            </a:r>
          </a:p>
          <a:p xmlns:a="http://schemas.openxmlformats.org/drawingml/2006/main">
            <a:r>
              <a:t>- Existing Sentinel presentation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docs/Sentinel-High-Level-Design.docx</a:t>
            </a:r>
          </a:p>
          <a:p xmlns:a="http://schemas.openxmlformats.org/drawingml/2006/main">
            <a:r>
              <a:t>- User-provided Solution Presentation guideline</a:t>
            </a:r>
          </a:p>
          <a:p xmlns:a="http://schemas.openxmlformats.org/drawingml/2006/main">
            <a:r>
              <a:t>- Existing Sentinel presentation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docs/Sentinel-High-Level-Design.docx</a:t>
            </a:r>
          </a:p>
          <a:p xmlns:a="http://schemas.openxmlformats.org/drawingml/2006/main">
            <a:r>
              <a:t>- User-provided Solution Presentation guideline</a:t>
            </a:r>
          </a:p>
          <a:p xmlns:a="http://schemas.openxmlformats.org/drawingml/2006/main">
            <a:r>
              <a:t>- Existing Sentinel presentation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docs/Sentinel-High-Level-Design.docx</a:t>
            </a:r>
          </a:p>
          <a:p xmlns:a="http://schemas.openxmlformats.org/drawingml/2006/main">
            <a:r>
              <a:t>- User-provided Solution Presentation guideline</a:t>
            </a:r>
          </a:p>
          <a:p xmlns:a="http://schemas.openxmlformats.org/drawingml/2006/main">
            <a:r>
              <a:t>- Existing Sentinel presentation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docs/Sentinel-High-Level-Design.docx</a:t>
            </a:r>
          </a:p>
          <a:p xmlns:a="http://schemas.openxmlformats.org/drawingml/2006/main">
            <a:r>
              <a:t>- User-provided Solution Presentation guideline</a:t>
            </a:r>
          </a:p>
          <a:p xmlns:a="http://schemas.openxmlformats.org/drawingml/2006/main">
            <a:r>
              <a:t>- Existing Sentinel presentation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docs/Sentinel-High-Level-Design.docx</a:t>
            </a:r>
          </a:p>
          <a:p xmlns:a="http://schemas.openxmlformats.org/drawingml/2006/main">
            <a:r>
              <a:t>- User-provided Solution Presentation guideline</a:t>
            </a:r>
          </a:p>
          <a:p xmlns:a="http://schemas.openxmlformats.org/drawingml/2006/main">
            <a:r>
              <a:t>- Existing Sentinel presentation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04085a495f74c25"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6af0b97776a4820" /><Relationship Type="http://schemas.openxmlformats.org/officeDocument/2006/relationships/slideLayout" Target="/ppt/slideLayouts/slideLayout1.xml" Id="R0e7dc756a325498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7dc756a325498a"/>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150c5194bd1405f" /><Relationship Type="http://schemas.openxmlformats.org/officeDocument/2006/relationships/notesSlide" Target="/ppt/notesSlides/notesSlide1.xml" Id="R1d2cfc7653494f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095cf69236d4094" /><Relationship Type="http://schemas.openxmlformats.org/officeDocument/2006/relationships/notesSlide" Target="/ppt/notesSlides/notesSlide2.xml" Id="Rc2a74b1204054bb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ea787b7495549be" /><Relationship Type="http://schemas.openxmlformats.org/officeDocument/2006/relationships/image" Target="/ppt/media/image.png" Id="R393d4591be79493a" /><Relationship Type="http://schemas.openxmlformats.org/officeDocument/2006/relationships/image" Target="/ppt/media/image2.png" Id="R0021d019ac9648d5" /><Relationship Type="http://schemas.openxmlformats.org/officeDocument/2006/relationships/image" Target="/ppt/media/image3.png" Id="R9f80d056575d40ce" /><Relationship Type="http://schemas.openxmlformats.org/officeDocument/2006/relationships/notesSlide" Target="/ppt/notesSlides/notesSlide3.xml" Id="R723748d46f2b42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9957cd7cc0f438e" /><Relationship Type="http://schemas.openxmlformats.org/officeDocument/2006/relationships/image" Target="/ppt/media/image4.png" Id="Rf2b8e796a7a6441f" /><Relationship Type="http://schemas.openxmlformats.org/officeDocument/2006/relationships/image" Target="/ppt/media/image5.png" Id="R70fb07b05fad40be" /><Relationship Type="http://schemas.openxmlformats.org/officeDocument/2006/relationships/image" Target="/ppt/media/image6.png" Id="R53fb333d8fe5466c" /><Relationship Type="http://schemas.openxmlformats.org/officeDocument/2006/relationships/notesSlide" Target="/ppt/notesSlides/notesSlide4.xml" Id="Ra049b42a887049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dc3ea5fb6af4b8c" /><Relationship Type="http://schemas.openxmlformats.org/officeDocument/2006/relationships/notesSlide" Target="/ppt/notesSlides/notesSlide5.xml" Id="R5c0de72678d24fa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c99eb939fa9451b" /><Relationship Type="http://schemas.openxmlformats.org/officeDocument/2006/relationships/image" Target="/ppt/media/image7.png" Id="R9460a7e1179b4128" /><Relationship Type="http://schemas.openxmlformats.org/officeDocument/2006/relationships/image" Target="/ppt/media/image8.png" Id="Re1a087e68ab94a88" /><Relationship Type="http://schemas.openxmlformats.org/officeDocument/2006/relationships/image" Target="/ppt/media/image9.png" Id="R9f198733b2d14001" /><Relationship Type="http://schemas.openxmlformats.org/officeDocument/2006/relationships/notesSlide" Target="/ppt/notesSlides/notesSlide6.xml" Id="Rec5c757329bf4f8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8da937c22f7465a" /><Relationship Type="http://schemas.openxmlformats.org/officeDocument/2006/relationships/image" Target="/ppt/media/image10.png" Id="R432d514a40174706" /><Relationship Type="http://schemas.openxmlformats.org/officeDocument/2006/relationships/image" Target="/ppt/media/image11.png" Id="R6eb5cc3c3f7943cd" /><Relationship Type="http://schemas.openxmlformats.org/officeDocument/2006/relationships/image" Target="/ppt/media/image12.png" Id="R7d7f802da7c646b3" /><Relationship Type="http://schemas.openxmlformats.org/officeDocument/2006/relationships/notesSlide" Target="/ppt/notesSlides/notesSlide7.xml" Id="Ra404f181628b4fc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0e63138ad3844fc" /><Relationship Type="http://schemas.openxmlformats.org/officeDocument/2006/relationships/image" Target="/ppt/media/image13.png" Id="Rf9df5ef4ed8b4f6d" /><Relationship Type="http://schemas.openxmlformats.org/officeDocument/2006/relationships/image" Target="/ppt/media/image14.png" Id="R604436c2bb6a4744" /><Relationship Type="http://schemas.openxmlformats.org/officeDocument/2006/relationships/image" Target="/ppt/media/image15.png" Id="R5ff9ece31a2641f9" /><Relationship Type="http://schemas.openxmlformats.org/officeDocument/2006/relationships/notesSlide" Target="/ppt/notesSlides/notesSlide8.xml" Id="Rc7d55ff15da7490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22db6da6fc44e3e" /><Relationship Type="http://schemas.openxmlformats.org/officeDocument/2006/relationships/notesSlide" Target="/ppt/notesSlides/notesSlide9.xml" Id="R4ffeb8aa953f439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44ce751055944cc" /><Relationship Type="http://schemas.openxmlformats.org/officeDocument/2006/relationships/image" Target="/ppt/media/image16.png" Id="Re0238a8d36bf47bf" /><Relationship Type="http://schemas.openxmlformats.org/officeDocument/2006/relationships/image" Target="/ppt/media/image17.png" Id="Rab2c975ff4e14664" /><Relationship Type="http://schemas.openxmlformats.org/officeDocument/2006/relationships/notesSlide" Target="/ppt/notesSlides/notesSlide10.xml" Id="Rc075a41cbf044d8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aaf399ffd6d45ae" /><Relationship Type="http://schemas.openxmlformats.org/officeDocument/2006/relationships/image" Target="/ppt/media/image18.png" Id="Rd53a48bb664d4da9" /><Relationship Type="http://schemas.openxmlformats.org/officeDocument/2006/relationships/image" Target="/ppt/media/image19.png" Id="R9026238f4b2f48a6" /><Relationship Type="http://schemas.openxmlformats.org/officeDocument/2006/relationships/image" Target="/ppt/media/image4.png" Id="R194d85222fb0401d" /><Relationship Type="http://schemas.openxmlformats.org/officeDocument/2006/relationships/image" Target="/ppt/media/image20.png" Id="R7473aba51b8249cb" /><Relationship Type="http://schemas.openxmlformats.org/officeDocument/2006/relationships/notesSlide" Target="/ppt/notesSlides/notesSlide11.xml" Id="R116110d7a353453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bca1b80c31a4b71" /><Relationship Type="http://schemas.openxmlformats.org/officeDocument/2006/relationships/notesSlide" Target="/ppt/notesSlides/notesSlide12.xml" Id="Rc9798e1ab26c409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5495ba3e600477d" /><Relationship Type="http://schemas.openxmlformats.org/officeDocument/2006/relationships/image" Target="/ppt/media/image7.png" Id="Ref2bfe2b2d484c5b" /><Relationship Type="http://schemas.openxmlformats.org/officeDocument/2006/relationships/image" Target="/ppt/media/image21.png" Id="R0df8538d8d5a4299" /><Relationship Type="http://schemas.openxmlformats.org/officeDocument/2006/relationships/image" Target="/ppt/media/image22.png" Id="Rb0a07f74a9384d70" /><Relationship Type="http://schemas.openxmlformats.org/officeDocument/2006/relationships/notesSlide" Target="/ppt/notesSlides/notesSlide13.xml" Id="R4e255184320940b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73a6e4096904c90" /><Relationship Type="http://schemas.openxmlformats.org/officeDocument/2006/relationships/image" Target="/ppt/media/image.svg" Id="Rf6b72c59e4c94b18" /><Relationship Type="http://schemas.openxmlformats.org/officeDocument/2006/relationships/image" Target="/ppt/media/image.png" Id="R588e02c206464fc4" /><Relationship Type="http://schemas.openxmlformats.org/officeDocument/2006/relationships/notesSlide" Target="/ppt/notesSlides/notesSlide14.xml" Id="R720381e7599b418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1419146e7c34812" /><Relationship Type="http://schemas.openxmlformats.org/officeDocument/2006/relationships/image" Target="/ppt/media/image3.png" Id="R8bf5053502ff47ff" /><Relationship Type="http://schemas.openxmlformats.org/officeDocument/2006/relationships/image" Target="/ppt/media/image.png" Id="R4c51f467349540bc" /><Relationship Type="http://schemas.openxmlformats.org/officeDocument/2006/relationships/image" Target="/ppt/media/image.svg" Id="Rbd3f52c911e046bc" /><Relationship Type="http://schemas.openxmlformats.org/officeDocument/2006/relationships/notesSlide" Target="/ppt/notesSlides/notesSlide15.xml" Id="R1d31e188a7cf47f7" /></Relationships>
</file>

<file path=ppt/slides/slide1.xml><?xml version="1.0" encoding="utf-8"?>
<p:sld xmlns:p="http://schemas.openxmlformats.org/presentationml/2006/main">
  <p:cSld>
    <p:bg>
      <p:bgPr>
        <a:solidFill xmlns:a="http://schemas.openxmlformats.org/drawingml/2006/main">
          <a:srgbClr val="12242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6D37276-8BF3-4C12-BE76-C0BBA9A88375}"/>
              </a:ext>
            </a:extLst>
          </p:cNvPr>
          <p:cNvSpPr>
            <a:spLocks xmlns:a="http://schemas.openxmlformats.org/drawingml/2006/main" noGrp="1"/>
          </p:cNvSpPr>
          <p:nvPr/>
        </p:nvSpPr>
        <p:spPr>
          <a:xfrm xmlns:a="http://schemas.openxmlformats.org/drawingml/2006/main">
            <a:off x="548640" y="64008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spc="200">
                <a:solidFill>
                  <a:srgbClr val="8E9B96"/>
                </a:solidFill>
                <a:latin typeface="Courier New"/>
                <a:ea typeface="Courier New"/>
                <a:cs typeface="Courier New"/>
              </a:rPr>
              <a:t>SENTINEL | GUJARAT POLICE INNOVATION HACKATHON 2026</a:t>
            </a:r>
            <a:endParaRPr sz="1100"/>
          </a:p>
        </p:txBody>
      </p:sp>
      <p:sp>
        <p:nvSpPr>
          <p:cNvPr id="3" name="Text 1">
            <a:extLst xmlns:a="http://schemas.openxmlformats.org/drawingml/2006/main">
              <a:ext uri="{FF2B5EF4-FFF2-40B4-BE49-F238E27FC236}">
                <a16:creationId xmlns:a16="http://schemas.microsoft.com/office/drawing/2014/main" id="{0A6EB94E-9C44-4E5A-89BE-2E177D3704A1}"/>
              </a:ext>
            </a:extLst>
          </p:cNvPr>
          <p:cNvSpPr>
            <a:spLocks xmlns:a="http://schemas.openxmlformats.org/drawingml/2006/main" noGrp="1"/>
          </p:cNvSpPr>
          <p:nvPr/>
        </p:nvSpPr>
        <p:spPr>
          <a:xfrm xmlns:a="http://schemas.openxmlformats.org/drawingml/2006/main">
            <a:off x="548640" y="2331720"/>
            <a:ext cx="105156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600" b="1">
                <a:solidFill>
                  <a:srgbClr val="FFFFFF"/>
                </a:solidFill>
                <a:latin typeface="Cambria"/>
                <a:ea typeface="Cambria"/>
                <a:cs typeface="Cambria"/>
              </a:rPr>
              <a:t>Sentinel Gujarat</a:t>
            </a:r>
            <a:endParaRPr sz="6600"/>
          </a:p>
        </p:txBody>
      </p:sp>
      <p:sp>
        <p:nvSpPr>
          <p:cNvPr id="4" name="Text 2">
            <a:extLst xmlns:a="http://schemas.openxmlformats.org/drawingml/2006/main">
              <a:ext uri="{FF2B5EF4-FFF2-40B4-BE49-F238E27FC236}">
                <a16:creationId xmlns:a16="http://schemas.microsoft.com/office/drawing/2014/main" id="{896EA6FA-3EA4-4F61-ACCA-3211723AF68C}"/>
              </a:ext>
            </a:extLst>
          </p:cNvPr>
          <p:cNvSpPr>
            <a:spLocks xmlns:a="http://schemas.openxmlformats.org/drawingml/2006/main" noGrp="1"/>
          </p:cNvSpPr>
          <p:nvPr/>
        </p:nvSpPr>
        <p:spPr>
          <a:xfrm xmlns:a="http://schemas.openxmlformats.org/drawingml/2006/main">
            <a:off x="548640" y="3794760"/>
            <a:ext cx="87782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800">
                <a:solidFill>
                  <a:srgbClr val="C9D2CE"/>
                </a:solidFill>
                <a:latin typeface="Calibri"/>
                <a:ea typeface="Calibri"/>
                <a:cs typeface="Calibri"/>
              </a:rPr>
              <a:t>Unified CCTV Integration and Live Video Intelligence Platform.</a:t>
            </a:r>
            <a:endParaRPr sz="1800"/>
          </a:p>
          <a:p xmlns:a="http://schemas.openxmlformats.org/drawingml/2006/main">
            <a:pPr marL="0" indent="0">
              <a:lnSpc>
                <a:spcPct val="125000"/>
              </a:lnSpc>
              <a:buNone/>
            </a:pPr>
            <a:endParaRPr sz="1800"/>
          </a:p>
        </p:txBody>
      </p:sp>
      <p:sp>
        <p:nvSpPr>
          <p:cNvPr id="5" name="Shape 3">
            <a:extLst xmlns:a="http://schemas.openxmlformats.org/drawingml/2006/main">
              <a:ext uri="{FF2B5EF4-FFF2-40B4-BE49-F238E27FC236}">
                <a16:creationId xmlns:a16="http://schemas.microsoft.com/office/drawing/2014/main" id="{EC1466F7-2D92-44C3-92FA-39741AF1C60D}"/>
              </a:ext>
            </a:extLst>
          </p:cNvPr>
          <p:cNvSpPr>
            <a:spLocks xmlns:a="http://schemas.openxmlformats.org/drawingml/2006/main" noGrp="1"/>
          </p:cNvSpPr>
          <p:nvPr/>
        </p:nvSpPr>
        <p:spPr>
          <a:xfrm xmlns:a="http://schemas.openxmlformats.org/drawingml/2006/main">
            <a:off x="548640" y="4892040"/>
            <a:ext cx="9875520" cy="914"/>
          </a:xfrm>
          <a:prstGeom xmlns:a="http://schemas.openxmlformats.org/drawingml/2006/main" prst="line">
            <a:avLst/>
          </a:prstGeom>
          <a:noFill xmlns:a="http://schemas.openxmlformats.org/drawingml/2006/main"/>
          <a:ln xmlns:a="http://schemas.openxmlformats.org/drawingml/2006/main" w="12700">
            <a:solidFill>
              <a:srgbClr val="5C6864"/>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EBC386DC-2D77-43AC-942D-A19C2CEC0BA7}"/>
              </a:ext>
            </a:extLst>
          </p:cNvPr>
          <p:cNvSpPr>
            <a:spLocks xmlns:a="http://schemas.openxmlformats.org/drawingml/2006/main" noGrp="1"/>
          </p:cNvSpPr>
          <p:nvPr/>
        </p:nvSpPr>
        <p:spPr>
          <a:xfrm xmlns:a="http://schemas.openxmlformats.org/drawingml/2006/main">
            <a:off x="548640" y="5138928"/>
            <a:ext cx="5486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50">
                <a:solidFill>
                  <a:srgbClr val="1F7A5C"/>
                </a:solidFill>
                <a:latin typeface="Courier New"/>
                <a:ea typeface="Courier New"/>
                <a:cs typeface="Courier New"/>
              </a:rPr>
              <a:t>HYBRID MODEL 1 + MODEL 2</a:t>
            </a:r>
            <a:endParaRPr sz="1200"/>
          </a:p>
        </p:txBody>
      </p:sp>
      <p:sp>
        <p:nvSpPr>
          <p:cNvPr id="11" name="Text 9">
            <a:extLst xmlns:a="http://schemas.openxmlformats.org/drawingml/2006/main">
              <a:ext uri="{FF2B5EF4-FFF2-40B4-BE49-F238E27FC236}">
                <a16:creationId xmlns:a16="http://schemas.microsoft.com/office/drawing/2014/main" id="{F06F5F6D-C242-4C3F-9DED-2027EC87DEBB}"/>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150">
                <a:solidFill>
                  <a:srgbClr val="8E9B96"/>
                </a:solidFill>
                <a:latin typeface="Courier New"/>
                <a:ea typeface="Courier New"/>
                <a:cs typeface="Courier New"/>
              </a:rPr>
              <a:t>SENTINEL GUJARAT</a:t>
            </a:r>
            <a:endParaRPr sz="900"/>
          </a:p>
        </p:txBody>
      </p:sp>
      <p:sp>
        <p:nvSpPr>
          <p:cNvPr id="12" name="Text 10">
            <a:extLst xmlns:a="http://schemas.openxmlformats.org/drawingml/2006/main">
              <a:ext uri="{FF2B5EF4-FFF2-40B4-BE49-F238E27FC236}">
                <a16:creationId xmlns:a16="http://schemas.microsoft.com/office/drawing/2014/main" id="{D3EB21B9-5C1F-43AE-8679-BC3A79317F76}"/>
              </a:ext>
            </a:extLst>
          </p:cNvPr>
          <p:cNvSpPr>
            <a:spLocks xmlns:a="http://schemas.openxmlformats.org/drawingml/2006/main" noGrp="1"/>
          </p:cNvSpPr>
          <p:nvPr/>
        </p:nvSpPr>
        <p:spPr>
          <a:xfrm xmlns:a="http://schemas.openxmlformats.org/drawingml/2006/main">
            <a:off x="10728655" y="6473952"/>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8E9B96"/>
                </a:solidFill>
                <a:latin typeface="Courier New"/>
                <a:ea typeface="Courier New"/>
                <a:cs typeface="Courier New"/>
              </a:rPr>
              <a:t>01</a:t>
            </a:r>
            <a:endParaRPr sz="900"/>
          </a:p>
        </p:txBody>
      </p:sp>
      <p:sp>
        <p:nvSpPr>
          <p:cNvPr id="90" name="Text Credits">
            <a:extLst xmlns:a="http://schemas.openxmlformats.org/drawingml/2006/main">
              <a:ext uri="{FF2B5EF4-FFF2-40B4-BE49-F238E27FC236}">
                <a16:creationId xmlns:a16="http://schemas.microsoft.com/office/drawing/2014/main" id="{B77BAC15-A145-496A-A1CD-52F9A95EAAED}"/>
              </a:ext>
            </a:extLst>
          </p:cNvPr>
          <p:cNvSpPr>
            <a:spLocks xmlns:a="http://schemas.openxmlformats.org/drawingml/2006/main" noGrp="1"/>
          </p:cNvSpPr>
          <p:nvPr/>
        </p:nvSpPr>
        <p:spPr>
          <a:xfrm xmlns:a="http://schemas.openxmlformats.org/drawingml/2006/main">
            <a:off x="548640" y="5852160"/>
            <a:ext cx="98755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30000"/>
              </a:lnSpc>
              <a:buNone/>
            </a:pPr>
            <a:r>
              <a:rPr sz="1100">
                <a:solidFill>
                  <a:srgbClr val="8E9B96"/>
                </a:solidFill>
                <a:latin typeface="Calibri"/>
                <a:ea typeface="Calibri"/>
                <a:cs typeface="Calibri"/>
              </a:rPr>
              <a:t>Built by Vatsal Mehta, Sidharth Chakrat and Pratham Shah for the Gujarat Police Innovation Hackathon 2026 CCTV Integration Challenge (Sentinel).</a:t>
            </a:r>
            <a:endParaRPr sz="1100"/>
          </a:p>
        </p:txBody>
      </p:sp>
    </p:spTree>
    <p:extLst>
      <p:ext uri="{BB962C8B-B14F-4D97-AF65-F5344CB8AC3E}">
        <p14:creationId xmlns:p14="http://schemas.microsoft.com/office/powerpoint/2010/main" val="1117714506"/>
      </p:ext>
    </p:extLst>
  </p:cSld>
</p:sld>
</file>

<file path=ppt/slides/slide2.xml><?xml version="1.0" encoding="utf-8"?>
<p:sld xmlns:p="http://schemas.openxmlformats.org/presentationml/2006/main">
  <p:cSld>
    <p:bg>
      <p:bgPr>
        <a:solidFill xmlns:a="http://schemas.openxmlformats.org/drawingml/2006/main">
          <a:srgbClr val="12242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D53DD5E-97E6-4644-B75A-B12661F339B4}"/>
              </a:ext>
            </a:extLst>
          </p:cNvPr>
          <p:cNvSpPr>
            <a:spLocks xmlns:a="http://schemas.openxmlformats.org/drawingml/2006/main" noGrp="1"/>
          </p:cNvSpPr>
          <p:nvPr/>
        </p:nvSpPr>
        <p:spPr>
          <a:xfrm xmlns:a="http://schemas.openxmlformats.org/drawingml/2006/main">
            <a:off x="548640" y="64008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1F7A5C"/>
                </a:solidFill>
                <a:latin typeface="Courier New"/>
                <a:ea typeface="Courier New"/>
                <a:cs typeface="Courier New"/>
              </a:rPr>
              <a:t>SOLUTION OVERVIEW</a:t>
            </a:r>
            <a:endParaRPr sz="1100"/>
          </a:p>
        </p:txBody>
      </p:sp>
      <p:sp>
        <p:nvSpPr>
          <p:cNvPr id="3" name="Text 1">
            <a:extLst xmlns:a="http://schemas.openxmlformats.org/drawingml/2006/main">
              <a:ext uri="{FF2B5EF4-FFF2-40B4-BE49-F238E27FC236}">
                <a16:creationId xmlns:a16="http://schemas.microsoft.com/office/drawing/2014/main" id="{338E55C0-D8D7-4F91-B34E-141C6AEABAE7}"/>
              </a:ext>
            </a:extLst>
          </p:cNvPr>
          <p:cNvSpPr>
            <a:spLocks xmlns:a="http://schemas.openxmlformats.org/drawingml/2006/main" noGrp="1"/>
          </p:cNvSpPr>
          <p:nvPr/>
        </p:nvSpPr>
        <p:spPr>
          <a:xfrm xmlns:a="http://schemas.openxmlformats.org/drawingml/2006/main">
            <a:off x="548640" y="1371600"/>
            <a:ext cx="1097280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4400" b="1">
                <a:solidFill>
                  <a:srgbClr val="C9D2CE"/>
                </a:solidFill>
                <a:latin typeface="Cambria"/>
                <a:ea typeface="Cambria"/>
                <a:cs typeface="Cambria"/>
              </a:rPr>
              <a:t>One governed path from </a:t>
            </a:r>
            <a:r>
              <a:rPr sz="4400" b="1" i="1">
                <a:solidFill>
                  <a:srgbClr val="FFFFFF"/>
                </a:solidFill>
                <a:latin typeface="Cambria"/>
                <a:ea typeface="Cambria"/>
                <a:cs typeface="Cambria"/>
              </a:rPr>
              <a:t>camera</a:t>
            </a:r>
            <a:endParaRPr sz="4400"/>
          </a:p>
          <a:p xmlns:a="http://schemas.openxmlformats.org/drawingml/2006/main">
            <a:pPr marL="0" indent="0">
              <a:lnSpc>
                <a:spcPct val="112000"/>
              </a:lnSpc>
              <a:buNone/>
            </a:pPr>
            <a:r>
              <a:rPr sz="4400" b="1">
                <a:solidFill>
                  <a:srgbClr val="C9D2CE"/>
                </a:solidFill>
                <a:latin typeface="Cambria"/>
                <a:ea typeface="Cambria"/>
                <a:cs typeface="Cambria"/>
              </a:rPr>
              <a:t>to </a:t>
            </a:r>
            <a:endParaRPr sz="4400"/>
          </a:p>
          <a:p xmlns:a="http://schemas.openxmlformats.org/drawingml/2006/main">
            <a:pPr marL="0" indent="0">
              <a:lnSpc>
                <a:spcPct val="112000"/>
              </a:lnSpc>
              <a:buNone/>
            </a:pPr>
            <a:r>
              <a:rPr sz="4400" b="1" i="1">
                <a:solidFill>
                  <a:srgbClr val="1F7A5C"/>
                </a:solidFill>
                <a:latin typeface="Cambria"/>
                <a:ea typeface="Cambria"/>
                <a:cs typeface="Cambria"/>
              </a:rPr>
              <a:t>action</a:t>
            </a:r>
            <a:r>
              <a:rPr sz="4400" b="1">
                <a:solidFill>
                  <a:srgbClr val="C9D2CE"/>
                </a:solidFill>
                <a:latin typeface="Cambria"/>
                <a:ea typeface="Cambria"/>
                <a:cs typeface="Cambria"/>
              </a:rPr>
              <a:t>.</a:t>
            </a:r>
            <a:endParaRPr sz="4400"/>
          </a:p>
        </p:txBody>
      </p:sp>
      <p:sp>
        <p:nvSpPr>
          <p:cNvPr id="4" name="Text 2">
            <a:extLst xmlns:a="http://schemas.openxmlformats.org/drawingml/2006/main">
              <a:ext uri="{FF2B5EF4-FFF2-40B4-BE49-F238E27FC236}">
                <a16:creationId xmlns:a16="http://schemas.microsoft.com/office/drawing/2014/main" id="{BFF1F218-4570-4AA7-8C24-094F95C34923}"/>
              </a:ext>
            </a:extLst>
          </p:cNvPr>
          <p:cNvSpPr>
            <a:spLocks xmlns:a="http://schemas.openxmlformats.org/drawingml/2006/main" noGrp="1"/>
          </p:cNvSpPr>
          <p:nvPr/>
        </p:nvSpPr>
        <p:spPr>
          <a:xfrm xmlns:a="http://schemas.openxmlformats.org/drawingml/2006/main">
            <a:off x="548640" y="3794760"/>
            <a:ext cx="786384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2000"/>
              </a:lnSpc>
              <a:buNone/>
            </a:pPr>
            <a:r>
              <a:rPr sz="1650">
                <a:solidFill>
                  <a:srgbClr val="C9D2CE"/>
                </a:solidFill>
                <a:latin typeface="Calibri"/>
                <a:ea typeface="Calibri"/>
                <a:cs typeface="Calibri"/>
              </a:rPr>
              <a:t>Sentinel connects existing cameras, NVRs and VMS platforms without replacing them. It normalises source metadata, processes selected authorised streams, correlates analytics with watchlists, and routes verified alerts to operators.</a:t>
            </a:r>
            <a:endParaRPr sz="1650"/>
          </a:p>
        </p:txBody>
      </p:sp>
      <p:sp>
        <p:nvSpPr>
          <p:cNvPr id="5" name="Text 3">
            <a:extLst xmlns:a="http://schemas.openxmlformats.org/drawingml/2006/main">
              <a:ext uri="{FF2B5EF4-FFF2-40B4-BE49-F238E27FC236}">
                <a16:creationId xmlns:a16="http://schemas.microsoft.com/office/drawing/2014/main" id="{39634B32-C722-4559-8F67-E205EF837CA0}"/>
              </a:ext>
            </a:extLst>
          </p:cNvPr>
          <p:cNvSpPr>
            <a:spLocks xmlns:a="http://schemas.openxmlformats.org/drawingml/2006/main" noGrp="1"/>
          </p:cNvSpPr>
          <p:nvPr/>
        </p:nvSpPr>
        <p:spPr>
          <a:xfrm xmlns:a="http://schemas.openxmlformats.org/drawingml/2006/main">
            <a:off x="548640" y="5120640"/>
            <a:ext cx="8229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FFFFFF"/>
                </a:solidFill>
                <a:latin typeface="Calibri"/>
                <a:ea typeface="Calibri"/>
                <a:cs typeface="Calibri"/>
              </a:rPr>
              <a:t>Video stays close to the source; events, decisions and audit remain searchable.</a:t>
            </a:r>
            <a:endParaRPr sz="1650"/>
          </a:p>
        </p:txBody>
      </p:sp>
      <p:sp>
        <p:nvSpPr>
          <p:cNvPr id="6" name="Text 4">
            <a:extLst xmlns:a="http://schemas.openxmlformats.org/drawingml/2006/main">
              <a:ext uri="{FF2B5EF4-FFF2-40B4-BE49-F238E27FC236}">
                <a16:creationId xmlns:a16="http://schemas.microsoft.com/office/drawing/2014/main" id="{1AA4498F-C0FE-4FED-9E0A-BE3C4CE983AA}"/>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150">
                <a:solidFill>
                  <a:srgbClr val="8E9B96"/>
                </a:solidFill>
                <a:latin typeface="Courier New"/>
                <a:ea typeface="Courier New"/>
                <a:cs typeface="Courier New"/>
              </a:rPr>
              <a:t>SENTINEL GUJARAT</a:t>
            </a:r>
            <a:endParaRPr sz="900"/>
          </a:p>
        </p:txBody>
      </p:sp>
      <p:sp>
        <p:nvSpPr>
          <p:cNvPr id="7" name="Text 5">
            <a:extLst xmlns:a="http://schemas.openxmlformats.org/drawingml/2006/main">
              <a:ext uri="{FF2B5EF4-FFF2-40B4-BE49-F238E27FC236}">
                <a16:creationId xmlns:a16="http://schemas.microsoft.com/office/drawing/2014/main" id="{F25DF09C-23C9-4259-A79F-201CD70AED39}"/>
              </a:ext>
            </a:extLst>
          </p:cNvPr>
          <p:cNvSpPr>
            <a:spLocks xmlns:a="http://schemas.openxmlformats.org/drawingml/2006/main" noGrp="1"/>
          </p:cNvSpPr>
          <p:nvPr/>
        </p:nvSpPr>
        <p:spPr>
          <a:xfrm xmlns:a="http://schemas.openxmlformats.org/drawingml/2006/main">
            <a:off x="10728655" y="6473952"/>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8E9B96"/>
                </a:solidFill>
                <a:latin typeface="Courier New"/>
                <a:ea typeface="Courier New"/>
                <a:cs typeface="Courier New"/>
              </a:rPr>
              <a:t>02</a:t>
            </a:r>
            <a:endParaRPr sz="900"/>
          </a:p>
        </p:txBody>
      </p:sp>
    </p:spTree>
    <p:extLst>
      <p:ext uri="{BB962C8B-B14F-4D97-AF65-F5344CB8AC3E}">
        <p14:creationId xmlns:p14="http://schemas.microsoft.com/office/powerpoint/2010/main" val="57154150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DCE8F74-573B-4F11-90BE-8B9B3C1BEEC2}"/>
              </a:ext>
            </a:extLst>
          </p:cNvPr>
          <p:cNvSpPr>
            <a:spLocks xmlns:a="http://schemas.openxmlformats.org/drawingml/2006/main" noGrp="1"/>
          </p:cNvSpPr>
          <p:nvPr/>
        </p:nvSpPr>
        <p:spPr>
          <a:xfrm xmlns:a="http://schemas.openxmlformats.org/drawingml/2006/main">
            <a:off x="548640" y="45720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1F7A5C"/>
                </a:solidFill>
                <a:latin typeface="Courier New"/>
                <a:ea typeface="Courier New"/>
                <a:cs typeface="Courier New"/>
              </a:rPr>
              <a:t>OBJECTIVES</a:t>
            </a:r>
            <a:endParaRPr sz="1100"/>
          </a:p>
        </p:txBody>
      </p:sp>
      <p:sp>
        <p:nvSpPr>
          <p:cNvPr id="3" name="Text 1">
            <a:extLst xmlns:a="http://schemas.openxmlformats.org/drawingml/2006/main">
              <a:ext uri="{FF2B5EF4-FFF2-40B4-BE49-F238E27FC236}">
                <a16:creationId xmlns:a16="http://schemas.microsoft.com/office/drawing/2014/main" id="{96240D02-BED5-40F8-9825-E9FA9CBCB271}"/>
              </a:ext>
            </a:extLst>
          </p:cNvPr>
          <p:cNvSpPr>
            <a:spLocks xmlns:a="http://schemas.openxmlformats.org/drawingml/2006/main" noGrp="1"/>
          </p:cNvSpPr>
          <p:nvPr/>
        </p:nvSpPr>
        <p:spPr>
          <a:xfrm xmlns:a="http://schemas.openxmlformats.org/drawingml/2006/main">
            <a:off x="548640" y="749808"/>
            <a:ext cx="11094415"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2700" b="1">
                <a:solidFill>
                  <a:srgbClr val="12242A"/>
                </a:solidFill>
                <a:latin typeface="Cambria"/>
                <a:ea typeface="Cambria"/>
                <a:cs typeface="Cambria"/>
              </a:rPr>
              <a:t>Three objectives shape the design</a:t>
            </a:r>
            <a:endParaRPr sz="2700"/>
          </a:p>
        </p:txBody>
      </p:sp>
      <p:sp>
        <p:nvSpPr>
          <p:cNvPr id="4" name="Text 2">
            <a:extLst xmlns:a="http://schemas.openxmlformats.org/drawingml/2006/main">
              <a:ext uri="{FF2B5EF4-FFF2-40B4-BE49-F238E27FC236}">
                <a16:creationId xmlns:a16="http://schemas.microsoft.com/office/drawing/2014/main" id="{F3660DC9-0E42-4AA7-BA07-C3326A81DDBF}"/>
              </a:ext>
            </a:extLst>
          </p:cNvPr>
          <p:cNvSpPr>
            <a:spLocks xmlns:a="http://schemas.openxmlformats.org/drawingml/2006/main" noGrp="1"/>
          </p:cNvSpPr>
          <p:nvPr/>
        </p:nvSpPr>
        <p:spPr>
          <a:xfrm xmlns:a="http://schemas.openxmlformats.org/drawingml/2006/main">
            <a:off x="548640" y="1481328"/>
            <a:ext cx="106070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450">
                <a:solidFill>
                  <a:srgbClr val="6B7570"/>
                </a:solidFill>
                <a:latin typeface="Calibri"/>
                <a:ea typeface="Calibri"/>
                <a:cs typeface="Calibri"/>
              </a:rPr>
              <a:t>The platform must integrate a mixed estate, produce trustworthy analytics, and support statewide operations without moving every stream to one central site.</a:t>
            </a:r>
            <a:endParaRPr sz="1450"/>
          </a:p>
        </p:txBody>
      </p:sp>
      <p:sp>
        <p:nvSpPr>
          <p:cNvPr id="5" name="Shape 3">
            <a:extLst xmlns:a="http://schemas.openxmlformats.org/drawingml/2006/main">
              <a:ext uri="{FF2B5EF4-FFF2-40B4-BE49-F238E27FC236}">
                <a16:creationId xmlns:a16="http://schemas.microsoft.com/office/drawing/2014/main" id="{BF5DF717-DE25-41ED-911A-436302B7BA38}"/>
              </a:ext>
            </a:extLst>
          </p:cNvPr>
          <p:cNvSpPr>
            <a:spLocks xmlns:a="http://schemas.openxmlformats.org/drawingml/2006/main" noGrp="1"/>
          </p:cNvSpPr>
          <p:nvPr/>
        </p:nvSpPr>
        <p:spPr>
          <a:xfrm xmlns:a="http://schemas.openxmlformats.org/drawingml/2006/main">
            <a:off x="548640" y="2514600"/>
            <a:ext cx="3515258" cy="2971800"/>
          </a:xfrm>
          <a:prstGeom xmlns:a="http://schemas.openxmlformats.org/drawingml/2006/main" prst="roundRect">
            <a:avLst>
              <a:gd name="adj" fmla="val 1846"/>
            </a:avLst>
          </a:prstGeom>
          <a:solidFill xmlns:a="http://schemas.openxmlformats.org/drawingml/2006/main">
            <a:srgbClr val="F1F3F1"/>
          </a:solidFill>
          <a:ln xmlns:a="http://schemas.openxmlformats.org/drawingml/2006/main" w="9525">
            <a:solidFill>
              <a:srgbClr val="DADFDC"/>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hape 4">
            <a:extLst xmlns:a="http://schemas.openxmlformats.org/drawingml/2006/main">
              <a:ext uri="{FF2B5EF4-FFF2-40B4-BE49-F238E27FC236}">
                <a16:creationId xmlns:a16="http://schemas.microsoft.com/office/drawing/2014/main" id="{767CCE08-495B-45C2-922C-64293DCBE7DA}"/>
              </a:ext>
            </a:extLst>
          </p:cNvPr>
          <p:cNvSpPr>
            <a:spLocks xmlns:a="http://schemas.openxmlformats.org/drawingml/2006/main" noGrp="1"/>
          </p:cNvSpPr>
          <p:nvPr/>
        </p:nvSpPr>
        <p:spPr>
          <a:xfrm xmlns:a="http://schemas.openxmlformats.org/drawingml/2006/main">
            <a:off x="841248" y="2807208"/>
            <a:ext cx="658368" cy="658368"/>
          </a:xfrm>
          <a:prstGeom xmlns:a="http://schemas.openxmlformats.org/drawingml/2006/main" prst="ellipse">
            <a:avLst/>
          </a:prstGeom>
          <a:solidFill xmlns:a="http://schemas.openxmlformats.org/drawingml/2006/main">
            <a:srgbClr val="E4F1EA"/>
          </a:solidFill>
        </p:spPr>
        <p:txBody>
          <a:bodyPr xmlns:a="http://schemas.openxmlformats.org/drawingml/2006/main"/>
          <a:lstStyle xmlns:a="http://schemas.openxmlformats.org/drawingml/2006/main"/>
          <a:p xmlns:a="http://schemas.openxmlformats.org/drawingml/2006/main">
            <a:endParaRPr/>
          </a:p>
        </p:txBody>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393d4591be79493a"/>
          <a:stretch xmlns:a="http://schemas.openxmlformats.org/drawingml/2006/main">
            <a:fillRect l="0" t="0" r="0" b="0"/>
          </a:stretch>
        </p:blipFill>
        <p:spPr>
          <a:xfrm xmlns:a="http://schemas.openxmlformats.org/drawingml/2006/main">
            <a:off x="986089" y="2952049"/>
            <a:ext cx="368686" cy="368686"/>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83D7C9FD-0E6B-4565-BD0A-9B487861D380}"/>
              </a:ext>
            </a:extLst>
          </p:cNvPr>
          <p:cNvSpPr>
            <a:spLocks xmlns:a="http://schemas.openxmlformats.org/drawingml/2006/main" noGrp="1"/>
          </p:cNvSpPr>
          <p:nvPr/>
        </p:nvSpPr>
        <p:spPr>
          <a:xfrm xmlns:a="http://schemas.openxmlformats.org/drawingml/2006/main">
            <a:off x="841248" y="3566160"/>
            <a:ext cx="296661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2242A"/>
                </a:solidFill>
                <a:latin typeface="Cambria"/>
                <a:ea typeface="Cambria"/>
                <a:cs typeface="Cambria"/>
              </a:rPr>
              <a:t>Connect the estate</a:t>
            </a:r>
            <a:endParaRPr sz="1600"/>
          </a:p>
        </p:txBody>
      </p:sp>
      <p:sp>
        <p:nvSpPr>
          <p:cNvPr id="9" name="Text 6">
            <a:extLst xmlns:a="http://schemas.openxmlformats.org/drawingml/2006/main">
              <a:ext uri="{FF2B5EF4-FFF2-40B4-BE49-F238E27FC236}">
                <a16:creationId xmlns:a16="http://schemas.microsoft.com/office/drawing/2014/main" id="{37F53BD9-058B-4017-9150-4DA9475DA894}"/>
              </a:ext>
            </a:extLst>
          </p:cNvPr>
          <p:cNvSpPr>
            <a:spLocks xmlns:a="http://schemas.openxmlformats.org/drawingml/2006/main" noGrp="1"/>
          </p:cNvSpPr>
          <p:nvPr/>
        </p:nvSpPr>
        <p:spPr>
          <a:xfrm xmlns:a="http://schemas.openxmlformats.org/drawingml/2006/main">
            <a:off x="841248" y="4050792"/>
            <a:ext cx="2966618"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0000"/>
              </a:lnSpc>
              <a:buNone/>
            </a:pPr>
            <a:r>
              <a:rPr sz="1250">
                <a:solidFill>
                  <a:srgbClr val="3A4744"/>
                </a:solidFill>
                <a:latin typeface="Calibri"/>
                <a:ea typeface="Calibri"/>
                <a:cs typeface="Calibri"/>
              </a:rPr>
              <a:t>Integrate cameras, NVRs and VMS products through standard protocols and replaceable adapters.</a:t>
            </a:r>
            <a:endParaRPr sz="1250"/>
          </a:p>
        </p:txBody>
      </p:sp>
      <p:sp>
        <p:nvSpPr>
          <p:cNvPr id="10" name="Shape 7">
            <a:extLst xmlns:a="http://schemas.openxmlformats.org/drawingml/2006/main">
              <a:ext uri="{FF2B5EF4-FFF2-40B4-BE49-F238E27FC236}">
                <a16:creationId xmlns:a16="http://schemas.microsoft.com/office/drawing/2014/main" id="{5D51A614-5977-412E-9312-062A58451322}"/>
              </a:ext>
            </a:extLst>
          </p:cNvPr>
          <p:cNvSpPr>
            <a:spLocks xmlns:a="http://schemas.openxmlformats.org/drawingml/2006/main" noGrp="1"/>
          </p:cNvSpPr>
          <p:nvPr/>
        </p:nvSpPr>
        <p:spPr>
          <a:xfrm xmlns:a="http://schemas.openxmlformats.org/drawingml/2006/main">
            <a:off x="4338218" y="2514600"/>
            <a:ext cx="3515258" cy="2971800"/>
          </a:xfrm>
          <a:prstGeom xmlns:a="http://schemas.openxmlformats.org/drawingml/2006/main" prst="roundRect">
            <a:avLst>
              <a:gd name="adj" fmla="val 1846"/>
            </a:avLst>
          </a:prstGeom>
          <a:solidFill xmlns:a="http://schemas.openxmlformats.org/drawingml/2006/main">
            <a:srgbClr val="F1F3F1"/>
          </a:solidFill>
          <a:ln xmlns:a="http://schemas.openxmlformats.org/drawingml/2006/main" w="9525">
            <a:solidFill>
              <a:srgbClr val="DADFDC"/>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8">
            <a:extLst xmlns:a="http://schemas.openxmlformats.org/drawingml/2006/main">
              <a:ext uri="{FF2B5EF4-FFF2-40B4-BE49-F238E27FC236}">
                <a16:creationId xmlns:a16="http://schemas.microsoft.com/office/drawing/2014/main" id="{24FCC6A8-10D7-463A-8AB1-C732A57CD69E}"/>
              </a:ext>
            </a:extLst>
          </p:cNvPr>
          <p:cNvSpPr>
            <a:spLocks xmlns:a="http://schemas.openxmlformats.org/drawingml/2006/main" noGrp="1"/>
          </p:cNvSpPr>
          <p:nvPr/>
        </p:nvSpPr>
        <p:spPr>
          <a:xfrm xmlns:a="http://schemas.openxmlformats.org/drawingml/2006/main">
            <a:off x="4630826" y="2807208"/>
            <a:ext cx="658368" cy="658368"/>
          </a:xfrm>
          <a:prstGeom xmlns:a="http://schemas.openxmlformats.org/drawingml/2006/main" prst="ellipse">
            <a:avLst/>
          </a:prstGeom>
          <a:solidFill xmlns:a="http://schemas.openxmlformats.org/drawingml/2006/main">
            <a:srgbClr val="E4F1EA"/>
          </a:solidFill>
        </p:spPr>
        <p:txBody>
          <a:bodyPr xmlns:a="http://schemas.openxmlformats.org/drawingml/2006/main"/>
          <a:lstStyle xmlns:a="http://schemas.openxmlformats.org/drawingml/2006/main"/>
          <a:p xmlns:a="http://schemas.openxmlformats.org/drawingml/2006/main">
            <a:endParaRPr/>
          </a:p>
        </p:txBody>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0021d019ac9648d5"/>
          <a:stretch xmlns:a="http://schemas.openxmlformats.org/drawingml/2006/main">
            <a:fillRect l="0" t="0" r="0" b="0"/>
          </a:stretch>
        </p:blipFill>
        <p:spPr>
          <a:xfrm xmlns:a="http://schemas.openxmlformats.org/drawingml/2006/main">
            <a:off x="4775667" y="2952049"/>
            <a:ext cx="368686" cy="368686"/>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770D9E5C-2954-4AA2-B172-1E56C498C4D4}"/>
              </a:ext>
            </a:extLst>
          </p:cNvPr>
          <p:cNvSpPr>
            <a:spLocks xmlns:a="http://schemas.openxmlformats.org/drawingml/2006/main" noGrp="1"/>
          </p:cNvSpPr>
          <p:nvPr/>
        </p:nvSpPr>
        <p:spPr>
          <a:xfrm xmlns:a="http://schemas.openxmlformats.org/drawingml/2006/main">
            <a:off x="4630826" y="3566160"/>
            <a:ext cx="296661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2242A"/>
                </a:solidFill>
                <a:latin typeface="Cambria"/>
                <a:ea typeface="Cambria"/>
                <a:cs typeface="Cambria"/>
              </a:rPr>
              <a:t>Create trusted events</a:t>
            </a:r>
            <a:endParaRPr sz="1600"/>
          </a:p>
        </p:txBody>
      </p:sp>
      <p:sp>
        <p:nvSpPr>
          <p:cNvPr id="14" name="Text 10">
            <a:extLst xmlns:a="http://schemas.openxmlformats.org/drawingml/2006/main">
              <a:ext uri="{FF2B5EF4-FFF2-40B4-BE49-F238E27FC236}">
                <a16:creationId xmlns:a16="http://schemas.microsoft.com/office/drawing/2014/main" id="{C4FEFD24-2DE7-442A-9E2A-39B3644762FD}"/>
              </a:ext>
            </a:extLst>
          </p:cNvPr>
          <p:cNvSpPr>
            <a:spLocks xmlns:a="http://schemas.openxmlformats.org/drawingml/2006/main" noGrp="1"/>
          </p:cNvSpPr>
          <p:nvPr/>
        </p:nvSpPr>
        <p:spPr>
          <a:xfrm xmlns:a="http://schemas.openxmlformats.org/drawingml/2006/main">
            <a:off x="4630826" y="4050792"/>
            <a:ext cx="2966618"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0000"/>
              </a:lnSpc>
              <a:buNone/>
            </a:pPr>
            <a:r>
              <a:rPr sz="1250">
                <a:solidFill>
                  <a:srgbClr val="3A4744"/>
                </a:solidFill>
                <a:latin typeface="Calibri"/>
                <a:ea typeface="Calibri"/>
                <a:cs typeface="Calibri"/>
              </a:rPr>
              <a:t>Keep source time, confidence and model provenance with every observation and alert.</a:t>
            </a:r>
            <a:endParaRPr sz="1250"/>
          </a:p>
        </p:txBody>
      </p:sp>
      <p:sp>
        <p:nvSpPr>
          <p:cNvPr id="15" name="Shape 11">
            <a:extLst xmlns:a="http://schemas.openxmlformats.org/drawingml/2006/main">
              <a:ext uri="{FF2B5EF4-FFF2-40B4-BE49-F238E27FC236}">
                <a16:creationId xmlns:a16="http://schemas.microsoft.com/office/drawing/2014/main" id="{08DB9BFE-D8FF-46E5-BCEB-69FCA8DE3935}"/>
              </a:ext>
            </a:extLst>
          </p:cNvPr>
          <p:cNvSpPr>
            <a:spLocks xmlns:a="http://schemas.openxmlformats.org/drawingml/2006/main" noGrp="1"/>
          </p:cNvSpPr>
          <p:nvPr/>
        </p:nvSpPr>
        <p:spPr>
          <a:xfrm xmlns:a="http://schemas.openxmlformats.org/drawingml/2006/main">
            <a:off x="8127797" y="2514600"/>
            <a:ext cx="3515258" cy="2971800"/>
          </a:xfrm>
          <a:prstGeom xmlns:a="http://schemas.openxmlformats.org/drawingml/2006/main" prst="roundRect">
            <a:avLst>
              <a:gd name="adj" fmla="val 1846"/>
            </a:avLst>
          </a:prstGeom>
          <a:solidFill xmlns:a="http://schemas.openxmlformats.org/drawingml/2006/main">
            <a:srgbClr val="F1F3F1"/>
          </a:solidFill>
          <a:ln xmlns:a="http://schemas.openxmlformats.org/drawingml/2006/main" w="9525">
            <a:solidFill>
              <a:srgbClr val="DADFDC"/>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Shape 12">
            <a:extLst xmlns:a="http://schemas.openxmlformats.org/drawingml/2006/main">
              <a:ext uri="{FF2B5EF4-FFF2-40B4-BE49-F238E27FC236}">
                <a16:creationId xmlns:a16="http://schemas.microsoft.com/office/drawing/2014/main" id="{E74B72AC-9FFA-441A-B85A-BEC06D7B01A0}"/>
              </a:ext>
            </a:extLst>
          </p:cNvPr>
          <p:cNvSpPr>
            <a:spLocks xmlns:a="http://schemas.openxmlformats.org/drawingml/2006/main" noGrp="1"/>
          </p:cNvSpPr>
          <p:nvPr/>
        </p:nvSpPr>
        <p:spPr>
          <a:xfrm xmlns:a="http://schemas.openxmlformats.org/drawingml/2006/main">
            <a:off x="8420405" y="2807208"/>
            <a:ext cx="658368" cy="658368"/>
          </a:xfrm>
          <a:prstGeom xmlns:a="http://schemas.openxmlformats.org/drawingml/2006/main" prst="ellipse">
            <a:avLst/>
          </a:prstGeom>
          <a:solidFill xmlns:a="http://schemas.openxmlformats.org/drawingml/2006/main">
            <a:srgbClr val="E4F1EA"/>
          </a:solidFill>
        </p:spPr>
        <p:txBody>
          <a:bodyPr xmlns:a="http://schemas.openxmlformats.org/drawingml/2006/main"/>
          <a:lstStyle xmlns:a="http://schemas.openxmlformats.org/drawingml/2006/main"/>
          <a:p xmlns:a="http://schemas.openxmlformats.org/drawingml/2006/main">
            <a:endParaRPr/>
          </a:p>
        </p:txBody>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9f80d056575d40ce"/>
          <a:stretch xmlns:a="http://schemas.openxmlformats.org/drawingml/2006/main">
            <a:fillRect l="0" t="0" r="0" b="0"/>
          </a:stretch>
        </p:blipFill>
        <p:spPr>
          <a:xfrm xmlns:a="http://schemas.openxmlformats.org/drawingml/2006/main">
            <a:off x="8565246" y="2952049"/>
            <a:ext cx="368686" cy="368686"/>
          </a:xfrm>
          <a:prstGeom xmlns:a="http://schemas.openxmlformats.org/drawingml/2006/main" prst="rect">
            <a:avLst/>
          </a:prstGeom>
        </p:spPr>
      </p:pic>
      <p:sp>
        <p:nvSpPr>
          <p:cNvPr id="18" name="Text 13">
            <a:extLst xmlns:a="http://schemas.openxmlformats.org/drawingml/2006/main">
              <a:ext uri="{FF2B5EF4-FFF2-40B4-BE49-F238E27FC236}">
                <a16:creationId xmlns:a16="http://schemas.microsoft.com/office/drawing/2014/main" id="{321C295B-7593-48EF-8B22-0DE2845655C6}"/>
              </a:ext>
            </a:extLst>
          </p:cNvPr>
          <p:cNvSpPr>
            <a:spLocks xmlns:a="http://schemas.openxmlformats.org/drawingml/2006/main" noGrp="1"/>
          </p:cNvSpPr>
          <p:nvPr/>
        </p:nvSpPr>
        <p:spPr>
          <a:xfrm xmlns:a="http://schemas.openxmlformats.org/drawingml/2006/main">
            <a:off x="8420405" y="3566160"/>
            <a:ext cx="296661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2242A"/>
                </a:solidFill>
                <a:latin typeface="Cambria"/>
                <a:ea typeface="Cambria"/>
                <a:cs typeface="Cambria"/>
              </a:rPr>
              <a:t>Scale with control</a:t>
            </a:r>
            <a:endParaRPr sz="1600"/>
          </a:p>
        </p:txBody>
      </p:sp>
      <p:sp>
        <p:nvSpPr>
          <p:cNvPr id="19" name="Text 14">
            <a:extLst xmlns:a="http://schemas.openxmlformats.org/drawingml/2006/main">
              <a:ext uri="{FF2B5EF4-FFF2-40B4-BE49-F238E27FC236}">
                <a16:creationId xmlns:a16="http://schemas.microsoft.com/office/drawing/2014/main" id="{CD48ECF6-680A-4515-B5F1-9B73BF3EEC21}"/>
              </a:ext>
            </a:extLst>
          </p:cNvPr>
          <p:cNvSpPr>
            <a:spLocks xmlns:a="http://schemas.openxmlformats.org/drawingml/2006/main" noGrp="1"/>
          </p:cNvSpPr>
          <p:nvPr/>
        </p:nvSpPr>
        <p:spPr>
          <a:xfrm xmlns:a="http://schemas.openxmlformats.org/drawingml/2006/main">
            <a:off x="8420405" y="4050792"/>
            <a:ext cx="2966618"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0000"/>
              </a:lnSpc>
              <a:buNone/>
            </a:pPr>
            <a:r>
              <a:rPr sz="1250">
                <a:solidFill>
                  <a:srgbClr val="3A4744"/>
                </a:solidFill>
                <a:latin typeface="Calibri"/>
                <a:ea typeface="Calibri"/>
                <a:cs typeface="Calibri"/>
              </a:rPr>
              <a:t>Process near the source, apply department scope and retain only policy-approved evidence.</a:t>
            </a:r>
            <a:endParaRPr sz="1250"/>
          </a:p>
        </p:txBody>
      </p:sp>
      <p:sp>
        <p:nvSpPr>
          <p:cNvPr id="20" name="Text 15">
            <a:extLst xmlns:a="http://schemas.openxmlformats.org/drawingml/2006/main">
              <a:ext uri="{FF2B5EF4-FFF2-40B4-BE49-F238E27FC236}">
                <a16:creationId xmlns:a16="http://schemas.microsoft.com/office/drawing/2014/main" id="{7EAC8A88-9487-40FE-A420-B230F47C5FC2}"/>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150">
                <a:solidFill>
                  <a:srgbClr val="6B7570"/>
                </a:solidFill>
                <a:latin typeface="Courier New"/>
                <a:ea typeface="Courier New"/>
                <a:cs typeface="Courier New"/>
              </a:rPr>
              <a:t>SENTINEL GUJARAT</a:t>
            </a:r>
            <a:endParaRPr sz="900"/>
          </a:p>
        </p:txBody>
      </p:sp>
      <p:sp>
        <p:nvSpPr>
          <p:cNvPr id="21" name="Text 16">
            <a:extLst xmlns:a="http://schemas.openxmlformats.org/drawingml/2006/main">
              <a:ext uri="{FF2B5EF4-FFF2-40B4-BE49-F238E27FC236}">
                <a16:creationId xmlns:a16="http://schemas.microsoft.com/office/drawing/2014/main" id="{BED66235-3657-4EF8-9E57-F92184CBE684}"/>
              </a:ext>
            </a:extLst>
          </p:cNvPr>
          <p:cNvSpPr>
            <a:spLocks xmlns:a="http://schemas.openxmlformats.org/drawingml/2006/main" noGrp="1"/>
          </p:cNvSpPr>
          <p:nvPr/>
        </p:nvSpPr>
        <p:spPr>
          <a:xfrm xmlns:a="http://schemas.openxmlformats.org/drawingml/2006/main">
            <a:off x="10728655" y="6473952"/>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570"/>
                </a:solidFill>
                <a:latin typeface="Courier New"/>
                <a:ea typeface="Courier New"/>
                <a:cs typeface="Courier New"/>
              </a:rPr>
              <a:t>03</a:t>
            </a:r>
            <a:endParaRPr sz="900"/>
          </a:p>
        </p:txBody>
      </p:sp>
    </p:spTree>
    <p:extLst>
      <p:ext uri="{BB962C8B-B14F-4D97-AF65-F5344CB8AC3E}">
        <p14:creationId xmlns:p14="http://schemas.microsoft.com/office/powerpoint/2010/main" val="211464300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1067A90-072C-4983-A839-AA728A722FCA}"/>
              </a:ext>
            </a:extLst>
          </p:cNvPr>
          <p:cNvSpPr>
            <a:spLocks xmlns:a="http://schemas.openxmlformats.org/drawingml/2006/main" noGrp="1"/>
          </p:cNvSpPr>
          <p:nvPr/>
        </p:nvSpPr>
        <p:spPr>
          <a:xfrm xmlns:a="http://schemas.openxmlformats.org/drawingml/2006/main">
            <a:off x="548640" y="45720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1F7A5C"/>
                </a:solidFill>
                <a:latin typeface="Courier New"/>
                <a:ea typeface="Courier New"/>
                <a:cs typeface="Courier New"/>
              </a:rPr>
              <a:t>KEY INNOVATIONS</a:t>
            </a:r>
            <a:endParaRPr sz="1100"/>
          </a:p>
        </p:txBody>
      </p:sp>
      <p:sp>
        <p:nvSpPr>
          <p:cNvPr id="3" name="Text 1">
            <a:extLst xmlns:a="http://schemas.openxmlformats.org/drawingml/2006/main">
              <a:ext uri="{FF2B5EF4-FFF2-40B4-BE49-F238E27FC236}">
                <a16:creationId xmlns:a16="http://schemas.microsoft.com/office/drawing/2014/main" id="{A34E4F5B-C3DE-46D9-AD4E-8F45FE92C594}"/>
              </a:ext>
            </a:extLst>
          </p:cNvPr>
          <p:cNvSpPr>
            <a:spLocks xmlns:a="http://schemas.openxmlformats.org/drawingml/2006/main" noGrp="1"/>
          </p:cNvSpPr>
          <p:nvPr/>
        </p:nvSpPr>
        <p:spPr>
          <a:xfrm xmlns:a="http://schemas.openxmlformats.org/drawingml/2006/main">
            <a:off x="548640" y="749808"/>
            <a:ext cx="11094415"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2700" b="1">
                <a:solidFill>
                  <a:srgbClr val="12242A"/>
                </a:solidFill>
                <a:latin typeface="Cambria"/>
                <a:ea typeface="Cambria"/>
                <a:cs typeface="Cambria"/>
              </a:rPr>
              <a:t>Sentinel joins video, intelligence and police workflow</a:t>
            </a:r>
            <a:endParaRPr sz="2700"/>
          </a:p>
        </p:txBody>
      </p:sp>
      <p:sp>
        <p:nvSpPr>
          <p:cNvPr id="4" name="Text 2">
            <a:extLst xmlns:a="http://schemas.openxmlformats.org/drawingml/2006/main">
              <a:ext uri="{FF2B5EF4-FFF2-40B4-BE49-F238E27FC236}">
                <a16:creationId xmlns:a16="http://schemas.microsoft.com/office/drawing/2014/main" id="{E6698BBC-62F4-4026-8D6E-05824053A94B}"/>
              </a:ext>
            </a:extLst>
          </p:cNvPr>
          <p:cNvSpPr>
            <a:spLocks xmlns:a="http://schemas.openxmlformats.org/drawingml/2006/main" noGrp="1"/>
          </p:cNvSpPr>
          <p:nvPr/>
        </p:nvSpPr>
        <p:spPr>
          <a:xfrm xmlns:a="http://schemas.openxmlformats.org/drawingml/2006/main">
            <a:off x="548640" y="1481328"/>
            <a:ext cx="10607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450">
                <a:solidFill>
                  <a:srgbClr val="6B7570"/>
                </a:solidFill>
                <a:latin typeface="Calibri"/>
                <a:ea typeface="Calibri"/>
                <a:cs typeface="Calibri"/>
              </a:rPr>
              <a:t>A shared control plane turns fragmented sources into one governed operational view.</a:t>
            </a:r>
            <a:endParaRPr sz="1450"/>
          </a:p>
        </p:txBody>
      </p:sp>
      <p:sp>
        <p:nvSpPr>
          <p:cNvPr id="5" name="Shape 3">
            <a:extLst xmlns:a="http://schemas.openxmlformats.org/drawingml/2006/main">
              <a:ext uri="{FF2B5EF4-FFF2-40B4-BE49-F238E27FC236}">
                <a16:creationId xmlns:a16="http://schemas.microsoft.com/office/drawing/2014/main" id="{5B97B9E2-94E6-48B2-850F-B1975033B31F}"/>
              </a:ext>
            </a:extLst>
          </p:cNvPr>
          <p:cNvSpPr>
            <a:spLocks xmlns:a="http://schemas.openxmlformats.org/drawingml/2006/main" noGrp="1"/>
          </p:cNvSpPr>
          <p:nvPr/>
        </p:nvSpPr>
        <p:spPr>
          <a:xfrm xmlns:a="http://schemas.openxmlformats.org/drawingml/2006/main">
            <a:off x="548640" y="2697480"/>
            <a:ext cx="2788920" cy="2880360"/>
          </a:xfrm>
          <a:prstGeom xmlns:a="http://schemas.openxmlformats.org/drawingml/2006/main" prst="roundRect">
            <a:avLst>
              <a:gd name="adj" fmla="val 3279"/>
            </a:avLst>
          </a:prstGeom>
          <a:solidFill xmlns:a="http://schemas.openxmlformats.org/drawingml/2006/main">
            <a:srgbClr val="12242A"/>
          </a:solidFill>
        </p:spPr>
        <p:txBody>
          <a:bodyPr xmlns:a="http://schemas.openxmlformats.org/drawingml/2006/main"/>
          <a:lstStyle xmlns:a="http://schemas.openxmlformats.org/drawingml/2006/main"/>
          <a:p xmlns:a="http://schemas.openxmlformats.org/drawingml/2006/main">
            <a:endParaRPr/>
          </a:p>
        </p:txBody>
      </p:sp>
      <p:sp>
        <p:nvSpPr>
          <p:cNvPr id="6" name="Shape 4">
            <a:extLst xmlns:a="http://schemas.openxmlformats.org/drawingml/2006/main">
              <a:ext uri="{FF2B5EF4-FFF2-40B4-BE49-F238E27FC236}">
                <a16:creationId xmlns:a16="http://schemas.microsoft.com/office/drawing/2014/main" id="{7E59D69F-322D-4471-8841-090636C093B7}"/>
              </a:ext>
            </a:extLst>
          </p:cNvPr>
          <p:cNvSpPr>
            <a:spLocks xmlns:a="http://schemas.openxmlformats.org/drawingml/2006/main" noGrp="1"/>
          </p:cNvSpPr>
          <p:nvPr/>
        </p:nvSpPr>
        <p:spPr>
          <a:xfrm xmlns:a="http://schemas.openxmlformats.org/drawingml/2006/main">
            <a:off x="1531620" y="3026664"/>
            <a:ext cx="822960" cy="822960"/>
          </a:xfrm>
          <a:prstGeom xmlns:a="http://schemas.openxmlformats.org/drawingml/2006/main" prst="ellipse">
            <a:avLst/>
          </a:prstGeom>
          <a:solidFill xmlns:a="http://schemas.openxmlformats.org/drawingml/2006/main">
            <a:srgbClr val="1F7A5C"/>
          </a:solidFill>
        </p:spPr>
        <p:txBody>
          <a:bodyPr xmlns:a="http://schemas.openxmlformats.org/drawingml/2006/main"/>
          <a:lstStyle xmlns:a="http://schemas.openxmlformats.org/drawingml/2006/main"/>
          <a:p xmlns:a="http://schemas.openxmlformats.org/drawingml/2006/main">
            <a:endParaRPr/>
          </a:p>
        </p:txBody>
      </p:sp>
      <p:pic>
        <p:nvPicPr>
          <p:cNvPr id="32" name="Image 0"/>
          <p:cNvPicPr>
            <a:picLocks xmlns:a="http://schemas.openxmlformats.org/drawingml/2006/main" noChangeAspect="1"/>
          </p:cNvPicPr>
          <p:nvPr/>
        </p:nvPicPr>
        <p:blipFill>
          <a:blip xmlns:r="http://schemas.openxmlformats.org/officeDocument/2006/relationships" xmlns:a="http://schemas.openxmlformats.org/drawingml/2006/main" r:embed="Rf2b8e796a7a6441f"/>
          <a:stretch xmlns:a="http://schemas.openxmlformats.org/drawingml/2006/main">
            <a:fillRect l="0" t="0" r="0" b="0"/>
          </a:stretch>
        </p:blipFill>
        <p:spPr>
          <a:xfrm xmlns:a="http://schemas.openxmlformats.org/drawingml/2006/main">
            <a:off x="1729130" y="3224174"/>
            <a:ext cx="427939" cy="427939"/>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41627BB9-75F4-418F-802A-24E0CEE3BF0F}"/>
              </a:ext>
            </a:extLst>
          </p:cNvPr>
          <p:cNvSpPr>
            <a:spLocks xmlns:a="http://schemas.openxmlformats.org/drawingml/2006/main" noGrp="1"/>
          </p:cNvSpPr>
          <p:nvPr/>
        </p:nvSpPr>
        <p:spPr>
          <a:xfrm xmlns:a="http://schemas.openxmlformats.org/drawingml/2006/main">
            <a:off x="731520" y="4069080"/>
            <a:ext cx="2423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50" b="1">
                <a:solidFill>
                  <a:srgbClr val="FFFFFF"/>
                </a:solidFill>
                <a:latin typeface="Cambria"/>
                <a:ea typeface="Cambria"/>
                <a:cs typeface="Cambria"/>
              </a:rPr>
              <a:t>Unified registry</a:t>
            </a:r>
            <a:endParaRPr sz="1550"/>
          </a:p>
        </p:txBody>
      </p:sp>
      <p:sp>
        <p:nvSpPr>
          <p:cNvPr id="9" name="Text 6">
            <a:extLst xmlns:a="http://schemas.openxmlformats.org/drawingml/2006/main">
              <a:ext uri="{FF2B5EF4-FFF2-40B4-BE49-F238E27FC236}">
                <a16:creationId xmlns:a16="http://schemas.microsoft.com/office/drawing/2014/main" id="{3885EA62-EEAE-4CEC-A80C-AD159F16477C}"/>
              </a:ext>
            </a:extLst>
          </p:cNvPr>
          <p:cNvSpPr>
            <a:spLocks xmlns:a="http://schemas.openxmlformats.org/drawingml/2006/main" noGrp="1"/>
          </p:cNvSpPr>
          <p:nvPr/>
        </p:nvSpPr>
        <p:spPr>
          <a:xfrm xmlns:a="http://schemas.openxmlformats.org/drawingml/2006/main">
            <a:off x="804672" y="4480560"/>
            <a:ext cx="2276856"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30000"/>
              </a:lnSpc>
              <a:buNone/>
            </a:pPr>
            <a:r>
              <a:rPr sz="1200">
                <a:solidFill>
                  <a:srgbClr val="C9D2CE"/>
                </a:solidFill>
                <a:latin typeface="Calibri"/>
                <a:ea typeface="Calibri"/>
                <a:cs typeface="Calibri"/>
              </a:rPr>
              <a:t>Stable camera identity, GIS location, health, ownership and integration status.</a:t>
            </a:r>
            <a:endParaRPr sz="1200"/>
          </a:p>
        </p:txBody>
      </p:sp>
      <p:sp>
        <p:nvSpPr>
          <p:cNvPr id="10" name="Shape 7">
            <a:extLst xmlns:a="http://schemas.openxmlformats.org/drawingml/2006/main">
              <a:ext uri="{FF2B5EF4-FFF2-40B4-BE49-F238E27FC236}">
                <a16:creationId xmlns:a16="http://schemas.microsoft.com/office/drawing/2014/main" id="{BD2FDC5B-6128-4447-B80B-9F7F259E1871}"/>
              </a:ext>
            </a:extLst>
          </p:cNvPr>
          <p:cNvSpPr>
            <a:spLocks xmlns:a="http://schemas.openxmlformats.org/drawingml/2006/main" noGrp="1"/>
          </p:cNvSpPr>
          <p:nvPr/>
        </p:nvSpPr>
        <p:spPr>
          <a:xfrm xmlns:a="http://schemas.openxmlformats.org/drawingml/2006/main">
            <a:off x="3337560" y="4082796"/>
            <a:ext cx="1217524" cy="109728"/>
          </a:xfrm>
          <a:prstGeom xmlns:a="http://schemas.openxmlformats.org/drawingml/2006/main" prst="rightArrow">
            <a:avLst/>
          </a:prstGeom>
          <a:solidFill xmlns:a="http://schemas.openxmlformats.org/drawingml/2006/main">
            <a:srgbClr val="1F7A5C"/>
          </a:solidFill>
        </p:spPr>
        <p:txBody>
          <a:bodyPr xmlns:a="http://schemas.openxmlformats.org/drawingml/2006/main"/>
          <a:lstStyle xmlns:a="http://schemas.openxmlformats.org/drawingml/2006/main"/>
          <a:p xmlns:a="http://schemas.openxmlformats.org/drawingml/2006/main">
            <a:endParaRPr/>
          </a:p>
        </p:txBody>
      </p:sp>
      <p:sp>
        <p:nvSpPr>
          <p:cNvPr id="11" name="Shape 8">
            <a:extLst xmlns:a="http://schemas.openxmlformats.org/drawingml/2006/main">
              <a:ext uri="{FF2B5EF4-FFF2-40B4-BE49-F238E27FC236}">
                <a16:creationId xmlns:a16="http://schemas.microsoft.com/office/drawing/2014/main" id="{E7183AE1-A9BA-416B-950A-A8A87A7586FD}"/>
              </a:ext>
            </a:extLst>
          </p:cNvPr>
          <p:cNvSpPr>
            <a:spLocks xmlns:a="http://schemas.openxmlformats.org/drawingml/2006/main" noGrp="1"/>
          </p:cNvSpPr>
          <p:nvPr/>
        </p:nvSpPr>
        <p:spPr>
          <a:xfrm xmlns:a="http://schemas.openxmlformats.org/drawingml/2006/main">
            <a:off x="4701388" y="2697480"/>
            <a:ext cx="2788920" cy="2880360"/>
          </a:xfrm>
          <a:prstGeom xmlns:a="http://schemas.openxmlformats.org/drawingml/2006/main" prst="roundRect">
            <a:avLst>
              <a:gd name="adj" fmla="val 3279"/>
            </a:avLst>
          </a:prstGeom>
          <a:solidFill xmlns:a="http://schemas.openxmlformats.org/drawingml/2006/main">
            <a:srgbClr val="12242A"/>
          </a:solidFill>
        </p:spPr>
        <p:txBody>
          <a:bodyPr xmlns:a="http://schemas.openxmlformats.org/drawingml/2006/main"/>
          <a:lstStyle xmlns:a="http://schemas.openxmlformats.org/drawingml/2006/main"/>
          <a:p xmlns:a="http://schemas.openxmlformats.org/drawingml/2006/main">
            <a:endParaRPr/>
          </a:p>
        </p:txBody>
      </p:sp>
      <p:sp>
        <p:nvSpPr>
          <p:cNvPr id="12" name="Shape 9">
            <a:extLst xmlns:a="http://schemas.openxmlformats.org/drawingml/2006/main">
              <a:ext uri="{FF2B5EF4-FFF2-40B4-BE49-F238E27FC236}">
                <a16:creationId xmlns:a16="http://schemas.microsoft.com/office/drawing/2014/main" id="{B5092739-E2AD-4987-A675-A9C299FB6B4A}"/>
              </a:ext>
            </a:extLst>
          </p:cNvPr>
          <p:cNvSpPr>
            <a:spLocks xmlns:a="http://schemas.openxmlformats.org/drawingml/2006/main" noGrp="1"/>
          </p:cNvSpPr>
          <p:nvPr/>
        </p:nvSpPr>
        <p:spPr>
          <a:xfrm xmlns:a="http://schemas.openxmlformats.org/drawingml/2006/main">
            <a:off x="5684368" y="3026664"/>
            <a:ext cx="822960" cy="822960"/>
          </a:xfrm>
          <a:prstGeom xmlns:a="http://schemas.openxmlformats.org/drawingml/2006/main" prst="ellipse">
            <a:avLst/>
          </a:prstGeom>
          <a:solidFill xmlns:a="http://schemas.openxmlformats.org/drawingml/2006/main">
            <a:srgbClr val="1F7A5C"/>
          </a:solidFill>
        </p:spPr>
        <p:txBody>
          <a:bodyPr xmlns:a="http://schemas.openxmlformats.org/drawingml/2006/main"/>
          <a:lstStyle xmlns:a="http://schemas.openxmlformats.org/drawingml/2006/main"/>
          <a:p xmlns:a="http://schemas.openxmlformats.org/drawingml/2006/main">
            <a:endParaRPr/>
          </a:p>
        </p:txBody>
      </p:sp>
      <p:pic>
        <p:nvPicPr>
          <p:cNvPr id="38" name="Image 1"/>
          <p:cNvPicPr>
            <a:picLocks xmlns:a="http://schemas.openxmlformats.org/drawingml/2006/main" noChangeAspect="1"/>
          </p:cNvPicPr>
          <p:nvPr/>
        </p:nvPicPr>
        <p:blipFill>
          <a:blip xmlns:r="http://schemas.openxmlformats.org/officeDocument/2006/relationships" xmlns:a="http://schemas.openxmlformats.org/drawingml/2006/main" r:embed="R70fb07b05fad40be"/>
          <a:stretch xmlns:a="http://schemas.openxmlformats.org/drawingml/2006/main">
            <a:fillRect l="0" t="0" r="0" b="0"/>
          </a:stretch>
        </p:blipFill>
        <p:spPr>
          <a:xfrm xmlns:a="http://schemas.openxmlformats.org/drawingml/2006/main">
            <a:off x="5881878" y="3224174"/>
            <a:ext cx="427939" cy="427939"/>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6B0CD857-B43B-4850-BECE-A7F7774B258D}"/>
              </a:ext>
            </a:extLst>
          </p:cNvPr>
          <p:cNvSpPr>
            <a:spLocks xmlns:a="http://schemas.openxmlformats.org/drawingml/2006/main" noGrp="1"/>
          </p:cNvSpPr>
          <p:nvPr/>
        </p:nvSpPr>
        <p:spPr>
          <a:xfrm xmlns:a="http://schemas.openxmlformats.org/drawingml/2006/main">
            <a:off x="4884268" y="4069080"/>
            <a:ext cx="2423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50" b="1">
                <a:solidFill>
                  <a:srgbClr val="FFFFFF"/>
                </a:solidFill>
                <a:latin typeface="Cambria"/>
                <a:ea typeface="Cambria"/>
                <a:cs typeface="Cambria"/>
              </a:rPr>
              <a:t>Live intelligence</a:t>
            </a:r>
            <a:endParaRPr sz="1550"/>
          </a:p>
        </p:txBody>
      </p:sp>
      <p:sp>
        <p:nvSpPr>
          <p:cNvPr id="15" name="Text 11">
            <a:extLst xmlns:a="http://schemas.openxmlformats.org/drawingml/2006/main">
              <a:ext uri="{FF2B5EF4-FFF2-40B4-BE49-F238E27FC236}">
                <a16:creationId xmlns:a16="http://schemas.microsoft.com/office/drawing/2014/main" id="{6B13AD4B-52C3-4F18-A1C5-1BDFC381F401}"/>
              </a:ext>
            </a:extLst>
          </p:cNvPr>
          <p:cNvSpPr>
            <a:spLocks xmlns:a="http://schemas.openxmlformats.org/drawingml/2006/main" noGrp="1"/>
          </p:cNvSpPr>
          <p:nvPr/>
        </p:nvSpPr>
        <p:spPr>
          <a:xfrm xmlns:a="http://schemas.openxmlformats.org/drawingml/2006/main">
            <a:off x="4957420" y="4480560"/>
            <a:ext cx="2276856"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30000"/>
              </a:lnSpc>
              <a:buNone/>
            </a:pPr>
            <a:r>
              <a:rPr sz="1200">
                <a:solidFill>
                  <a:srgbClr val="C9D2CE"/>
                </a:solidFill>
                <a:latin typeface="Calibri"/>
                <a:ea typeface="Calibri"/>
                <a:cs typeface="Calibri"/>
              </a:rPr>
              <a:t>ANPR, authorised FRS, object tracking, event analytics and watchlist correlation.</a:t>
            </a:r>
            <a:endParaRPr sz="1200"/>
          </a:p>
        </p:txBody>
      </p:sp>
      <p:sp>
        <p:nvSpPr>
          <p:cNvPr id="16" name="Shape 12">
            <a:extLst xmlns:a="http://schemas.openxmlformats.org/drawingml/2006/main">
              <a:ext uri="{FF2B5EF4-FFF2-40B4-BE49-F238E27FC236}">
                <a16:creationId xmlns:a16="http://schemas.microsoft.com/office/drawing/2014/main" id="{B890FE2C-E741-4719-B928-C50156A54C49}"/>
              </a:ext>
            </a:extLst>
          </p:cNvPr>
          <p:cNvSpPr>
            <a:spLocks xmlns:a="http://schemas.openxmlformats.org/drawingml/2006/main" noGrp="1"/>
          </p:cNvSpPr>
          <p:nvPr/>
        </p:nvSpPr>
        <p:spPr>
          <a:xfrm xmlns:a="http://schemas.openxmlformats.org/drawingml/2006/main">
            <a:off x="7490308" y="4082796"/>
            <a:ext cx="1217524" cy="109728"/>
          </a:xfrm>
          <a:prstGeom xmlns:a="http://schemas.openxmlformats.org/drawingml/2006/main" prst="rightArrow">
            <a:avLst/>
          </a:prstGeom>
          <a:solidFill xmlns:a="http://schemas.openxmlformats.org/drawingml/2006/main">
            <a:srgbClr val="1F7A5C"/>
          </a:solidFill>
        </p:spPr>
        <p:txBody>
          <a:bodyPr xmlns:a="http://schemas.openxmlformats.org/drawingml/2006/main"/>
          <a:lstStyle xmlns:a="http://schemas.openxmlformats.org/drawingml/2006/main"/>
          <a:p xmlns:a="http://schemas.openxmlformats.org/drawingml/2006/main">
            <a:endParaRPr/>
          </a:p>
        </p:txBody>
      </p:sp>
      <p:sp>
        <p:nvSpPr>
          <p:cNvPr id="17" name="Shape 13">
            <a:extLst xmlns:a="http://schemas.openxmlformats.org/drawingml/2006/main">
              <a:ext uri="{FF2B5EF4-FFF2-40B4-BE49-F238E27FC236}">
                <a16:creationId xmlns:a16="http://schemas.microsoft.com/office/drawing/2014/main" id="{DA79BEF7-DCB9-45E6-91DB-820C5DDAF203}"/>
              </a:ext>
            </a:extLst>
          </p:cNvPr>
          <p:cNvSpPr>
            <a:spLocks xmlns:a="http://schemas.openxmlformats.org/drawingml/2006/main" noGrp="1"/>
          </p:cNvSpPr>
          <p:nvPr/>
        </p:nvSpPr>
        <p:spPr>
          <a:xfrm xmlns:a="http://schemas.openxmlformats.org/drawingml/2006/main">
            <a:off x="8854135" y="2697480"/>
            <a:ext cx="2788920" cy="2880360"/>
          </a:xfrm>
          <a:prstGeom xmlns:a="http://schemas.openxmlformats.org/drawingml/2006/main" prst="roundRect">
            <a:avLst>
              <a:gd name="adj" fmla="val 3279"/>
            </a:avLst>
          </a:prstGeom>
          <a:solidFill xmlns:a="http://schemas.openxmlformats.org/drawingml/2006/main">
            <a:srgbClr val="12242A"/>
          </a:solidFill>
        </p:spPr>
        <p:txBody>
          <a:bodyPr xmlns:a="http://schemas.openxmlformats.org/drawingml/2006/main"/>
          <a:lstStyle xmlns:a="http://schemas.openxmlformats.org/drawingml/2006/main"/>
          <a:p xmlns:a="http://schemas.openxmlformats.org/drawingml/2006/main">
            <a:endParaRPr/>
          </a:p>
        </p:txBody>
      </p:sp>
      <p:sp>
        <p:nvSpPr>
          <p:cNvPr id="18" name="Shape 14">
            <a:extLst xmlns:a="http://schemas.openxmlformats.org/drawingml/2006/main">
              <a:ext uri="{FF2B5EF4-FFF2-40B4-BE49-F238E27FC236}">
                <a16:creationId xmlns:a16="http://schemas.microsoft.com/office/drawing/2014/main" id="{CA09743A-B0DB-46F6-83DF-6B4921B8A8A2}"/>
              </a:ext>
            </a:extLst>
          </p:cNvPr>
          <p:cNvSpPr>
            <a:spLocks xmlns:a="http://schemas.openxmlformats.org/drawingml/2006/main" noGrp="1"/>
          </p:cNvSpPr>
          <p:nvPr/>
        </p:nvSpPr>
        <p:spPr>
          <a:xfrm xmlns:a="http://schemas.openxmlformats.org/drawingml/2006/main">
            <a:off x="9837115" y="3026664"/>
            <a:ext cx="822960" cy="822960"/>
          </a:xfrm>
          <a:prstGeom xmlns:a="http://schemas.openxmlformats.org/drawingml/2006/main" prst="ellipse">
            <a:avLst/>
          </a:prstGeom>
          <a:solidFill xmlns:a="http://schemas.openxmlformats.org/drawingml/2006/main">
            <a:srgbClr val="1F7A5C"/>
          </a:solidFill>
        </p:spPr>
        <p:txBody>
          <a:bodyPr xmlns:a="http://schemas.openxmlformats.org/drawingml/2006/main"/>
          <a:lstStyle xmlns:a="http://schemas.openxmlformats.org/drawingml/2006/main"/>
          <a:p xmlns:a="http://schemas.openxmlformats.org/drawingml/2006/main">
            <a:endParaRPr/>
          </a:p>
        </p:txBody>
      </p:sp>
      <p:pic>
        <p:nvPicPr>
          <p:cNvPr id="44" name="Image 2"/>
          <p:cNvPicPr>
            <a:picLocks xmlns:a="http://schemas.openxmlformats.org/drawingml/2006/main" noChangeAspect="1"/>
          </p:cNvPicPr>
          <p:nvPr/>
        </p:nvPicPr>
        <p:blipFill>
          <a:blip xmlns:r="http://schemas.openxmlformats.org/officeDocument/2006/relationships" xmlns:a="http://schemas.openxmlformats.org/drawingml/2006/main" r:embed="R53fb333d8fe5466c"/>
          <a:stretch xmlns:a="http://schemas.openxmlformats.org/drawingml/2006/main">
            <a:fillRect l="0" t="0" r="0" b="0"/>
          </a:stretch>
        </p:blipFill>
        <p:spPr>
          <a:xfrm xmlns:a="http://schemas.openxmlformats.org/drawingml/2006/main">
            <a:off x="10034626" y="3224174"/>
            <a:ext cx="427939" cy="427939"/>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21524D1C-80D5-420A-B568-DF3C1898A87C}"/>
              </a:ext>
            </a:extLst>
          </p:cNvPr>
          <p:cNvSpPr>
            <a:spLocks xmlns:a="http://schemas.openxmlformats.org/drawingml/2006/main" noGrp="1"/>
          </p:cNvSpPr>
          <p:nvPr/>
        </p:nvSpPr>
        <p:spPr>
          <a:xfrm xmlns:a="http://schemas.openxmlformats.org/drawingml/2006/main">
            <a:off x="9037015" y="4069080"/>
            <a:ext cx="2423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50" b="1">
                <a:solidFill>
                  <a:srgbClr val="FFFFFF"/>
                </a:solidFill>
                <a:latin typeface="Cambria"/>
                <a:ea typeface="Cambria"/>
                <a:cs typeface="Cambria"/>
              </a:rPr>
              <a:t>Actionable alerts</a:t>
            </a:r>
            <a:endParaRPr sz="1550"/>
          </a:p>
        </p:txBody>
      </p:sp>
      <p:sp>
        <p:nvSpPr>
          <p:cNvPr id="21" name="Text 16">
            <a:extLst xmlns:a="http://schemas.openxmlformats.org/drawingml/2006/main">
              <a:ext uri="{FF2B5EF4-FFF2-40B4-BE49-F238E27FC236}">
                <a16:creationId xmlns:a16="http://schemas.microsoft.com/office/drawing/2014/main" id="{463BD53D-E1AF-4EB1-A296-AD580F628D5E}"/>
              </a:ext>
            </a:extLst>
          </p:cNvPr>
          <p:cNvSpPr>
            <a:spLocks xmlns:a="http://schemas.openxmlformats.org/drawingml/2006/main" noGrp="1"/>
          </p:cNvSpPr>
          <p:nvPr/>
        </p:nvSpPr>
        <p:spPr>
          <a:xfrm xmlns:a="http://schemas.openxmlformats.org/drawingml/2006/main">
            <a:off x="9110167" y="4480560"/>
            <a:ext cx="2276856"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30000"/>
              </a:lnSpc>
              <a:buNone/>
            </a:pPr>
            <a:r>
              <a:rPr sz="1200">
                <a:solidFill>
                  <a:srgbClr val="C9D2CE"/>
                </a:solidFill>
                <a:latin typeface="Calibri"/>
                <a:ea typeface="Calibri"/>
                <a:cs typeface="Calibri"/>
              </a:rPr>
              <a:t>Priority queue, map and feed context, acknowledgement, resolution and audit.</a:t>
            </a:r>
            <a:endParaRPr sz="1200"/>
          </a:p>
        </p:txBody>
      </p:sp>
      <p:sp>
        <p:nvSpPr>
          <p:cNvPr id="22" name="Text 17">
            <a:extLst xmlns:a="http://schemas.openxmlformats.org/drawingml/2006/main">
              <a:ext uri="{FF2B5EF4-FFF2-40B4-BE49-F238E27FC236}">
                <a16:creationId xmlns:a16="http://schemas.microsoft.com/office/drawing/2014/main" id="{53240591-9FCF-4794-973C-1CE53BD80319}"/>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150">
                <a:solidFill>
                  <a:srgbClr val="6B7570"/>
                </a:solidFill>
                <a:latin typeface="Courier New"/>
                <a:ea typeface="Courier New"/>
                <a:cs typeface="Courier New"/>
              </a:rPr>
              <a:t>SENTINEL GUJARAT</a:t>
            </a:r>
            <a:endParaRPr sz="900"/>
          </a:p>
        </p:txBody>
      </p:sp>
      <p:sp>
        <p:nvSpPr>
          <p:cNvPr id="23" name="Text 18">
            <a:extLst xmlns:a="http://schemas.openxmlformats.org/drawingml/2006/main">
              <a:ext uri="{FF2B5EF4-FFF2-40B4-BE49-F238E27FC236}">
                <a16:creationId xmlns:a16="http://schemas.microsoft.com/office/drawing/2014/main" id="{DBA171EF-4040-4786-A321-3DAF4D46B3C8}"/>
              </a:ext>
            </a:extLst>
          </p:cNvPr>
          <p:cNvSpPr>
            <a:spLocks xmlns:a="http://schemas.openxmlformats.org/drawingml/2006/main" noGrp="1"/>
          </p:cNvSpPr>
          <p:nvPr/>
        </p:nvSpPr>
        <p:spPr>
          <a:xfrm xmlns:a="http://schemas.openxmlformats.org/drawingml/2006/main">
            <a:off x="10728655" y="6473952"/>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570"/>
                </a:solidFill>
                <a:latin typeface="Courier New"/>
                <a:ea typeface="Courier New"/>
                <a:cs typeface="Courier New"/>
              </a:rPr>
              <a:t>04</a:t>
            </a:r>
            <a:endParaRPr sz="900"/>
          </a:p>
        </p:txBody>
      </p:sp>
    </p:spTree>
    <p:extLst>
      <p:ext uri="{BB962C8B-B14F-4D97-AF65-F5344CB8AC3E}">
        <p14:creationId xmlns:p14="http://schemas.microsoft.com/office/powerpoint/2010/main" val="69215921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FAF4D8C-0024-4594-BBF7-4FA5B308AE9F}"/>
              </a:ext>
            </a:extLst>
          </p:cNvPr>
          <p:cNvSpPr>
            <a:spLocks xmlns:a="http://schemas.openxmlformats.org/drawingml/2006/main" noGrp="1"/>
          </p:cNvSpPr>
          <p:nvPr/>
        </p:nvSpPr>
        <p:spPr>
          <a:xfrm xmlns:a="http://schemas.openxmlformats.org/drawingml/2006/main">
            <a:off x="548640" y="45720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1F7A5C"/>
                </a:solidFill>
                <a:latin typeface="Courier New"/>
                <a:ea typeface="Courier New"/>
                <a:cs typeface="Courier New"/>
              </a:rPr>
              <a:t>MODEL CHOICE</a:t>
            </a:r>
            <a:endParaRPr sz="1100"/>
          </a:p>
        </p:txBody>
      </p:sp>
      <p:sp>
        <p:nvSpPr>
          <p:cNvPr id="3" name="Text 1">
            <a:extLst xmlns:a="http://schemas.openxmlformats.org/drawingml/2006/main">
              <a:ext uri="{FF2B5EF4-FFF2-40B4-BE49-F238E27FC236}">
                <a16:creationId xmlns:a16="http://schemas.microsoft.com/office/drawing/2014/main" id="{B354C4F8-6451-4E2E-B714-99FCA22799DE}"/>
              </a:ext>
            </a:extLst>
          </p:cNvPr>
          <p:cNvSpPr>
            <a:spLocks xmlns:a="http://schemas.openxmlformats.org/drawingml/2006/main" noGrp="1"/>
          </p:cNvSpPr>
          <p:nvPr/>
        </p:nvSpPr>
        <p:spPr>
          <a:xfrm xmlns:a="http://schemas.openxmlformats.org/drawingml/2006/main">
            <a:off x="548640" y="749808"/>
            <a:ext cx="102412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2400" b="1">
                <a:solidFill>
                  <a:srgbClr val="12242A"/>
                </a:solidFill>
                <a:latin typeface="Cambria"/>
                <a:ea typeface="Cambria"/>
                <a:cs typeface="Cambria"/>
              </a:rPr>
              <a:t>Hybrid Model 1 + Model 2 balances control and compute</a:t>
            </a:r>
            <a:endParaRPr sz="2400"/>
          </a:p>
        </p:txBody>
      </p:sp>
      <p:sp>
        <p:nvSpPr>
          <p:cNvPr id="4" name="Shape 2">
            <a:extLst xmlns:a="http://schemas.openxmlformats.org/drawingml/2006/main">
              <a:ext uri="{FF2B5EF4-FFF2-40B4-BE49-F238E27FC236}">
                <a16:creationId xmlns:a16="http://schemas.microsoft.com/office/drawing/2014/main" id="{59F3AB93-174F-4993-9411-CEEECA088280}"/>
              </a:ext>
            </a:extLst>
          </p:cNvPr>
          <p:cNvSpPr>
            <a:spLocks xmlns:a="http://schemas.openxmlformats.org/drawingml/2006/main" noGrp="1"/>
          </p:cNvSpPr>
          <p:nvPr/>
        </p:nvSpPr>
        <p:spPr>
          <a:xfrm xmlns:a="http://schemas.openxmlformats.org/drawingml/2006/main">
            <a:off x="9265615" y="502920"/>
            <a:ext cx="128016" cy="128016"/>
          </a:xfrm>
          <a:prstGeom xmlns:a="http://schemas.openxmlformats.org/drawingml/2006/main" prst="roundRect">
            <a:avLst>
              <a:gd name="adj" fmla="val 14286"/>
            </a:avLst>
          </a:prstGeom>
          <a:solidFill xmlns:a="http://schemas.openxmlformats.org/drawingml/2006/main">
            <a:srgbClr val="1F7A5C"/>
          </a:solidFill>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A3165D99-636E-49C7-A4FF-954D7913BBBD}"/>
              </a:ext>
            </a:extLst>
          </p:cNvPr>
          <p:cNvSpPr>
            <a:spLocks xmlns:a="http://schemas.openxmlformats.org/drawingml/2006/main" noGrp="1"/>
          </p:cNvSpPr>
          <p:nvPr/>
        </p:nvSpPr>
        <p:spPr>
          <a:xfrm xmlns:a="http://schemas.openxmlformats.org/drawingml/2006/main">
            <a:off x="9503359" y="457200"/>
            <a:ext cx="237744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00">
                <a:solidFill>
                  <a:srgbClr val="1F7A5C"/>
                </a:solidFill>
                <a:latin typeface="Courier New"/>
                <a:ea typeface="Courier New"/>
                <a:cs typeface="Courier New"/>
              </a:rPr>
              <a:t>HYBRID ARCHITECTURE</a:t>
            </a:r>
            <a:endParaRPr sz="1000"/>
          </a:p>
        </p:txBody>
      </p:sp>
      <p:sp>
        <p:nvSpPr>
          <p:cNvPr id="6" name="Text 4">
            <a:extLst xmlns:a="http://schemas.openxmlformats.org/drawingml/2006/main">
              <a:ext uri="{FF2B5EF4-FFF2-40B4-BE49-F238E27FC236}">
                <a16:creationId xmlns:a16="http://schemas.microsoft.com/office/drawing/2014/main" id="{816FE55F-3A96-4B75-9C16-D6817101D6CE}"/>
              </a:ext>
            </a:extLst>
          </p:cNvPr>
          <p:cNvSpPr>
            <a:spLocks xmlns:a="http://schemas.openxmlformats.org/drawingml/2006/main" noGrp="1"/>
          </p:cNvSpPr>
          <p:nvPr/>
        </p:nvSpPr>
        <p:spPr>
          <a:xfrm xmlns:a="http://schemas.openxmlformats.org/drawingml/2006/main">
            <a:off x="548640" y="1481328"/>
            <a:ext cx="10607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400">
                <a:solidFill>
                  <a:srgbClr val="6B7570"/>
                </a:solidFill>
                <a:latin typeface="Calibri"/>
                <a:ea typeface="Calibri"/>
                <a:cs typeface="Calibri"/>
              </a:rPr>
              <a:t>Model 1 governs the full camera estate. Model 2 analyses selected authorised feeds. This avoids centralising every stream while keeping metadata, policy and alert workflow consistent.</a:t>
            </a:r>
            <a:endParaRPr sz="1400"/>
          </a:p>
        </p:txBody>
      </p:sp>
      <p:sp>
        <p:nvSpPr>
          <p:cNvPr id="7" name="Shape 5">
            <a:extLst xmlns:a="http://schemas.openxmlformats.org/drawingml/2006/main">
              <a:ext uri="{FF2B5EF4-FFF2-40B4-BE49-F238E27FC236}">
                <a16:creationId xmlns:a16="http://schemas.microsoft.com/office/drawing/2014/main" id="{EDBEF5AA-0309-43F4-8F77-21444DFD64E2}"/>
              </a:ext>
            </a:extLst>
          </p:cNvPr>
          <p:cNvSpPr>
            <a:spLocks xmlns:a="http://schemas.openxmlformats.org/drawingml/2006/main" noGrp="1"/>
          </p:cNvSpPr>
          <p:nvPr/>
        </p:nvSpPr>
        <p:spPr>
          <a:xfrm xmlns:a="http://schemas.openxmlformats.org/drawingml/2006/main">
            <a:off x="548640" y="2240280"/>
            <a:ext cx="5410048" cy="1536192"/>
          </a:xfrm>
          <a:prstGeom xmlns:a="http://schemas.openxmlformats.org/drawingml/2006/main" prst="roundRect">
            <a:avLst>
              <a:gd name="adj" fmla="val 3571"/>
            </a:avLst>
          </a:prstGeom>
          <a:solidFill xmlns:a="http://schemas.openxmlformats.org/drawingml/2006/main">
            <a:srgbClr val="12242A"/>
          </a:solidFill>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8FE5DAAB-F662-43C1-9FE6-A5BDBB1D51B4}"/>
              </a:ext>
            </a:extLst>
          </p:cNvPr>
          <p:cNvSpPr>
            <a:spLocks xmlns:a="http://schemas.openxmlformats.org/drawingml/2006/main" noGrp="1"/>
          </p:cNvSpPr>
          <p:nvPr/>
        </p:nvSpPr>
        <p:spPr>
          <a:xfrm xmlns:a="http://schemas.openxmlformats.org/drawingml/2006/main">
            <a:off x="822960" y="2459736"/>
            <a:ext cx="486140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F7A5C"/>
                </a:solidFill>
                <a:latin typeface="Cambria"/>
                <a:ea typeface="Cambria"/>
                <a:cs typeface="Cambria"/>
              </a:rPr>
              <a:t>Model 1 · Estate</a:t>
            </a:r>
            <a:endParaRPr sz="1600"/>
          </a:p>
        </p:txBody>
      </p:sp>
      <p:sp>
        <p:nvSpPr>
          <p:cNvPr id="9" name="Text 7">
            <a:extLst xmlns:a="http://schemas.openxmlformats.org/drawingml/2006/main">
              <a:ext uri="{FF2B5EF4-FFF2-40B4-BE49-F238E27FC236}">
                <a16:creationId xmlns:a16="http://schemas.microsoft.com/office/drawing/2014/main" id="{D3188526-E4F2-433A-BAC7-E4444F3E5E28}"/>
              </a:ext>
            </a:extLst>
          </p:cNvPr>
          <p:cNvSpPr>
            <a:spLocks xmlns:a="http://schemas.openxmlformats.org/drawingml/2006/main" noGrp="1"/>
          </p:cNvSpPr>
          <p:nvPr/>
        </p:nvSpPr>
        <p:spPr>
          <a:xfrm xmlns:a="http://schemas.openxmlformats.org/drawingml/2006/main">
            <a:off x="822960" y="2843784"/>
            <a:ext cx="4861408"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8000"/>
              </a:lnSpc>
              <a:buNone/>
            </a:pPr>
            <a:r>
              <a:rPr sz="1250">
                <a:solidFill>
                  <a:srgbClr val="C9D2CE"/>
                </a:solidFill>
                <a:latin typeface="Calibri"/>
                <a:ea typeface="Calibri"/>
                <a:cs typeface="Calibri"/>
              </a:rPr>
              <a:t>Registry, GIS, ownership, health, maintenance, access control, reports and audit.</a:t>
            </a:r>
            <a:endParaRPr sz="1250"/>
          </a:p>
        </p:txBody>
      </p:sp>
      <p:sp>
        <p:nvSpPr>
          <p:cNvPr id="10" name="Shape 8">
            <a:extLst xmlns:a="http://schemas.openxmlformats.org/drawingml/2006/main">
              <a:ext uri="{FF2B5EF4-FFF2-40B4-BE49-F238E27FC236}">
                <a16:creationId xmlns:a16="http://schemas.microsoft.com/office/drawing/2014/main" id="{12DBC676-C5D8-47C6-8976-D1B64539BE97}"/>
              </a:ext>
            </a:extLst>
          </p:cNvPr>
          <p:cNvSpPr>
            <a:spLocks xmlns:a="http://schemas.openxmlformats.org/drawingml/2006/main" noGrp="1"/>
          </p:cNvSpPr>
          <p:nvPr/>
        </p:nvSpPr>
        <p:spPr>
          <a:xfrm xmlns:a="http://schemas.openxmlformats.org/drawingml/2006/main">
            <a:off x="6233008" y="2240280"/>
            <a:ext cx="5410048" cy="1536192"/>
          </a:xfrm>
          <a:prstGeom xmlns:a="http://schemas.openxmlformats.org/drawingml/2006/main" prst="roundRect">
            <a:avLst>
              <a:gd name="adj" fmla="val 3571"/>
            </a:avLst>
          </a:prstGeom>
          <a:solidFill xmlns:a="http://schemas.openxmlformats.org/drawingml/2006/main">
            <a:srgbClr val="F1F3F1"/>
          </a:solidFill>
          <a:ln xmlns:a="http://schemas.openxmlformats.org/drawingml/2006/main" w="9525">
            <a:solidFill>
              <a:srgbClr val="DADFDC"/>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6714FB76-AE5B-448C-AD72-F509F658AC6A}"/>
              </a:ext>
            </a:extLst>
          </p:cNvPr>
          <p:cNvSpPr>
            <a:spLocks xmlns:a="http://schemas.openxmlformats.org/drawingml/2006/main" noGrp="1"/>
          </p:cNvSpPr>
          <p:nvPr/>
        </p:nvSpPr>
        <p:spPr>
          <a:xfrm xmlns:a="http://schemas.openxmlformats.org/drawingml/2006/main">
            <a:off x="6507328" y="2459736"/>
            <a:ext cx="486140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2242A"/>
                </a:solidFill>
                <a:latin typeface="Cambria"/>
                <a:ea typeface="Cambria"/>
                <a:cs typeface="Cambria"/>
              </a:rPr>
              <a:t>Model 2 · Analytics</a:t>
            </a:r>
            <a:endParaRPr sz="1600"/>
          </a:p>
        </p:txBody>
      </p:sp>
      <p:sp>
        <p:nvSpPr>
          <p:cNvPr id="12" name="Text 10">
            <a:extLst xmlns:a="http://schemas.openxmlformats.org/drawingml/2006/main">
              <a:ext uri="{FF2B5EF4-FFF2-40B4-BE49-F238E27FC236}">
                <a16:creationId xmlns:a16="http://schemas.microsoft.com/office/drawing/2014/main" id="{E0805F7D-77EA-4AB1-A1C4-F3106DD0E582}"/>
              </a:ext>
            </a:extLst>
          </p:cNvPr>
          <p:cNvSpPr>
            <a:spLocks xmlns:a="http://schemas.openxmlformats.org/drawingml/2006/main" noGrp="1"/>
          </p:cNvSpPr>
          <p:nvPr/>
        </p:nvSpPr>
        <p:spPr>
          <a:xfrm xmlns:a="http://schemas.openxmlformats.org/drawingml/2006/main">
            <a:off x="6507328" y="2843784"/>
            <a:ext cx="4861408"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8000"/>
              </a:lnSpc>
              <a:buNone/>
            </a:pPr>
            <a:r>
              <a:rPr sz="1250">
                <a:solidFill>
                  <a:srgbClr val="3A4744"/>
                </a:solidFill>
                <a:latin typeface="Calibri"/>
                <a:ea typeface="Calibri"/>
                <a:cs typeface="Calibri"/>
              </a:rPr>
              <a:t>Read-only ingestion, detection, tracking, recognition, correlation and alert publication.</a:t>
            </a:r>
            <a:endParaRPr sz="1250"/>
          </a:p>
        </p:txBody>
      </p:sp>
      <p:sp>
        <p:nvSpPr>
          <p:cNvPr id="13" name="Shape 11">
            <a:extLst xmlns:a="http://schemas.openxmlformats.org/drawingml/2006/main">
              <a:ext uri="{FF2B5EF4-FFF2-40B4-BE49-F238E27FC236}">
                <a16:creationId xmlns:a16="http://schemas.microsoft.com/office/drawing/2014/main" id="{FC7292EE-BC5C-41F6-86FC-17BB7B6F23F5}"/>
              </a:ext>
            </a:extLst>
          </p:cNvPr>
          <p:cNvSpPr>
            <a:spLocks xmlns:a="http://schemas.openxmlformats.org/drawingml/2006/main" noGrp="1"/>
          </p:cNvSpPr>
          <p:nvPr/>
        </p:nvSpPr>
        <p:spPr>
          <a:xfrm xmlns:a="http://schemas.openxmlformats.org/drawingml/2006/main">
            <a:off x="548640" y="3995928"/>
            <a:ext cx="5410048" cy="1536192"/>
          </a:xfrm>
          <a:prstGeom xmlns:a="http://schemas.openxmlformats.org/drawingml/2006/main" prst="roundRect">
            <a:avLst>
              <a:gd name="adj" fmla="val 3571"/>
            </a:avLst>
          </a:prstGeom>
          <a:solidFill xmlns:a="http://schemas.openxmlformats.org/drawingml/2006/main">
            <a:srgbClr val="F1F3F1"/>
          </a:solidFill>
          <a:ln xmlns:a="http://schemas.openxmlformats.org/drawingml/2006/main" w="9525">
            <a:solidFill>
              <a:srgbClr val="DADFDC"/>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B7C41D8C-9B48-4885-9F64-90A2C6D751E3}"/>
              </a:ext>
            </a:extLst>
          </p:cNvPr>
          <p:cNvSpPr>
            <a:spLocks xmlns:a="http://schemas.openxmlformats.org/drawingml/2006/main" noGrp="1"/>
          </p:cNvSpPr>
          <p:nvPr/>
        </p:nvSpPr>
        <p:spPr>
          <a:xfrm xmlns:a="http://schemas.openxmlformats.org/drawingml/2006/main">
            <a:off x="822960" y="4215384"/>
            <a:ext cx="486140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2242A"/>
                </a:solidFill>
                <a:latin typeface="Cambria"/>
                <a:ea typeface="Cambria"/>
                <a:cs typeface="Cambria"/>
              </a:rPr>
              <a:t>Adapter boundary</a:t>
            </a:r>
            <a:endParaRPr sz="1600"/>
          </a:p>
        </p:txBody>
      </p:sp>
      <p:sp>
        <p:nvSpPr>
          <p:cNvPr id="15" name="Text 13">
            <a:extLst xmlns:a="http://schemas.openxmlformats.org/drawingml/2006/main">
              <a:ext uri="{FF2B5EF4-FFF2-40B4-BE49-F238E27FC236}">
                <a16:creationId xmlns:a16="http://schemas.microsoft.com/office/drawing/2014/main" id="{4604112F-F6D8-448C-A419-D3085BB10F7E}"/>
              </a:ext>
            </a:extLst>
          </p:cNvPr>
          <p:cNvSpPr>
            <a:spLocks xmlns:a="http://schemas.openxmlformats.org/drawingml/2006/main" noGrp="1"/>
          </p:cNvSpPr>
          <p:nvPr/>
        </p:nvSpPr>
        <p:spPr>
          <a:xfrm xmlns:a="http://schemas.openxmlformats.org/drawingml/2006/main">
            <a:off x="822960" y="4599432"/>
            <a:ext cx="4861408"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8000"/>
              </a:lnSpc>
              <a:buNone/>
            </a:pPr>
            <a:r>
              <a:rPr sz="1250">
                <a:solidFill>
                  <a:srgbClr val="3A4744"/>
                </a:solidFill>
                <a:latin typeface="Calibri"/>
                <a:ea typeface="Calibri"/>
                <a:cs typeface="Calibri"/>
              </a:rPr>
              <a:t>RTSP, ONVIF, HLS, VMS APIs and vendor SDKs remain replaceable behind standard contracts.</a:t>
            </a:r>
            <a:endParaRPr sz="1250"/>
          </a:p>
        </p:txBody>
      </p:sp>
      <p:sp>
        <p:nvSpPr>
          <p:cNvPr id="16" name="Shape 14">
            <a:extLst xmlns:a="http://schemas.openxmlformats.org/drawingml/2006/main">
              <a:ext uri="{FF2B5EF4-FFF2-40B4-BE49-F238E27FC236}">
                <a16:creationId xmlns:a16="http://schemas.microsoft.com/office/drawing/2014/main" id="{2ED23779-F649-4E93-8861-4E1923186429}"/>
              </a:ext>
            </a:extLst>
          </p:cNvPr>
          <p:cNvSpPr>
            <a:spLocks xmlns:a="http://schemas.openxmlformats.org/drawingml/2006/main" noGrp="1"/>
          </p:cNvSpPr>
          <p:nvPr/>
        </p:nvSpPr>
        <p:spPr>
          <a:xfrm xmlns:a="http://schemas.openxmlformats.org/drawingml/2006/main">
            <a:off x="6233008" y="3995928"/>
            <a:ext cx="5410048" cy="1536192"/>
          </a:xfrm>
          <a:prstGeom xmlns:a="http://schemas.openxmlformats.org/drawingml/2006/main" prst="roundRect">
            <a:avLst>
              <a:gd name="adj" fmla="val 3571"/>
            </a:avLst>
          </a:prstGeom>
          <a:solidFill xmlns:a="http://schemas.openxmlformats.org/drawingml/2006/main">
            <a:srgbClr val="12242A"/>
          </a:solidFill>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DF959A10-DA2B-4A04-B07D-273B36FA1E92}"/>
              </a:ext>
            </a:extLst>
          </p:cNvPr>
          <p:cNvSpPr>
            <a:spLocks xmlns:a="http://schemas.openxmlformats.org/drawingml/2006/main" noGrp="1"/>
          </p:cNvSpPr>
          <p:nvPr/>
        </p:nvSpPr>
        <p:spPr>
          <a:xfrm xmlns:a="http://schemas.openxmlformats.org/drawingml/2006/main">
            <a:off x="6507328" y="4215384"/>
            <a:ext cx="486140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F7A5C"/>
                </a:solidFill>
                <a:latin typeface="Cambria"/>
                <a:ea typeface="Cambria"/>
                <a:cs typeface="Cambria"/>
              </a:rPr>
              <a:t>Why this fits</a:t>
            </a:r>
            <a:endParaRPr sz="1600"/>
          </a:p>
        </p:txBody>
      </p:sp>
      <p:sp>
        <p:nvSpPr>
          <p:cNvPr id="18" name="Text 16">
            <a:extLst xmlns:a="http://schemas.openxmlformats.org/drawingml/2006/main">
              <a:ext uri="{FF2B5EF4-FFF2-40B4-BE49-F238E27FC236}">
                <a16:creationId xmlns:a16="http://schemas.microsoft.com/office/drawing/2014/main" id="{A58E2DAA-5525-4EAF-88A9-C36856CA38DD}"/>
              </a:ext>
            </a:extLst>
          </p:cNvPr>
          <p:cNvSpPr>
            <a:spLocks xmlns:a="http://schemas.openxmlformats.org/drawingml/2006/main" noGrp="1"/>
          </p:cNvSpPr>
          <p:nvPr/>
        </p:nvSpPr>
        <p:spPr>
          <a:xfrm xmlns:a="http://schemas.openxmlformats.org/drawingml/2006/main">
            <a:off x="6507328" y="4599432"/>
            <a:ext cx="4861408"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8000"/>
              </a:lnSpc>
              <a:buNone/>
            </a:pPr>
            <a:r>
              <a:rPr sz="1250">
                <a:solidFill>
                  <a:srgbClr val="C9D2CE"/>
                </a:solidFill>
                <a:latin typeface="Calibri"/>
                <a:ea typeface="Calibri"/>
                <a:cs typeface="Calibri"/>
              </a:rPr>
              <a:t>Source video remains with the authorised department; events and decisions are centrally governed.</a:t>
            </a:r>
            <a:endParaRPr sz="1250"/>
          </a:p>
        </p:txBody>
      </p:sp>
      <p:sp>
        <p:nvSpPr>
          <p:cNvPr id="19" name="Text 17">
            <a:extLst xmlns:a="http://schemas.openxmlformats.org/drawingml/2006/main">
              <a:ext uri="{FF2B5EF4-FFF2-40B4-BE49-F238E27FC236}">
                <a16:creationId xmlns:a16="http://schemas.microsoft.com/office/drawing/2014/main" id="{AFA6520F-7E6F-4288-9279-02EC573C2302}"/>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150">
                <a:solidFill>
                  <a:srgbClr val="6B7570"/>
                </a:solidFill>
                <a:latin typeface="Courier New"/>
                <a:ea typeface="Courier New"/>
                <a:cs typeface="Courier New"/>
              </a:rPr>
              <a:t>SENTINEL GUJARAT</a:t>
            </a:r>
            <a:endParaRPr sz="900"/>
          </a:p>
        </p:txBody>
      </p:sp>
      <p:sp>
        <p:nvSpPr>
          <p:cNvPr id="20" name="Text 18">
            <a:extLst xmlns:a="http://schemas.openxmlformats.org/drawingml/2006/main">
              <a:ext uri="{FF2B5EF4-FFF2-40B4-BE49-F238E27FC236}">
                <a16:creationId xmlns:a16="http://schemas.microsoft.com/office/drawing/2014/main" id="{7CD120DB-BC70-421B-8531-27EB22AACCF5}"/>
              </a:ext>
            </a:extLst>
          </p:cNvPr>
          <p:cNvSpPr>
            <a:spLocks xmlns:a="http://schemas.openxmlformats.org/drawingml/2006/main" noGrp="1"/>
          </p:cNvSpPr>
          <p:nvPr/>
        </p:nvSpPr>
        <p:spPr>
          <a:xfrm xmlns:a="http://schemas.openxmlformats.org/drawingml/2006/main">
            <a:off x="10728655" y="6473952"/>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570"/>
                </a:solidFill>
                <a:latin typeface="Courier New"/>
                <a:ea typeface="Courier New"/>
                <a:cs typeface="Courier New"/>
              </a:rPr>
              <a:t>05</a:t>
            </a:r>
            <a:endParaRPr sz="900"/>
          </a:p>
        </p:txBody>
      </p:sp>
    </p:spTree>
    <p:extLst>
      <p:ext uri="{BB962C8B-B14F-4D97-AF65-F5344CB8AC3E}">
        <p14:creationId xmlns:p14="http://schemas.microsoft.com/office/powerpoint/2010/main" val="84680903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6C9F575-B9B4-4DF8-BD82-695C0058C849}"/>
              </a:ext>
            </a:extLst>
          </p:cNvPr>
          <p:cNvSpPr>
            <a:spLocks xmlns:a="http://schemas.openxmlformats.org/drawingml/2006/main" noGrp="1"/>
          </p:cNvSpPr>
          <p:nvPr/>
        </p:nvSpPr>
        <p:spPr>
          <a:xfrm xmlns:a="http://schemas.openxmlformats.org/drawingml/2006/main">
            <a:off x="548640" y="45720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1F7A5C"/>
                </a:solidFill>
                <a:latin typeface="Courier New"/>
                <a:ea typeface="Courier New"/>
                <a:cs typeface="Courier New"/>
              </a:rPr>
              <a:t>ARCHITECTURE</a:t>
            </a:r>
            <a:endParaRPr sz="1100"/>
          </a:p>
        </p:txBody>
      </p:sp>
      <p:sp>
        <p:nvSpPr>
          <p:cNvPr id="3" name="Text 1">
            <a:extLst xmlns:a="http://schemas.openxmlformats.org/drawingml/2006/main">
              <a:ext uri="{FF2B5EF4-FFF2-40B4-BE49-F238E27FC236}">
                <a16:creationId xmlns:a16="http://schemas.microsoft.com/office/drawing/2014/main" id="{A5976C60-5DF5-4D46-9927-03B0EE4173CB}"/>
              </a:ext>
            </a:extLst>
          </p:cNvPr>
          <p:cNvSpPr>
            <a:spLocks xmlns:a="http://schemas.openxmlformats.org/drawingml/2006/main" noGrp="1"/>
          </p:cNvSpPr>
          <p:nvPr/>
        </p:nvSpPr>
        <p:spPr>
          <a:xfrm xmlns:a="http://schemas.openxmlformats.org/drawingml/2006/main">
            <a:off x="548640" y="749808"/>
            <a:ext cx="1078992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2400" b="1">
                <a:solidFill>
                  <a:srgbClr val="12242A"/>
                </a:solidFill>
                <a:latin typeface="Cambria"/>
                <a:ea typeface="Cambria"/>
                <a:cs typeface="Cambria"/>
              </a:rPr>
              <a:t>Three layers separate source access, intelligence and operations</a:t>
            </a:r>
            <a:endParaRPr sz="2400"/>
          </a:p>
        </p:txBody>
      </p:sp>
      <p:sp>
        <p:nvSpPr>
          <p:cNvPr id="4" name="Shape 2">
            <a:extLst xmlns:a="http://schemas.openxmlformats.org/drawingml/2006/main">
              <a:ext uri="{FF2B5EF4-FFF2-40B4-BE49-F238E27FC236}">
                <a16:creationId xmlns:a16="http://schemas.microsoft.com/office/drawing/2014/main" id="{7B3A2423-B589-48FE-95C3-D487FFD8B5CD}"/>
              </a:ext>
            </a:extLst>
          </p:cNvPr>
          <p:cNvSpPr>
            <a:spLocks xmlns:a="http://schemas.openxmlformats.org/drawingml/2006/main" noGrp="1"/>
          </p:cNvSpPr>
          <p:nvPr/>
        </p:nvSpPr>
        <p:spPr>
          <a:xfrm xmlns:a="http://schemas.openxmlformats.org/drawingml/2006/main">
            <a:off x="548640" y="1691640"/>
            <a:ext cx="11094415" cy="1207008"/>
          </a:xfrm>
          <a:prstGeom xmlns:a="http://schemas.openxmlformats.org/drawingml/2006/main" prst="roundRect">
            <a:avLst>
              <a:gd name="adj" fmla="val 6061"/>
            </a:avLst>
          </a:prstGeom>
          <a:solidFill xmlns:a="http://schemas.openxmlformats.org/drawingml/2006/main">
            <a:srgbClr val="12242A"/>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4B8162F7-F928-4573-A710-CFE40640D773}"/>
              </a:ext>
            </a:extLst>
          </p:cNvPr>
          <p:cNvSpPr>
            <a:spLocks xmlns:a="http://schemas.openxmlformats.org/drawingml/2006/main" noGrp="1"/>
          </p:cNvSpPr>
          <p:nvPr/>
        </p:nvSpPr>
        <p:spPr>
          <a:xfrm xmlns:a="http://schemas.openxmlformats.org/drawingml/2006/main">
            <a:off x="804672" y="1938528"/>
            <a:ext cx="713232" cy="713232"/>
          </a:xfrm>
          <a:prstGeom xmlns:a="http://schemas.openxmlformats.org/drawingml/2006/main" prst="ellipse">
            <a:avLst/>
          </a:prstGeom>
          <a:solidFill xmlns:a="http://schemas.openxmlformats.org/drawingml/2006/main">
            <a:srgbClr val="FFFFFF">
              <a:alpha val="18000"/>
            </a:srgbClr>
          </a:solidFill>
        </p:spPr>
        <p:txBody>
          <a:bodyPr xmlns:a="http://schemas.openxmlformats.org/drawingml/2006/main"/>
          <a:lstStyle xmlns:a="http://schemas.openxmlformats.org/drawingml/2006/main"/>
          <a:p xmlns:a="http://schemas.openxmlformats.org/drawingml/2006/main">
            <a:endParaRPr/>
          </a:p>
        </p:txBody>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9460a7e1179b4128"/>
          <a:stretch xmlns:a="http://schemas.openxmlformats.org/drawingml/2006/main">
            <a:fillRect l="0" t="0" r="0" b="0"/>
          </a:stretch>
        </p:blipFill>
        <p:spPr>
          <a:xfrm xmlns:a="http://schemas.openxmlformats.org/drawingml/2006/main">
            <a:off x="960120" y="2093976"/>
            <a:ext cx="402336" cy="402336"/>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1464FE9F-D969-4BD9-946E-BEA243EA3049}"/>
              </a:ext>
            </a:extLst>
          </p:cNvPr>
          <p:cNvSpPr>
            <a:spLocks xmlns:a="http://schemas.openxmlformats.org/drawingml/2006/main" noGrp="1"/>
          </p:cNvSpPr>
          <p:nvPr/>
        </p:nvSpPr>
        <p:spPr>
          <a:xfrm xmlns:a="http://schemas.openxmlformats.org/drawingml/2006/main">
            <a:off x="1783080" y="1856232"/>
            <a:ext cx="3108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FFFFFF"/>
                </a:solidFill>
                <a:latin typeface="Cambria"/>
                <a:ea typeface="Cambria"/>
                <a:cs typeface="Cambria"/>
              </a:rPr>
              <a:t>Source and edge layer</a:t>
            </a:r>
            <a:endParaRPr sz="1600"/>
          </a:p>
        </p:txBody>
      </p:sp>
      <p:sp>
        <p:nvSpPr>
          <p:cNvPr id="8" name="Text 5">
            <a:extLst xmlns:a="http://schemas.openxmlformats.org/drawingml/2006/main">
              <a:ext uri="{FF2B5EF4-FFF2-40B4-BE49-F238E27FC236}">
                <a16:creationId xmlns:a16="http://schemas.microsoft.com/office/drawing/2014/main" id="{895B6A06-B841-4722-BA63-10DC2F1471BD}"/>
              </a:ext>
            </a:extLst>
          </p:cNvPr>
          <p:cNvSpPr>
            <a:spLocks xmlns:a="http://schemas.openxmlformats.org/drawingml/2006/main" noGrp="1"/>
          </p:cNvSpPr>
          <p:nvPr/>
        </p:nvSpPr>
        <p:spPr>
          <a:xfrm xmlns:a="http://schemas.openxmlformats.org/drawingml/2006/main">
            <a:off x="1783080" y="2221992"/>
            <a:ext cx="9631375"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250">
                <a:solidFill>
                  <a:srgbClr val="C9D2CE"/>
                </a:solidFill>
                <a:latin typeface="Calibri"/>
                <a:ea typeface="Calibri"/>
                <a:cs typeface="Calibri"/>
              </a:rPr>
              <a:t>Cameras, NVRs and VMS → discovery adapters → RTSP/TCP or HLS → health probes → WHEP preview.</a:t>
            </a:r>
            <a:endParaRPr sz="1250"/>
          </a:p>
        </p:txBody>
      </p:sp>
      <p:sp>
        <p:nvSpPr>
          <p:cNvPr id="9" name="Shape 6">
            <a:extLst xmlns:a="http://schemas.openxmlformats.org/drawingml/2006/main">
              <a:ext uri="{FF2B5EF4-FFF2-40B4-BE49-F238E27FC236}">
                <a16:creationId xmlns:a16="http://schemas.microsoft.com/office/drawing/2014/main" id="{292EECCF-F425-43F8-A9F6-08F4434BB9DB}"/>
              </a:ext>
            </a:extLst>
          </p:cNvPr>
          <p:cNvSpPr>
            <a:spLocks xmlns:a="http://schemas.openxmlformats.org/drawingml/2006/main" noGrp="1"/>
          </p:cNvSpPr>
          <p:nvPr/>
        </p:nvSpPr>
        <p:spPr>
          <a:xfrm xmlns:a="http://schemas.openxmlformats.org/drawingml/2006/main">
            <a:off x="6040984" y="2926080"/>
            <a:ext cx="109728" cy="201168"/>
          </a:xfrm>
          <a:prstGeom xmlns:a="http://schemas.openxmlformats.org/drawingml/2006/main" prst="downArrow">
            <a:avLst/>
          </a:prstGeom>
          <a:solidFill xmlns:a="http://schemas.openxmlformats.org/drawingml/2006/main">
            <a:srgbClr val="DADFDC"/>
          </a:solidFill>
        </p:spPr>
        <p:txBody>
          <a:bodyPr xmlns:a="http://schemas.openxmlformats.org/drawingml/2006/main"/>
          <a:lstStyle xmlns:a="http://schemas.openxmlformats.org/drawingml/2006/main"/>
          <a:p xmlns:a="http://schemas.openxmlformats.org/drawingml/2006/main">
            <a:endParaRPr/>
          </a:p>
        </p:txBody>
      </p:sp>
      <p:sp>
        <p:nvSpPr>
          <p:cNvPr id="10" name="Shape 7">
            <a:extLst xmlns:a="http://schemas.openxmlformats.org/drawingml/2006/main">
              <a:ext uri="{FF2B5EF4-FFF2-40B4-BE49-F238E27FC236}">
                <a16:creationId xmlns:a16="http://schemas.microsoft.com/office/drawing/2014/main" id="{0CDA70C1-3B9C-4838-8A00-9096F2390EFE}"/>
              </a:ext>
            </a:extLst>
          </p:cNvPr>
          <p:cNvSpPr>
            <a:spLocks xmlns:a="http://schemas.openxmlformats.org/drawingml/2006/main" noGrp="1"/>
          </p:cNvSpPr>
          <p:nvPr/>
        </p:nvSpPr>
        <p:spPr>
          <a:xfrm xmlns:a="http://schemas.openxmlformats.org/drawingml/2006/main">
            <a:off x="548640" y="3154680"/>
            <a:ext cx="11094415" cy="1207008"/>
          </a:xfrm>
          <a:prstGeom xmlns:a="http://schemas.openxmlformats.org/drawingml/2006/main" prst="roundRect">
            <a:avLst>
              <a:gd name="adj" fmla="val 6061"/>
            </a:avLst>
          </a:prstGeom>
          <a:solidFill xmlns:a="http://schemas.openxmlformats.org/drawingml/2006/main">
            <a:srgbClr val="1E4A40"/>
          </a:solidFill>
        </p:spPr>
        <p:txBody>
          <a:bodyPr xmlns:a="http://schemas.openxmlformats.org/drawingml/2006/main"/>
          <a:lstStyle xmlns:a="http://schemas.openxmlformats.org/drawingml/2006/main"/>
          <a:p xmlns:a="http://schemas.openxmlformats.org/drawingml/2006/main">
            <a:endParaRPr/>
          </a:p>
        </p:txBody>
      </p:sp>
      <p:sp>
        <p:nvSpPr>
          <p:cNvPr id="11" name="Shape 8">
            <a:extLst xmlns:a="http://schemas.openxmlformats.org/drawingml/2006/main">
              <a:ext uri="{FF2B5EF4-FFF2-40B4-BE49-F238E27FC236}">
                <a16:creationId xmlns:a16="http://schemas.microsoft.com/office/drawing/2014/main" id="{574A9A1C-57D1-4C8A-8024-36DBCD48AC7D}"/>
              </a:ext>
            </a:extLst>
          </p:cNvPr>
          <p:cNvSpPr>
            <a:spLocks xmlns:a="http://schemas.openxmlformats.org/drawingml/2006/main" noGrp="1"/>
          </p:cNvSpPr>
          <p:nvPr/>
        </p:nvSpPr>
        <p:spPr>
          <a:xfrm xmlns:a="http://schemas.openxmlformats.org/drawingml/2006/main">
            <a:off x="804672" y="3401568"/>
            <a:ext cx="713232" cy="713232"/>
          </a:xfrm>
          <a:prstGeom xmlns:a="http://schemas.openxmlformats.org/drawingml/2006/main" prst="ellipse">
            <a:avLst/>
          </a:prstGeom>
          <a:solidFill xmlns:a="http://schemas.openxmlformats.org/drawingml/2006/main">
            <a:srgbClr val="FFFFFF">
              <a:alpha val="18000"/>
            </a:srgbClr>
          </a:solidFill>
        </p:spPr>
        <p:txBody>
          <a:bodyPr xmlns:a="http://schemas.openxmlformats.org/drawingml/2006/main"/>
          <a:lstStyle xmlns:a="http://schemas.openxmlformats.org/drawingml/2006/main"/>
          <a:p xmlns:a="http://schemas.openxmlformats.org/drawingml/2006/main">
            <a:endParaRPr/>
          </a:p>
        </p:txBody>
      </p:sp>
      <p:pic>
        <p:nvPicPr>
          <p:cNvPr id="37" name="Image 1"/>
          <p:cNvPicPr>
            <a:picLocks xmlns:a="http://schemas.openxmlformats.org/drawingml/2006/main" noChangeAspect="1"/>
          </p:cNvPicPr>
          <p:nvPr/>
        </p:nvPicPr>
        <p:blipFill>
          <a:blip xmlns:r="http://schemas.openxmlformats.org/officeDocument/2006/relationships" xmlns:a="http://schemas.openxmlformats.org/drawingml/2006/main" r:embed="Re1a087e68ab94a88"/>
          <a:stretch xmlns:a="http://schemas.openxmlformats.org/drawingml/2006/main">
            <a:fillRect l="0" t="0" r="0" b="0"/>
          </a:stretch>
        </p:blipFill>
        <p:spPr>
          <a:xfrm xmlns:a="http://schemas.openxmlformats.org/drawingml/2006/main">
            <a:off x="960120" y="3557016"/>
            <a:ext cx="402336" cy="402336"/>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FFB33AC2-C10D-45A5-8098-76D9184ABCB1}"/>
              </a:ext>
            </a:extLst>
          </p:cNvPr>
          <p:cNvSpPr>
            <a:spLocks xmlns:a="http://schemas.openxmlformats.org/drawingml/2006/main" noGrp="1"/>
          </p:cNvSpPr>
          <p:nvPr/>
        </p:nvSpPr>
        <p:spPr>
          <a:xfrm xmlns:a="http://schemas.openxmlformats.org/drawingml/2006/main">
            <a:off x="1783080" y="3319272"/>
            <a:ext cx="3108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FFFFFF"/>
                </a:solidFill>
                <a:latin typeface="Cambria"/>
                <a:ea typeface="Cambria"/>
                <a:cs typeface="Cambria"/>
              </a:rPr>
              <a:t>Regional intelligence layer</a:t>
            </a:r>
            <a:endParaRPr sz="1600"/>
          </a:p>
        </p:txBody>
      </p:sp>
      <p:sp>
        <p:nvSpPr>
          <p:cNvPr id="14" name="Text 10">
            <a:extLst xmlns:a="http://schemas.openxmlformats.org/drawingml/2006/main">
              <a:ext uri="{FF2B5EF4-FFF2-40B4-BE49-F238E27FC236}">
                <a16:creationId xmlns:a16="http://schemas.microsoft.com/office/drawing/2014/main" id="{8037F4A4-B2C0-4916-9DD2-5E8F37D8E0EC}"/>
              </a:ext>
            </a:extLst>
          </p:cNvPr>
          <p:cNvSpPr>
            <a:spLocks xmlns:a="http://schemas.openxmlformats.org/drawingml/2006/main" noGrp="1"/>
          </p:cNvSpPr>
          <p:nvPr/>
        </p:nvSpPr>
        <p:spPr>
          <a:xfrm xmlns:a="http://schemas.openxmlformats.org/drawingml/2006/main">
            <a:off x="1783080" y="3685032"/>
            <a:ext cx="9631375"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250">
                <a:solidFill>
                  <a:srgbClr val="C9D2CE"/>
                </a:solidFill>
                <a:latin typeface="Calibri"/>
                <a:ea typeface="Calibri"/>
                <a:cs typeface="Calibri"/>
              </a:rPr>
              <a:t>Stream workers → decode → detection → tracking → ANPR / FRS / event analytics → governed observations.</a:t>
            </a:r>
            <a:endParaRPr sz="1250"/>
          </a:p>
        </p:txBody>
      </p:sp>
      <p:sp>
        <p:nvSpPr>
          <p:cNvPr id="15" name="Shape 11">
            <a:extLst xmlns:a="http://schemas.openxmlformats.org/drawingml/2006/main">
              <a:ext uri="{FF2B5EF4-FFF2-40B4-BE49-F238E27FC236}">
                <a16:creationId xmlns:a16="http://schemas.microsoft.com/office/drawing/2014/main" id="{5C892EC9-3C96-41C9-B3C1-3C90CD3B92DF}"/>
              </a:ext>
            </a:extLst>
          </p:cNvPr>
          <p:cNvSpPr>
            <a:spLocks xmlns:a="http://schemas.openxmlformats.org/drawingml/2006/main" noGrp="1"/>
          </p:cNvSpPr>
          <p:nvPr/>
        </p:nvSpPr>
        <p:spPr>
          <a:xfrm xmlns:a="http://schemas.openxmlformats.org/drawingml/2006/main">
            <a:off x="6040984" y="4389120"/>
            <a:ext cx="109728" cy="201168"/>
          </a:xfrm>
          <a:prstGeom xmlns:a="http://schemas.openxmlformats.org/drawingml/2006/main" prst="downArrow">
            <a:avLst/>
          </a:prstGeom>
          <a:solidFill xmlns:a="http://schemas.openxmlformats.org/drawingml/2006/main">
            <a:srgbClr val="DADFDC"/>
          </a:solidFill>
        </p:spPr>
        <p:txBody>
          <a:bodyPr xmlns:a="http://schemas.openxmlformats.org/drawingml/2006/main"/>
          <a:lstStyle xmlns:a="http://schemas.openxmlformats.org/drawingml/2006/main"/>
          <a:p xmlns:a="http://schemas.openxmlformats.org/drawingml/2006/main">
            <a:endParaRPr/>
          </a:p>
        </p:txBody>
      </p:sp>
      <p:sp>
        <p:nvSpPr>
          <p:cNvPr id="16" name="Shape 12">
            <a:extLst xmlns:a="http://schemas.openxmlformats.org/drawingml/2006/main">
              <a:ext uri="{FF2B5EF4-FFF2-40B4-BE49-F238E27FC236}">
                <a16:creationId xmlns:a16="http://schemas.microsoft.com/office/drawing/2014/main" id="{64CBF3A7-AD7A-4F49-A9D4-17020E06EA30}"/>
              </a:ext>
            </a:extLst>
          </p:cNvPr>
          <p:cNvSpPr>
            <a:spLocks xmlns:a="http://schemas.openxmlformats.org/drawingml/2006/main" noGrp="1"/>
          </p:cNvSpPr>
          <p:nvPr/>
        </p:nvSpPr>
        <p:spPr>
          <a:xfrm xmlns:a="http://schemas.openxmlformats.org/drawingml/2006/main">
            <a:off x="548640" y="4617720"/>
            <a:ext cx="11094415" cy="1207008"/>
          </a:xfrm>
          <a:prstGeom xmlns:a="http://schemas.openxmlformats.org/drawingml/2006/main" prst="roundRect">
            <a:avLst>
              <a:gd name="adj" fmla="val 6061"/>
            </a:avLst>
          </a:prstGeom>
          <a:solidFill xmlns:a="http://schemas.openxmlformats.org/drawingml/2006/main">
            <a:srgbClr val="1F7A5C"/>
          </a:solidFill>
        </p:spPr>
        <p:txBody>
          <a:bodyPr xmlns:a="http://schemas.openxmlformats.org/drawingml/2006/main"/>
          <a:lstStyle xmlns:a="http://schemas.openxmlformats.org/drawingml/2006/main"/>
          <a:p xmlns:a="http://schemas.openxmlformats.org/drawingml/2006/main">
            <a:endParaRPr/>
          </a:p>
        </p:txBody>
      </p:sp>
      <p:sp>
        <p:nvSpPr>
          <p:cNvPr id="17" name="Shape 13">
            <a:extLst xmlns:a="http://schemas.openxmlformats.org/drawingml/2006/main">
              <a:ext uri="{FF2B5EF4-FFF2-40B4-BE49-F238E27FC236}">
                <a16:creationId xmlns:a16="http://schemas.microsoft.com/office/drawing/2014/main" id="{4F2D3BB0-DF9D-4774-ADED-053995195524}"/>
              </a:ext>
            </a:extLst>
          </p:cNvPr>
          <p:cNvSpPr>
            <a:spLocks xmlns:a="http://schemas.openxmlformats.org/drawingml/2006/main" noGrp="1"/>
          </p:cNvSpPr>
          <p:nvPr/>
        </p:nvSpPr>
        <p:spPr>
          <a:xfrm xmlns:a="http://schemas.openxmlformats.org/drawingml/2006/main">
            <a:off x="804672" y="4864608"/>
            <a:ext cx="713232" cy="713232"/>
          </a:xfrm>
          <a:prstGeom xmlns:a="http://schemas.openxmlformats.org/drawingml/2006/main" prst="ellipse">
            <a:avLst/>
          </a:prstGeom>
          <a:solidFill xmlns:a="http://schemas.openxmlformats.org/drawingml/2006/main">
            <a:srgbClr val="FFFFFF">
              <a:alpha val="18000"/>
            </a:srgbClr>
          </a:solidFill>
        </p:spPr>
        <p:txBody>
          <a:bodyPr xmlns:a="http://schemas.openxmlformats.org/drawingml/2006/main"/>
          <a:lstStyle xmlns:a="http://schemas.openxmlformats.org/drawingml/2006/main"/>
          <a:p xmlns:a="http://schemas.openxmlformats.org/drawingml/2006/main">
            <a:endParaRPr/>
          </a:p>
        </p:txBody>
      </p:sp>
      <p:pic>
        <p:nvPicPr>
          <p:cNvPr id="43" name="Image 2"/>
          <p:cNvPicPr>
            <a:picLocks xmlns:a="http://schemas.openxmlformats.org/drawingml/2006/main" noChangeAspect="1"/>
          </p:cNvPicPr>
          <p:nvPr/>
        </p:nvPicPr>
        <p:blipFill>
          <a:blip xmlns:r="http://schemas.openxmlformats.org/officeDocument/2006/relationships" xmlns:a="http://schemas.openxmlformats.org/drawingml/2006/main" r:embed="R9f198733b2d14001"/>
          <a:stretch xmlns:a="http://schemas.openxmlformats.org/drawingml/2006/main">
            <a:fillRect l="0" t="0" r="0" b="0"/>
          </a:stretch>
        </p:blipFill>
        <p:spPr>
          <a:xfrm xmlns:a="http://schemas.openxmlformats.org/drawingml/2006/main">
            <a:off x="960120" y="5020056"/>
            <a:ext cx="402336" cy="402336"/>
          </a:xfrm>
          <a:prstGeom xmlns:a="http://schemas.openxmlformats.org/drawingml/2006/main" prst="rect">
            <a:avLst/>
          </a:prstGeom>
        </p:spPr>
      </p:pic>
      <p:sp>
        <p:nvSpPr>
          <p:cNvPr id="19" name="Text 14">
            <a:extLst xmlns:a="http://schemas.openxmlformats.org/drawingml/2006/main">
              <a:ext uri="{FF2B5EF4-FFF2-40B4-BE49-F238E27FC236}">
                <a16:creationId xmlns:a16="http://schemas.microsoft.com/office/drawing/2014/main" id="{6EBC4BB2-842E-45E1-A74E-AAA893BE2BA6}"/>
              </a:ext>
            </a:extLst>
          </p:cNvPr>
          <p:cNvSpPr>
            <a:spLocks xmlns:a="http://schemas.openxmlformats.org/drawingml/2006/main" noGrp="1"/>
          </p:cNvSpPr>
          <p:nvPr/>
        </p:nvSpPr>
        <p:spPr>
          <a:xfrm xmlns:a="http://schemas.openxmlformats.org/drawingml/2006/main">
            <a:off x="1783080" y="4782312"/>
            <a:ext cx="3108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FFFFFF"/>
                </a:solidFill>
                <a:latin typeface="Cambria"/>
                <a:ea typeface="Cambria"/>
                <a:cs typeface="Cambria"/>
              </a:rPr>
              <a:t>Central control + operator layer</a:t>
            </a:r>
            <a:endParaRPr sz="1600"/>
          </a:p>
        </p:txBody>
      </p:sp>
      <p:sp>
        <p:nvSpPr>
          <p:cNvPr id="20" name="Text 15">
            <a:extLst xmlns:a="http://schemas.openxmlformats.org/drawingml/2006/main">
              <a:ext uri="{FF2B5EF4-FFF2-40B4-BE49-F238E27FC236}">
                <a16:creationId xmlns:a16="http://schemas.microsoft.com/office/drawing/2014/main" id="{C049A8C0-337D-4B7D-B010-5A5B4FC105AC}"/>
              </a:ext>
            </a:extLst>
          </p:cNvPr>
          <p:cNvSpPr>
            <a:spLocks xmlns:a="http://schemas.openxmlformats.org/drawingml/2006/main" noGrp="1"/>
          </p:cNvSpPr>
          <p:nvPr/>
        </p:nvSpPr>
        <p:spPr>
          <a:xfrm xmlns:a="http://schemas.openxmlformats.org/drawingml/2006/main">
            <a:off x="1783080" y="5148072"/>
            <a:ext cx="9631375"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250">
                <a:solidFill>
                  <a:srgbClr val="C9D2CE"/>
                </a:solidFill>
                <a:latin typeface="Calibri"/>
                <a:ea typeface="Calibri"/>
                <a:cs typeface="Calibri"/>
              </a:rPr>
              <a:t>Registry + GIS → watchlists → correlation → alerts → search / journey → console → audit.</a:t>
            </a:r>
            <a:endParaRPr sz="1250"/>
          </a:p>
        </p:txBody>
      </p:sp>
      <p:sp>
        <p:nvSpPr>
          <p:cNvPr id="21" name="Text 16">
            <a:extLst xmlns:a="http://schemas.openxmlformats.org/drawingml/2006/main">
              <a:ext uri="{FF2B5EF4-FFF2-40B4-BE49-F238E27FC236}">
                <a16:creationId xmlns:a16="http://schemas.microsoft.com/office/drawing/2014/main" id="{EAF9C563-2BD0-41B1-A399-20F5B0C63A21}"/>
              </a:ext>
            </a:extLst>
          </p:cNvPr>
          <p:cNvSpPr>
            <a:spLocks xmlns:a="http://schemas.openxmlformats.org/drawingml/2006/main" noGrp="1"/>
          </p:cNvSpPr>
          <p:nvPr/>
        </p:nvSpPr>
        <p:spPr>
          <a:xfrm xmlns:a="http://schemas.openxmlformats.org/drawingml/2006/main">
            <a:off x="548640" y="5952744"/>
            <a:ext cx="1109441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i="1">
                <a:solidFill>
                  <a:srgbClr val="6B7570"/>
                </a:solidFill>
                <a:latin typeface="Calibri"/>
                <a:ea typeface="Calibri"/>
                <a:cs typeface="Calibri"/>
              </a:rPr>
              <a:t>Media stays close to authorised sources. Metadata, observations, policies and operator actions form the shared control plane.</a:t>
            </a:r>
            <a:endParaRPr sz="1250"/>
          </a:p>
        </p:txBody>
      </p:sp>
      <p:sp>
        <p:nvSpPr>
          <p:cNvPr id="22" name="Text 17">
            <a:extLst xmlns:a="http://schemas.openxmlformats.org/drawingml/2006/main">
              <a:ext uri="{FF2B5EF4-FFF2-40B4-BE49-F238E27FC236}">
                <a16:creationId xmlns:a16="http://schemas.microsoft.com/office/drawing/2014/main" id="{7815791C-AED8-4F12-8AE0-E3E765ACB7EC}"/>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150">
                <a:solidFill>
                  <a:srgbClr val="6B7570"/>
                </a:solidFill>
                <a:latin typeface="Courier New"/>
                <a:ea typeface="Courier New"/>
                <a:cs typeface="Courier New"/>
              </a:rPr>
              <a:t>SENTINEL GUJARAT</a:t>
            </a:r>
            <a:endParaRPr sz="900"/>
          </a:p>
        </p:txBody>
      </p:sp>
      <p:sp>
        <p:nvSpPr>
          <p:cNvPr id="23" name="Text 18">
            <a:extLst xmlns:a="http://schemas.openxmlformats.org/drawingml/2006/main">
              <a:ext uri="{FF2B5EF4-FFF2-40B4-BE49-F238E27FC236}">
                <a16:creationId xmlns:a16="http://schemas.microsoft.com/office/drawing/2014/main" id="{D059EA6F-966A-4010-A89E-FB14163FCB9C}"/>
              </a:ext>
            </a:extLst>
          </p:cNvPr>
          <p:cNvSpPr>
            <a:spLocks xmlns:a="http://schemas.openxmlformats.org/drawingml/2006/main" noGrp="1"/>
          </p:cNvSpPr>
          <p:nvPr/>
        </p:nvSpPr>
        <p:spPr>
          <a:xfrm xmlns:a="http://schemas.openxmlformats.org/drawingml/2006/main">
            <a:off x="10728655" y="6473952"/>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570"/>
                </a:solidFill>
                <a:latin typeface="Courier New"/>
                <a:ea typeface="Courier New"/>
                <a:cs typeface="Courier New"/>
              </a:rPr>
              <a:t>06</a:t>
            </a:r>
            <a:endParaRPr sz="900"/>
          </a:p>
        </p:txBody>
      </p:sp>
    </p:spTree>
    <p:extLst>
      <p:ext uri="{BB962C8B-B14F-4D97-AF65-F5344CB8AC3E}">
        <p14:creationId xmlns:p14="http://schemas.microsoft.com/office/powerpoint/2010/main" val="571244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0C4146D-B61E-4092-8DC5-1B9F65429748}"/>
              </a:ext>
            </a:extLst>
          </p:cNvPr>
          <p:cNvSpPr>
            <a:spLocks xmlns:a="http://schemas.openxmlformats.org/drawingml/2006/main" noGrp="1"/>
          </p:cNvSpPr>
          <p:nvPr/>
        </p:nvSpPr>
        <p:spPr>
          <a:xfrm xmlns:a="http://schemas.openxmlformats.org/drawingml/2006/main">
            <a:off x="548640" y="45720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1F7A5C"/>
                </a:solidFill>
                <a:latin typeface="Courier New"/>
                <a:ea typeface="Courier New"/>
                <a:cs typeface="Courier New"/>
              </a:rPr>
              <a:t>CAMERA INTEGRATION</a:t>
            </a:r>
            <a:endParaRPr sz="1100"/>
          </a:p>
        </p:txBody>
      </p:sp>
      <p:sp>
        <p:nvSpPr>
          <p:cNvPr id="3" name="Text 1">
            <a:extLst xmlns:a="http://schemas.openxmlformats.org/drawingml/2006/main">
              <a:ext uri="{FF2B5EF4-FFF2-40B4-BE49-F238E27FC236}">
                <a16:creationId xmlns:a16="http://schemas.microsoft.com/office/drawing/2014/main" id="{731D3D1B-B2F7-4E85-ADFA-608B82F2A18E}"/>
              </a:ext>
            </a:extLst>
          </p:cNvPr>
          <p:cNvSpPr>
            <a:spLocks xmlns:a="http://schemas.openxmlformats.org/drawingml/2006/main" noGrp="1"/>
          </p:cNvSpPr>
          <p:nvPr/>
        </p:nvSpPr>
        <p:spPr>
          <a:xfrm xmlns:a="http://schemas.openxmlformats.org/drawingml/2006/main">
            <a:off x="548640" y="749808"/>
            <a:ext cx="1078992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2600" b="1">
                <a:solidFill>
                  <a:srgbClr val="12242A"/>
                </a:solidFill>
                <a:latin typeface="Cambria"/>
                <a:ea typeface="Cambria"/>
                <a:cs typeface="Cambria"/>
              </a:rPr>
              <a:t>A standard adapter path onboards mixed camera estates</a:t>
            </a:r>
            <a:endParaRPr sz="2600"/>
          </a:p>
        </p:txBody>
      </p:sp>
      <p:sp>
        <p:nvSpPr>
          <p:cNvPr id="4" name="Text 2">
            <a:extLst xmlns:a="http://schemas.openxmlformats.org/drawingml/2006/main">
              <a:ext uri="{FF2B5EF4-FFF2-40B4-BE49-F238E27FC236}">
                <a16:creationId xmlns:a16="http://schemas.microsoft.com/office/drawing/2014/main" id="{FC449098-25D6-4D73-9687-1B87BF1C24DB}"/>
              </a:ext>
            </a:extLst>
          </p:cNvPr>
          <p:cNvSpPr>
            <a:spLocks xmlns:a="http://schemas.openxmlformats.org/drawingml/2006/main" noGrp="1"/>
          </p:cNvSpPr>
          <p:nvPr/>
        </p:nvSpPr>
        <p:spPr>
          <a:xfrm xmlns:a="http://schemas.openxmlformats.org/drawingml/2006/main">
            <a:off x="548640" y="1481328"/>
            <a:ext cx="106070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400">
                <a:solidFill>
                  <a:srgbClr val="6B7570"/>
                </a:solidFill>
                <a:latin typeface="Calibri"/>
                <a:ea typeface="Calibri"/>
                <a:cs typeface="Calibri"/>
              </a:rPr>
              <a:t>Sentinel supports catalogue sync, manual registration, CSV import and VMS/API connectors. Each source is validated before it receives a governed camera record.</a:t>
            </a:r>
            <a:endParaRPr sz="1400"/>
          </a:p>
        </p:txBody>
      </p:sp>
      <p:sp>
        <p:nvSpPr>
          <p:cNvPr id="5" name="Shape 3">
            <a:extLst xmlns:a="http://schemas.openxmlformats.org/drawingml/2006/main">
              <a:ext uri="{FF2B5EF4-FFF2-40B4-BE49-F238E27FC236}">
                <a16:creationId xmlns:a16="http://schemas.microsoft.com/office/drawing/2014/main" id="{61D47C16-020E-4AD0-9693-99CCC1375218}"/>
              </a:ext>
            </a:extLst>
          </p:cNvPr>
          <p:cNvSpPr>
            <a:spLocks xmlns:a="http://schemas.openxmlformats.org/drawingml/2006/main" noGrp="1"/>
          </p:cNvSpPr>
          <p:nvPr/>
        </p:nvSpPr>
        <p:spPr>
          <a:xfrm xmlns:a="http://schemas.openxmlformats.org/drawingml/2006/main">
            <a:off x="548640" y="2606040"/>
            <a:ext cx="2788920" cy="2880360"/>
          </a:xfrm>
          <a:prstGeom xmlns:a="http://schemas.openxmlformats.org/drawingml/2006/main" prst="roundRect">
            <a:avLst>
              <a:gd name="adj" fmla="val 3279"/>
            </a:avLst>
          </a:prstGeom>
          <a:solidFill xmlns:a="http://schemas.openxmlformats.org/drawingml/2006/main">
            <a:srgbClr val="F1F3F1"/>
          </a:solidFill>
          <a:ln xmlns:a="http://schemas.openxmlformats.org/drawingml/2006/main" w="12700">
            <a:solidFill>
              <a:srgbClr val="DADFDC"/>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6E418029-F5CC-476A-A456-93342BB44E2D}"/>
              </a:ext>
            </a:extLst>
          </p:cNvPr>
          <p:cNvSpPr>
            <a:spLocks xmlns:a="http://schemas.openxmlformats.org/drawingml/2006/main" noGrp="1"/>
          </p:cNvSpPr>
          <p:nvPr/>
        </p:nvSpPr>
        <p:spPr>
          <a:xfrm xmlns:a="http://schemas.openxmlformats.org/drawingml/2006/main">
            <a:off x="768096" y="2770632"/>
            <a:ext cx="457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F7A5C"/>
                </a:solidFill>
                <a:latin typeface="Courier New"/>
                <a:ea typeface="Courier New"/>
                <a:cs typeface="Courier New"/>
              </a:rPr>
              <a:t>1</a:t>
            </a:r>
            <a:endParaRPr sz="1300"/>
          </a:p>
        </p:txBody>
      </p:sp>
      <p:sp>
        <p:nvSpPr>
          <p:cNvPr id="7" name="Shape 5">
            <a:extLst xmlns:a="http://schemas.openxmlformats.org/drawingml/2006/main">
              <a:ext uri="{FF2B5EF4-FFF2-40B4-BE49-F238E27FC236}">
                <a16:creationId xmlns:a16="http://schemas.microsoft.com/office/drawing/2014/main" id="{0BC4C314-F3CA-4FE0-858B-C78E8EB034B7}"/>
              </a:ext>
            </a:extLst>
          </p:cNvPr>
          <p:cNvSpPr>
            <a:spLocks xmlns:a="http://schemas.openxmlformats.org/drawingml/2006/main" noGrp="1"/>
          </p:cNvSpPr>
          <p:nvPr/>
        </p:nvSpPr>
        <p:spPr>
          <a:xfrm xmlns:a="http://schemas.openxmlformats.org/drawingml/2006/main">
            <a:off x="1559052" y="3172968"/>
            <a:ext cx="768096" cy="768096"/>
          </a:xfrm>
          <a:prstGeom xmlns:a="http://schemas.openxmlformats.org/drawingml/2006/main" prst="ellipse">
            <a:avLst/>
          </a:prstGeom>
          <a:solidFill xmlns:a="http://schemas.openxmlformats.org/drawingml/2006/main">
            <a:srgbClr val="FFFFFF"/>
          </a:solidFill>
          <a:ln xmlns:a="http://schemas.openxmlformats.org/drawingml/2006/main" w="12700">
            <a:solidFill>
              <a:srgbClr val="DADFDC"/>
            </a:solidFill>
            <a:prstDash val="solid"/>
          </a:ln>
        </p:spPr>
        <p:txBody>
          <a:bodyPr xmlns:a="http://schemas.openxmlformats.org/drawingml/2006/main"/>
          <a:lstStyle xmlns:a="http://schemas.openxmlformats.org/drawingml/2006/main"/>
          <a:p xmlns:a="http://schemas.openxmlformats.org/drawingml/2006/main">
            <a:endParaRPr/>
          </a:p>
        </p:txBody>
      </p:sp>
      <p:pic>
        <p:nvPicPr>
          <p:cNvPr id="36" name="Image 0"/>
          <p:cNvPicPr>
            <a:picLocks xmlns:a="http://schemas.openxmlformats.org/drawingml/2006/main" noChangeAspect="1"/>
          </p:cNvPicPr>
          <p:nvPr/>
        </p:nvPicPr>
        <p:blipFill>
          <a:blip xmlns:r="http://schemas.openxmlformats.org/officeDocument/2006/relationships" xmlns:a="http://schemas.openxmlformats.org/drawingml/2006/main" r:embed="R432d514a40174706"/>
          <a:stretch xmlns:a="http://schemas.openxmlformats.org/drawingml/2006/main">
            <a:fillRect l="0" t="0" r="0" b="0"/>
          </a:stretch>
        </p:blipFill>
        <p:spPr>
          <a:xfrm xmlns:a="http://schemas.openxmlformats.org/drawingml/2006/main">
            <a:off x="1743395" y="3357311"/>
            <a:ext cx="399410" cy="39941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21C44F09-A07B-43E8-91C8-269D6A5B8003}"/>
              </a:ext>
            </a:extLst>
          </p:cNvPr>
          <p:cNvSpPr>
            <a:spLocks xmlns:a="http://schemas.openxmlformats.org/drawingml/2006/main" noGrp="1"/>
          </p:cNvSpPr>
          <p:nvPr/>
        </p:nvSpPr>
        <p:spPr>
          <a:xfrm xmlns:a="http://schemas.openxmlformats.org/drawingml/2006/main">
            <a:off x="731520" y="4123944"/>
            <a:ext cx="2423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12242A"/>
                </a:solidFill>
                <a:latin typeface="Cambria"/>
                <a:ea typeface="Cambria"/>
                <a:cs typeface="Cambria"/>
              </a:rPr>
              <a:t>Discover</a:t>
            </a:r>
            <a:endParaRPr sz="1600"/>
          </a:p>
        </p:txBody>
      </p:sp>
      <p:sp>
        <p:nvSpPr>
          <p:cNvPr id="10" name="Text 7">
            <a:extLst xmlns:a="http://schemas.openxmlformats.org/drawingml/2006/main">
              <a:ext uri="{FF2B5EF4-FFF2-40B4-BE49-F238E27FC236}">
                <a16:creationId xmlns:a16="http://schemas.microsoft.com/office/drawing/2014/main" id="{92DC1B26-AAE4-418E-B472-6C4A4BBB9DCC}"/>
              </a:ext>
            </a:extLst>
          </p:cNvPr>
          <p:cNvSpPr>
            <a:spLocks xmlns:a="http://schemas.openxmlformats.org/drawingml/2006/main" noGrp="1"/>
          </p:cNvSpPr>
          <p:nvPr/>
        </p:nvSpPr>
        <p:spPr>
          <a:xfrm xmlns:a="http://schemas.openxmlformats.org/drawingml/2006/main">
            <a:off x="804672" y="4526280"/>
            <a:ext cx="2276856"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30000"/>
              </a:lnSpc>
              <a:buNone/>
            </a:pPr>
            <a:r>
              <a:rPr sz="1200">
                <a:solidFill>
                  <a:srgbClr val="3A4744"/>
                </a:solidFill>
                <a:latin typeface="Calibri"/>
                <a:ea typeface="Calibri"/>
                <a:cs typeface="Calibri"/>
              </a:rPr>
              <a:t>Import department, location, vendor, NVR/VMS and endpoint metadata.</a:t>
            </a:r>
            <a:endParaRPr sz="1200"/>
          </a:p>
        </p:txBody>
      </p:sp>
      <p:sp>
        <p:nvSpPr>
          <p:cNvPr id="11" name="Shape 8">
            <a:extLst xmlns:a="http://schemas.openxmlformats.org/drawingml/2006/main">
              <a:ext uri="{FF2B5EF4-FFF2-40B4-BE49-F238E27FC236}">
                <a16:creationId xmlns:a16="http://schemas.microsoft.com/office/drawing/2014/main" id="{868FDB60-8FAA-4351-A8DC-DCE823E464E7}"/>
              </a:ext>
            </a:extLst>
          </p:cNvPr>
          <p:cNvSpPr>
            <a:spLocks xmlns:a="http://schemas.openxmlformats.org/drawingml/2006/main" noGrp="1"/>
          </p:cNvSpPr>
          <p:nvPr/>
        </p:nvSpPr>
        <p:spPr>
          <a:xfrm xmlns:a="http://schemas.openxmlformats.org/drawingml/2006/main">
            <a:off x="3337560" y="2935224"/>
            <a:ext cx="1217524" cy="109728"/>
          </a:xfrm>
          <a:prstGeom xmlns:a="http://schemas.openxmlformats.org/drawingml/2006/main" prst="rightArrow">
            <a:avLst/>
          </a:prstGeom>
          <a:solidFill xmlns:a="http://schemas.openxmlformats.org/drawingml/2006/main">
            <a:srgbClr val="1F7A5C"/>
          </a:solidFill>
        </p:spPr>
        <p:txBody>
          <a:bodyPr xmlns:a="http://schemas.openxmlformats.org/drawingml/2006/main"/>
          <a:lstStyle xmlns:a="http://schemas.openxmlformats.org/drawingml/2006/main"/>
          <a:p xmlns:a="http://schemas.openxmlformats.org/drawingml/2006/main">
            <a:endParaRPr/>
          </a:p>
        </p:txBody>
      </p:sp>
      <p:sp>
        <p:nvSpPr>
          <p:cNvPr id="12" name="Shape 9">
            <a:extLst xmlns:a="http://schemas.openxmlformats.org/drawingml/2006/main">
              <a:ext uri="{FF2B5EF4-FFF2-40B4-BE49-F238E27FC236}">
                <a16:creationId xmlns:a16="http://schemas.microsoft.com/office/drawing/2014/main" id="{7D8AA056-750F-4878-9044-B1B5DDC87F79}"/>
              </a:ext>
            </a:extLst>
          </p:cNvPr>
          <p:cNvSpPr>
            <a:spLocks xmlns:a="http://schemas.openxmlformats.org/drawingml/2006/main" noGrp="1"/>
          </p:cNvSpPr>
          <p:nvPr/>
        </p:nvSpPr>
        <p:spPr>
          <a:xfrm xmlns:a="http://schemas.openxmlformats.org/drawingml/2006/main">
            <a:off x="4701388" y="2606040"/>
            <a:ext cx="2788920" cy="2880360"/>
          </a:xfrm>
          <a:prstGeom xmlns:a="http://schemas.openxmlformats.org/drawingml/2006/main" prst="roundRect">
            <a:avLst>
              <a:gd name="adj" fmla="val 3279"/>
            </a:avLst>
          </a:prstGeom>
          <a:solidFill xmlns:a="http://schemas.openxmlformats.org/drawingml/2006/main">
            <a:srgbClr val="F1F3F1"/>
          </a:solidFill>
          <a:ln xmlns:a="http://schemas.openxmlformats.org/drawingml/2006/main" w="12700">
            <a:solidFill>
              <a:srgbClr val="DADFDC"/>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0">
            <a:extLst xmlns:a="http://schemas.openxmlformats.org/drawingml/2006/main">
              <a:ext uri="{FF2B5EF4-FFF2-40B4-BE49-F238E27FC236}">
                <a16:creationId xmlns:a16="http://schemas.microsoft.com/office/drawing/2014/main" id="{CAF73F62-FE74-490C-8526-3750B41CEF5F}"/>
              </a:ext>
            </a:extLst>
          </p:cNvPr>
          <p:cNvSpPr>
            <a:spLocks xmlns:a="http://schemas.openxmlformats.org/drawingml/2006/main" noGrp="1"/>
          </p:cNvSpPr>
          <p:nvPr/>
        </p:nvSpPr>
        <p:spPr>
          <a:xfrm xmlns:a="http://schemas.openxmlformats.org/drawingml/2006/main">
            <a:off x="4920844" y="2770632"/>
            <a:ext cx="457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F7A5C"/>
                </a:solidFill>
                <a:latin typeface="Courier New"/>
                <a:ea typeface="Courier New"/>
                <a:cs typeface="Courier New"/>
              </a:rPr>
              <a:t>2</a:t>
            </a:r>
            <a:endParaRPr sz="1300"/>
          </a:p>
        </p:txBody>
      </p:sp>
      <p:sp>
        <p:nvSpPr>
          <p:cNvPr id="14" name="Shape 11">
            <a:extLst xmlns:a="http://schemas.openxmlformats.org/drawingml/2006/main">
              <a:ext uri="{FF2B5EF4-FFF2-40B4-BE49-F238E27FC236}">
                <a16:creationId xmlns:a16="http://schemas.microsoft.com/office/drawing/2014/main" id="{BB090404-FB14-477D-B4DE-B82D8B2D05C1}"/>
              </a:ext>
            </a:extLst>
          </p:cNvPr>
          <p:cNvSpPr>
            <a:spLocks xmlns:a="http://schemas.openxmlformats.org/drawingml/2006/main" noGrp="1"/>
          </p:cNvSpPr>
          <p:nvPr/>
        </p:nvSpPr>
        <p:spPr>
          <a:xfrm xmlns:a="http://schemas.openxmlformats.org/drawingml/2006/main">
            <a:off x="5711800" y="3172968"/>
            <a:ext cx="768096" cy="768096"/>
          </a:xfrm>
          <a:prstGeom xmlns:a="http://schemas.openxmlformats.org/drawingml/2006/main" prst="ellipse">
            <a:avLst/>
          </a:prstGeom>
          <a:solidFill xmlns:a="http://schemas.openxmlformats.org/drawingml/2006/main">
            <a:srgbClr val="FFFFFF"/>
          </a:solidFill>
          <a:ln xmlns:a="http://schemas.openxmlformats.org/drawingml/2006/main" w="12700">
            <a:solidFill>
              <a:srgbClr val="DADFDC"/>
            </a:solidFill>
            <a:prstDash val="solid"/>
          </a:ln>
        </p:spPr>
        <p:txBody>
          <a:bodyPr xmlns:a="http://schemas.openxmlformats.org/drawingml/2006/main"/>
          <a:lstStyle xmlns:a="http://schemas.openxmlformats.org/drawingml/2006/main"/>
          <a:p xmlns:a="http://schemas.openxmlformats.org/drawingml/2006/main">
            <a:endParaRPr/>
          </a:p>
        </p:txBody>
      </p:sp>
      <p:pic>
        <p:nvPicPr>
          <p:cNvPr id="43" name="Image 1"/>
          <p:cNvPicPr>
            <a:picLocks xmlns:a="http://schemas.openxmlformats.org/drawingml/2006/main" noChangeAspect="1"/>
          </p:cNvPicPr>
          <p:nvPr/>
        </p:nvPicPr>
        <p:blipFill>
          <a:blip xmlns:r="http://schemas.openxmlformats.org/officeDocument/2006/relationships" xmlns:a="http://schemas.openxmlformats.org/drawingml/2006/main" r:embed="R6eb5cc3c3f7943cd"/>
          <a:stretch xmlns:a="http://schemas.openxmlformats.org/drawingml/2006/main">
            <a:fillRect l="0" t="0" r="0" b="0"/>
          </a:stretch>
        </p:blipFill>
        <p:spPr>
          <a:xfrm xmlns:a="http://schemas.openxmlformats.org/drawingml/2006/main">
            <a:off x="5896143" y="3357311"/>
            <a:ext cx="399410" cy="399410"/>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D04CFA3C-4CFE-43AB-95B6-55F0F72FC314}"/>
              </a:ext>
            </a:extLst>
          </p:cNvPr>
          <p:cNvSpPr>
            <a:spLocks xmlns:a="http://schemas.openxmlformats.org/drawingml/2006/main" noGrp="1"/>
          </p:cNvSpPr>
          <p:nvPr/>
        </p:nvSpPr>
        <p:spPr>
          <a:xfrm xmlns:a="http://schemas.openxmlformats.org/drawingml/2006/main">
            <a:off x="4884268" y="4123944"/>
            <a:ext cx="2423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12242A"/>
                </a:solidFill>
                <a:latin typeface="Cambria"/>
                <a:ea typeface="Cambria"/>
                <a:cs typeface="Cambria"/>
              </a:rPr>
              <a:t>Validate</a:t>
            </a:r>
            <a:endParaRPr sz="1600"/>
          </a:p>
        </p:txBody>
      </p:sp>
      <p:sp>
        <p:nvSpPr>
          <p:cNvPr id="17" name="Text 13">
            <a:extLst xmlns:a="http://schemas.openxmlformats.org/drawingml/2006/main">
              <a:ext uri="{FF2B5EF4-FFF2-40B4-BE49-F238E27FC236}">
                <a16:creationId xmlns:a16="http://schemas.microsoft.com/office/drawing/2014/main" id="{30B337D5-FD3E-473E-BED7-1B2B16AE0B57}"/>
              </a:ext>
            </a:extLst>
          </p:cNvPr>
          <p:cNvSpPr>
            <a:spLocks xmlns:a="http://schemas.openxmlformats.org/drawingml/2006/main" noGrp="1"/>
          </p:cNvSpPr>
          <p:nvPr/>
        </p:nvSpPr>
        <p:spPr>
          <a:xfrm xmlns:a="http://schemas.openxmlformats.org/drawingml/2006/main">
            <a:off x="4957420" y="4526280"/>
            <a:ext cx="2276856"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30000"/>
              </a:lnSpc>
              <a:buNone/>
            </a:pPr>
            <a:r>
              <a:rPr sz="1200">
                <a:solidFill>
                  <a:srgbClr val="3A4744"/>
                </a:solidFill>
                <a:latin typeface="Calibri"/>
                <a:ea typeface="Calibri"/>
                <a:cs typeface="Calibri"/>
              </a:rPr>
              <a:t>Probe ONVIF, RTSP/TCP, HLS or vendor APIs; record codec, time and health.</a:t>
            </a:r>
            <a:endParaRPr sz="1200"/>
          </a:p>
        </p:txBody>
      </p:sp>
      <p:sp>
        <p:nvSpPr>
          <p:cNvPr id="18" name="Shape 14">
            <a:extLst xmlns:a="http://schemas.openxmlformats.org/drawingml/2006/main">
              <a:ext uri="{FF2B5EF4-FFF2-40B4-BE49-F238E27FC236}">
                <a16:creationId xmlns:a16="http://schemas.microsoft.com/office/drawing/2014/main" id="{8633C85B-9414-4CE5-9339-23E39CF87FB2}"/>
              </a:ext>
            </a:extLst>
          </p:cNvPr>
          <p:cNvSpPr>
            <a:spLocks xmlns:a="http://schemas.openxmlformats.org/drawingml/2006/main" noGrp="1"/>
          </p:cNvSpPr>
          <p:nvPr/>
        </p:nvSpPr>
        <p:spPr>
          <a:xfrm xmlns:a="http://schemas.openxmlformats.org/drawingml/2006/main">
            <a:off x="7490308" y="2935224"/>
            <a:ext cx="1217524" cy="109728"/>
          </a:xfrm>
          <a:prstGeom xmlns:a="http://schemas.openxmlformats.org/drawingml/2006/main" prst="rightArrow">
            <a:avLst/>
          </a:prstGeom>
          <a:solidFill xmlns:a="http://schemas.openxmlformats.org/drawingml/2006/main">
            <a:srgbClr val="1F7A5C"/>
          </a:solidFill>
        </p:spPr>
        <p:txBody>
          <a:bodyPr xmlns:a="http://schemas.openxmlformats.org/drawingml/2006/main"/>
          <a:lstStyle xmlns:a="http://schemas.openxmlformats.org/drawingml/2006/main"/>
          <a:p xmlns:a="http://schemas.openxmlformats.org/drawingml/2006/main">
            <a:endParaRPr/>
          </a:p>
        </p:txBody>
      </p:sp>
      <p:sp>
        <p:nvSpPr>
          <p:cNvPr id="19" name="Shape 15">
            <a:extLst xmlns:a="http://schemas.openxmlformats.org/drawingml/2006/main">
              <a:ext uri="{FF2B5EF4-FFF2-40B4-BE49-F238E27FC236}">
                <a16:creationId xmlns:a16="http://schemas.microsoft.com/office/drawing/2014/main" id="{ECB2B696-FA92-4B54-807E-720004C1CE4D}"/>
              </a:ext>
            </a:extLst>
          </p:cNvPr>
          <p:cNvSpPr>
            <a:spLocks xmlns:a="http://schemas.openxmlformats.org/drawingml/2006/main" noGrp="1"/>
          </p:cNvSpPr>
          <p:nvPr/>
        </p:nvSpPr>
        <p:spPr>
          <a:xfrm xmlns:a="http://schemas.openxmlformats.org/drawingml/2006/main">
            <a:off x="8854135" y="2606040"/>
            <a:ext cx="2788920" cy="2880360"/>
          </a:xfrm>
          <a:prstGeom xmlns:a="http://schemas.openxmlformats.org/drawingml/2006/main" prst="roundRect">
            <a:avLst>
              <a:gd name="adj" fmla="val 3279"/>
            </a:avLst>
          </a:prstGeom>
          <a:solidFill xmlns:a="http://schemas.openxmlformats.org/drawingml/2006/main">
            <a:srgbClr val="F1F3F1"/>
          </a:solidFill>
          <a:ln xmlns:a="http://schemas.openxmlformats.org/drawingml/2006/main" w="12700">
            <a:solidFill>
              <a:srgbClr val="DADFDC"/>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6">
            <a:extLst xmlns:a="http://schemas.openxmlformats.org/drawingml/2006/main">
              <a:ext uri="{FF2B5EF4-FFF2-40B4-BE49-F238E27FC236}">
                <a16:creationId xmlns:a16="http://schemas.microsoft.com/office/drawing/2014/main" id="{BD9CB751-6043-4E3B-AB95-7B747CE1850B}"/>
              </a:ext>
            </a:extLst>
          </p:cNvPr>
          <p:cNvSpPr>
            <a:spLocks xmlns:a="http://schemas.openxmlformats.org/drawingml/2006/main" noGrp="1"/>
          </p:cNvSpPr>
          <p:nvPr/>
        </p:nvSpPr>
        <p:spPr>
          <a:xfrm xmlns:a="http://schemas.openxmlformats.org/drawingml/2006/main">
            <a:off x="9073591" y="2770632"/>
            <a:ext cx="457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F7A5C"/>
                </a:solidFill>
                <a:latin typeface="Courier New"/>
                <a:ea typeface="Courier New"/>
                <a:cs typeface="Courier New"/>
              </a:rPr>
              <a:t>3</a:t>
            </a:r>
            <a:endParaRPr sz="1300"/>
          </a:p>
        </p:txBody>
      </p:sp>
      <p:sp>
        <p:nvSpPr>
          <p:cNvPr id="21" name="Shape 17">
            <a:extLst xmlns:a="http://schemas.openxmlformats.org/drawingml/2006/main">
              <a:ext uri="{FF2B5EF4-FFF2-40B4-BE49-F238E27FC236}">
                <a16:creationId xmlns:a16="http://schemas.microsoft.com/office/drawing/2014/main" id="{1C1366E8-C98A-4715-90E1-D01A67929B51}"/>
              </a:ext>
            </a:extLst>
          </p:cNvPr>
          <p:cNvSpPr>
            <a:spLocks xmlns:a="http://schemas.openxmlformats.org/drawingml/2006/main" noGrp="1"/>
          </p:cNvSpPr>
          <p:nvPr/>
        </p:nvSpPr>
        <p:spPr>
          <a:xfrm xmlns:a="http://schemas.openxmlformats.org/drawingml/2006/main">
            <a:off x="9864547" y="3172968"/>
            <a:ext cx="768096" cy="768096"/>
          </a:xfrm>
          <a:prstGeom xmlns:a="http://schemas.openxmlformats.org/drawingml/2006/main" prst="ellipse">
            <a:avLst/>
          </a:prstGeom>
          <a:solidFill xmlns:a="http://schemas.openxmlformats.org/drawingml/2006/main">
            <a:srgbClr val="FFFFFF"/>
          </a:solidFill>
          <a:ln xmlns:a="http://schemas.openxmlformats.org/drawingml/2006/main" w="12700">
            <a:solidFill>
              <a:srgbClr val="DADFDC"/>
            </a:solidFill>
            <a:prstDash val="solid"/>
          </a:ln>
        </p:spPr>
        <p:txBody>
          <a:bodyPr xmlns:a="http://schemas.openxmlformats.org/drawingml/2006/main"/>
          <a:lstStyle xmlns:a="http://schemas.openxmlformats.org/drawingml/2006/main"/>
          <a:p xmlns:a="http://schemas.openxmlformats.org/drawingml/2006/main">
            <a:endParaRPr/>
          </a:p>
        </p:txBody>
      </p:sp>
      <p:pic>
        <p:nvPicPr>
          <p:cNvPr id="50" name="Image 2"/>
          <p:cNvPicPr>
            <a:picLocks xmlns:a="http://schemas.openxmlformats.org/drawingml/2006/main" noChangeAspect="1"/>
          </p:cNvPicPr>
          <p:nvPr/>
        </p:nvPicPr>
        <p:blipFill>
          <a:blip xmlns:r="http://schemas.openxmlformats.org/officeDocument/2006/relationships" xmlns:a="http://schemas.openxmlformats.org/drawingml/2006/main" r:embed="R7d7f802da7c646b3"/>
          <a:stretch xmlns:a="http://schemas.openxmlformats.org/drawingml/2006/main">
            <a:fillRect l="0" t="0" r="0" b="0"/>
          </a:stretch>
        </p:blipFill>
        <p:spPr>
          <a:xfrm xmlns:a="http://schemas.openxmlformats.org/drawingml/2006/main">
            <a:off x="10048890" y="3357311"/>
            <a:ext cx="399410" cy="399410"/>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4A7DC984-C285-40A3-8266-D12BD2E09DD1}"/>
              </a:ext>
            </a:extLst>
          </p:cNvPr>
          <p:cNvSpPr>
            <a:spLocks xmlns:a="http://schemas.openxmlformats.org/drawingml/2006/main" noGrp="1"/>
          </p:cNvSpPr>
          <p:nvPr/>
        </p:nvSpPr>
        <p:spPr>
          <a:xfrm xmlns:a="http://schemas.openxmlformats.org/drawingml/2006/main">
            <a:off x="9037015" y="4123944"/>
            <a:ext cx="2423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12242A"/>
                </a:solidFill>
                <a:latin typeface="Cambria"/>
                <a:ea typeface="Cambria"/>
                <a:cs typeface="Cambria"/>
              </a:rPr>
              <a:t>Govern</a:t>
            </a:r>
            <a:endParaRPr sz="1600"/>
          </a:p>
        </p:txBody>
      </p:sp>
      <p:sp>
        <p:nvSpPr>
          <p:cNvPr id="24" name="Text 19">
            <a:extLst xmlns:a="http://schemas.openxmlformats.org/drawingml/2006/main">
              <a:ext uri="{FF2B5EF4-FFF2-40B4-BE49-F238E27FC236}">
                <a16:creationId xmlns:a16="http://schemas.microsoft.com/office/drawing/2014/main" id="{7CB87744-3DC2-4127-BE66-AC620E8D94A5}"/>
              </a:ext>
            </a:extLst>
          </p:cNvPr>
          <p:cNvSpPr>
            <a:spLocks xmlns:a="http://schemas.openxmlformats.org/drawingml/2006/main" noGrp="1"/>
          </p:cNvSpPr>
          <p:nvPr/>
        </p:nvSpPr>
        <p:spPr>
          <a:xfrm xmlns:a="http://schemas.openxmlformats.org/drawingml/2006/main">
            <a:off x="9110167" y="4526280"/>
            <a:ext cx="2276856"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30000"/>
              </a:lnSpc>
              <a:buNone/>
            </a:pPr>
            <a:r>
              <a:rPr sz="1200">
                <a:solidFill>
                  <a:srgbClr val="3A4744"/>
                </a:solidFill>
                <a:latin typeface="Calibri"/>
                <a:ea typeface="Calibri"/>
                <a:cs typeface="Calibri"/>
              </a:rPr>
              <a:t>Create stable identity, GIS location, department scope, policy and analytics profile.</a:t>
            </a:r>
            <a:endParaRPr sz="1200"/>
          </a:p>
        </p:txBody>
      </p:sp>
      <p:sp>
        <p:nvSpPr>
          <p:cNvPr id="25" name="Text 20">
            <a:extLst xmlns:a="http://schemas.openxmlformats.org/drawingml/2006/main">
              <a:ext uri="{FF2B5EF4-FFF2-40B4-BE49-F238E27FC236}">
                <a16:creationId xmlns:a16="http://schemas.microsoft.com/office/drawing/2014/main" id="{3DDE93EC-C361-4BC8-AC2D-1DD6DC6AFFF2}"/>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150">
                <a:solidFill>
                  <a:srgbClr val="6B7570"/>
                </a:solidFill>
                <a:latin typeface="Courier New"/>
                <a:ea typeface="Courier New"/>
                <a:cs typeface="Courier New"/>
              </a:rPr>
              <a:t>SENTINEL GUJARAT</a:t>
            </a:r>
            <a:endParaRPr sz="900"/>
          </a:p>
        </p:txBody>
      </p:sp>
      <p:sp>
        <p:nvSpPr>
          <p:cNvPr id="26" name="Text 21">
            <a:extLst xmlns:a="http://schemas.openxmlformats.org/drawingml/2006/main">
              <a:ext uri="{FF2B5EF4-FFF2-40B4-BE49-F238E27FC236}">
                <a16:creationId xmlns:a16="http://schemas.microsoft.com/office/drawing/2014/main" id="{BA9D0090-78AB-4E18-8642-CDA04E9A5CA2}"/>
              </a:ext>
            </a:extLst>
          </p:cNvPr>
          <p:cNvSpPr>
            <a:spLocks xmlns:a="http://schemas.openxmlformats.org/drawingml/2006/main" noGrp="1"/>
          </p:cNvSpPr>
          <p:nvPr/>
        </p:nvSpPr>
        <p:spPr>
          <a:xfrm xmlns:a="http://schemas.openxmlformats.org/drawingml/2006/main">
            <a:off x="10728655" y="6473952"/>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570"/>
                </a:solidFill>
                <a:latin typeface="Courier New"/>
                <a:ea typeface="Courier New"/>
                <a:cs typeface="Courier New"/>
              </a:rPr>
              <a:t>07</a:t>
            </a:r>
            <a:endParaRPr sz="900"/>
          </a:p>
        </p:txBody>
      </p:sp>
    </p:spTree>
    <p:extLst>
      <p:ext uri="{BB962C8B-B14F-4D97-AF65-F5344CB8AC3E}">
        <p14:creationId xmlns:p14="http://schemas.microsoft.com/office/powerpoint/2010/main" val="157742409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137171A-2439-4D71-9533-4A6D142B8BB2}"/>
              </a:ext>
            </a:extLst>
          </p:cNvPr>
          <p:cNvSpPr>
            <a:spLocks xmlns:a="http://schemas.openxmlformats.org/drawingml/2006/main" noGrp="1"/>
          </p:cNvSpPr>
          <p:nvPr/>
        </p:nvSpPr>
        <p:spPr>
          <a:xfrm xmlns:a="http://schemas.openxmlformats.org/drawingml/2006/main">
            <a:off x="548640" y="45720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1F7A5C"/>
                </a:solidFill>
                <a:latin typeface="Courier New"/>
                <a:ea typeface="Courier New"/>
                <a:cs typeface="Courier New"/>
              </a:rPr>
              <a:t>AI ANALYTICS + DATA FLOW</a:t>
            </a:r>
            <a:endParaRPr sz="1100"/>
          </a:p>
        </p:txBody>
      </p:sp>
      <p:sp>
        <p:nvSpPr>
          <p:cNvPr id="3" name="Text 1">
            <a:extLst xmlns:a="http://schemas.openxmlformats.org/drawingml/2006/main">
              <a:ext uri="{FF2B5EF4-FFF2-40B4-BE49-F238E27FC236}">
                <a16:creationId xmlns:a16="http://schemas.microsoft.com/office/drawing/2014/main" id="{1FCC5B27-3D01-4F59-A8DC-1164BCE6872C}"/>
              </a:ext>
            </a:extLst>
          </p:cNvPr>
          <p:cNvSpPr>
            <a:spLocks xmlns:a="http://schemas.openxmlformats.org/drawingml/2006/main" noGrp="1"/>
          </p:cNvSpPr>
          <p:nvPr/>
        </p:nvSpPr>
        <p:spPr>
          <a:xfrm xmlns:a="http://schemas.openxmlformats.org/drawingml/2006/main">
            <a:off x="548640" y="749808"/>
            <a:ext cx="10881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2200" b="1">
                <a:solidFill>
                  <a:srgbClr val="12242A"/>
                </a:solidFill>
                <a:latin typeface="Cambria"/>
                <a:ea typeface="Cambria"/>
                <a:cs typeface="Cambria"/>
              </a:rPr>
              <a:t>Each live feed becomes a governed observation before it can alert</a:t>
            </a:r>
            <a:endParaRPr sz="2200"/>
          </a:p>
        </p:txBody>
      </p:sp>
      <p:sp>
        <p:nvSpPr>
          <p:cNvPr id="4" name="Shape 2">
            <a:extLst xmlns:a="http://schemas.openxmlformats.org/drawingml/2006/main">
              <a:ext uri="{FF2B5EF4-FFF2-40B4-BE49-F238E27FC236}">
                <a16:creationId xmlns:a16="http://schemas.microsoft.com/office/drawing/2014/main" id="{88FC5B34-CE81-4160-9CC9-0445CDCE3C2C}"/>
              </a:ext>
            </a:extLst>
          </p:cNvPr>
          <p:cNvSpPr>
            <a:spLocks xmlns:a="http://schemas.openxmlformats.org/drawingml/2006/main" noGrp="1"/>
          </p:cNvSpPr>
          <p:nvPr/>
        </p:nvSpPr>
        <p:spPr>
          <a:xfrm xmlns:a="http://schemas.openxmlformats.org/drawingml/2006/main">
            <a:off x="548640" y="2331720"/>
            <a:ext cx="1572768" cy="2148840"/>
          </a:xfrm>
          <a:prstGeom xmlns:a="http://schemas.openxmlformats.org/drawingml/2006/main" prst="roundRect">
            <a:avLst>
              <a:gd name="adj" fmla="val 5233"/>
            </a:avLst>
          </a:prstGeom>
          <a:solidFill xmlns:a="http://schemas.openxmlformats.org/drawingml/2006/main">
            <a:srgbClr val="F1F3F1"/>
          </a:solidFill>
          <a:ln xmlns:a="http://schemas.openxmlformats.org/drawingml/2006/main" w="12700">
            <a:solidFill>
              <a:srgbClr val="DADFDC"/>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E6C38403-4D18-4F5E-8917-8FFE187E9CAF}"/>
              </a:ext>
            </a:extLst>
          </p:cNvPr>
          <p:cNvSpPr>
            <a:spLocks xmlns:a="http://schemas.openxmlformats.org/drawingml/2006/main" noGrp="1"/>
          </p:cNvSpPr>
          <p:nvPr/>
        </p:nvSpPr>
        <p:spPr>
          <a:xfrm xmlns:a="http://schemas.openxmlformats.org/drawingml/2006/main">
            <a:off x="694944" y="2478024"/>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F7A5C"/>
                </a:solidFill>
                <a:latin typeface="Courier New"/>
                <a:ea typeface="Courier New"/>
                <a:cs typeface="Courier New"/>
              </a:rPr>
              <a:t>01</a:t>
            </a:r>
            <a:endParaRPr sz="1200"/>
          </a:p>
        </p:txBody>
      </p:sp>
      <p:sp>
        <p:nvSpPr>
          <p:cNvPr id="6" name="Text 4">
            <a:extLst xmlns:a="http://schemas.openxmlformats.org/drawingml/2006/main">
              <a:ext uri="{FF2B5EF4-FFF2-40B4-BE49-F238E27FC236}">
                <a16:creationId xmlns:a16="http://schemas.microsoft.com/office/drawing/2014/main" id="{C939989B-6C95-44E2-8B34-C781B8D8DB17}"/>
              </a:ext>
            </a:extLst>
          </p:cNvPr>
          <p:cNvSpPr>
            <a:spLocks xmlns:a="http://schemas.openxmlformats.org/drawingml/2006/main" noGrp="1"/>
          </p:cNvSpPr>
          <p:nvPr/>
        </p:nvSpPr>
        <p:spPr>
          <a:xfrm xmlns:a="http://schemas.openxmlformats.org/drawingml/2006/main">
            <a:off x="694944" y="2843784"/>
            <a:ext cx="128016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450" b="1">
                <a:solidFill>
                  <a:srgbClr val="12242A"/>
                </a:solidFill>
                <a:latin typeface="Cambria"/>
                <a:ea typeface="Cambria"/>
                <a:cs typeface="Cambria"/>
              </a:rPr>
              <a:t>Connect</a:t>
            </a:r>
            <a:endParaRPr sz="1450"/>
          </a:p>
        </p:txBody>
      </p:sp>
      <p:sp>
        <p:nvSpPr>
          <p:cNvPr id="7" name="Text 5">
            <a:extLst xmlns:a="http://schemas.openxmlformats.org/drawingml/2006/main">
              <a:ext uri="{FF2B5EF4-FFF2-40B4-BE49-F238E27FC236}">
                <a16:creationId xmlns:a16="http://schemas.microsoft.com/office/drawing/2014/main" id="{4E6CBF0C-58C8-4045-AFA6-D9A350523258}"/>
              </a:ext>
            </a:extLst>
          </p:cNvPr>
          <p:cNvSpPr>
            <a:spLocks xmlns:a="http://schemas.openxmlformats.org/drawingml/2006/main" noGrp="1"/>
          </p:cNvSpPr>
          <p:nvPr/>
        </p:nvSpPr>
        <p:spPr>
          <a:xfrm xmlns:a="http://schemas.openxmlformats.org/drawingml/2006/main">
            <a:off x="694944" y="4023360"/>
            <a:ext cx="1280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6B7570"/>
                </a:solidFill>
                <a:latin typeface="Courier New"/>
                <a:ea typeface="Courier New"/>
                <a:cs typeface="Courier New"/>
              </a:rPr>
              <a:t>RTSP · HLS · VMS</a:t>
            </a:r>
            <a:endParaRPr sz="1050"/>
          </a:p>
        </p:txBody>
      </p:sp>
      <p:sp>
        <p:nvSpPr>
          <p:cNvPr id="8" name="Shape 6">
            <a:extLst xmlns:a="http://schemas.openxmlformats.org/drawingml/2006/main">
              <a:ext uri="{FF2B5EF4-FFF2-40B4-BE49-F238E27FC236}">
                <a16:creationId xmlns:a16="http://schemas.microsoft.com/office/drawing/2014/main" id="{0D0AF6D4-5B24-4B94-989C-57ACAFD89C84}"/>
              </a:ext>
            </a:extLst>
          </p:cNvPr>
          <p:cNvSpPr>
            <a:spLocks xmlns:a="http://schemas.openxmlformats.org/drawingml/2006/main" noGrp="1"/>
          </p:cNvSpPr>
          <p:nvPr/>
        </p:nvSpPr>
        <p:spPr>
          <a:xfrm xmlns:a="http://schemas.openxmlformats.org/drawingml/2006/main">
            <a:off x="2121408" y="3351276"/>
            <a:ext cx="240121" cy="109728"/>
          </a:xfrm>
          <a:prstGeom xmlns:a="http://schemas.openxmlformats.org/drawingml/2006/main" prst="rightArrow">
            <a:avLst/>
          </a:prstGeom>
          <a:solidFill xmlns:a="http://schemas.openxmlformats.org/drawingml/2006/main">
            <a:srgbClr val="DADFDC"/>
          </a:solidFill>
        </p:spPr>
        <p:txBody>
          <a:bodyPr xmlns:a="http://schemas.openxmlformats.org/drawingml/2006/main"/>
          <a:lstStyle xmlns:a="http://schemas.openxmlformats.org/drawingml/2006/main"/>
          <a:p xmlns:a="http://schemas.openxmlformats.org/drawingml/2006/main">
            <a:endParaRPr/>
          </a:p>
        </p:txBody>
      </p:sp>
      <p:sp>
        <p:nvSpPr>
          <p:cNvPr id="9" name="Shape 7">
            <a:extLst xmlns:a="http://schemas.openxmlformats.org/drawingml/2006/main">
              <a:ext uri="{FF2B5EF4-FFF2-40B4-BE49-F238E27FC236}">
                <a16:creationId xmlns:a16="http://schemas.microsoft.com/office/drawing/2014/main" id="{4C88B8A6-9AA3-4C9B-AF31-504C14A69148}"/>
              </a:ext>
            </a:extLst>
          </p:cNvPr>
          <p:cNvSpPr>
            <a:spLocks xmlns:a="http://schemas.openxmlformats.org/drawingml/2006/main" noGrp="1"/>
          </p:cNvSpPr>
          <p:nvPr/>
        </p:nvSpPr>
        <p:spPr>
          <a:xfrm xmlns:a="http://schemas.openxmlformats.org/drawingml/2006/main">
            <a:off x="2452969" y="2331720"/>
            <a:ext cx="1572768" cy="2148840"/>
          </a:xfrm>
          <a:prstGeom xmlns:a="http://schemas.openxmlformats.org/drawingml/2006/main" prst="roundRect">
            <a:avLst>
              <a:gd name="adj" fmla="val 5233"/>
            </a:avLst>
          </a:prstGeom>
          <a:solidFill xmlns:a="http://schemas.openxmlformats.org/drawingml/2006/main">
            <a:srgbClr val="F1F3F1"/>
          </a:solidFill>
          <a:ln xmlns:a="http://schemas.openxmlformats.org/drawingml/2006/main" w="12700">
            <a:solidFill>
              <a:srgbClr val="DADFDC"/>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BCB0A96A-3330-4DD0-B6D2-015F778DFF5F}"/>
              </a:ext>
            </a:extLst>
          </p:cNvPr>
          <p:cNvSpPr>
            <a:spLocks xmlns:a="http://schemas.openxmlformats.org/drawingml/2006/main" noGrp="1"/>
          </p:cNvSpPr>
          <p:nvPr/>
        </p:nvSpPr>
        <p:spPr>
          <a:xfrm xmlns:a="http://schemas.openxmlformats.org/drawingml/2006/main">
            <a:off x="2599273" y="2478024"/>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F7A5C"/>
                </a:solidFill>
                <a:latin typeface="Courier New"/>
                <a:ea typeface="Courier New"/>
                <a:cs typeface="Courier New"/>
              </a:rPr>
              <a:t>02</a:t>
            </a:r>
            <a:endParaRPr sz="1200"/>
          </a:p>
        </p:txBody>
      </p:sp>
      <p:sp>
        <p:nvSpPr>
          <p:cNvPr id="11" name="Text 9">
            <a:extLst xmlns:a="http://schemas.openxmlformats.org/drawingml/2006/main">
              <a:ext uri="{FF2B5EF4-FFF2-40B4-BE49-F238E27FC236}">
                <a16:creationId xmlns:a16="http://schemas.microsoft.com/office/drawing/2014/main" id="{E6973958-BD7D-4965-84F6-3E8A067DD5AB}"/>
              </a:ext>
            </a:extLst>
          </p:cNvPr>
          <p:cNvSpPr>
            <a:spLocks xmlns:a="http://schemas.openxmlformats.org/drawingml/2006/main" noGrp="1"/>
          </p:cNvSpPr>
          <p:nvPr/>
        </p:nvSpPr>
        <p:spPr>
          <a:xfrm xmlns:a="http://schemas.openxmlformats.org/drawingml/2006/main">
            <a:off x="2599273" y="2843784"/>
            <a:ext cx="128016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450" b="1">
                <a:solidFill>
                  <a:srgbClr val="12242A"/>
                </a:solidFill>
                <a:latin typeface="Cambria"/>
                <a:ea typeface="Cambria"/>
                <a:cs typeface="Cambria"/>
              </a:rPr>
              <a:t>Detect</a:t>
            </a:r>
            <a:endParaRPr sz="1450"/>
          </a:p>
        </p:txBody>
      </p:sp>
      <p:sp>
        <p:nvSpPr>
          <p:cNvPr id="12" name="Text 10">
            <a:extLst xmlns:a="http://schemas.openxmlformats.org/drawingml/2006/main">
              <a:ext uri="{FF2B5EF4-FFF2-40B4-BE49-F238E27FC236}">
                <a16:creationId xmlns:a16="http://schemas.microsoft.com/office/drawing/2014/main" id="{79C84D4D-243F-43F5-9641-3D3D48ACF34C}"/>
              </a:ext>
            </a:extLst>
          </p:cNvPr>
          <p:cNvSpPr>
            <a:spLocks xmlns:a="http://schemas.openxmlformats.org/drawingml/2006/main" noGrp="1"/>
          </p:cNvSpPr>
          <p:nvPr/>
        </p:nvSpPr>
        <p:spPr>
          <a:xfrm xmlns:a="http://schemas.openxmlformats.org/drawingml/2006/main">
            <a:off x="2599273" y="4023360"/>
            <a:ext cx="1280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6B7570"/>
                </a:solidFill>
                <a:latin typeface="Courier New"/>
                <a:ea typeface="Courier New"/>
                <a:cs typeface="Courier New"/>
              </a:rPr>
              <a:t>YOLO · regions</a:t>
            </a:r>
            <a:endParaRPr sz="1050"/>
          </a:p>
        </p:txBody>
      </p:sp>
      <p:sp>
        <p:nvSpPr>
          <p:cNvPr id="13" name="Shape 11">
            <a:extLst xmlns:a="http://schemas.openxmlformats.org/drawingml/2006/main">
              <a:ext uri="{FF2B5EF4-FFF2-40B4-BE49-F238E27FC236}">
                <a16:creationId xmlns:a16="http://schemas.microsoft.com/office/drawing/2014/main" id="{AFD53017-A256-4F85-B610-D01A822C5B15}"/>
              </a:ext>
            </a:extLst>
          </p:cNvPr>
          <p:cNvSpPr>
            <a:spLocks xmlns:a="http://schemas.openxmlformats.org/drawingml/2006/main" noGrp="1"/>
          </p:cNvSpPr>
          <p:nvPr/>
        </p:nvSpPr>
        <p:spPr>
          <a:xfrm xmlns:a="http://schemas.openxmlformats.org/drawingml/2006/main">
            <a:off x="4025737" y="3351276"/>
            <a:ext cx="240121" cy="109728"/>
          </a:xfrm>
          <a:prstGeom xmlns:a="http://schemas.openxmlformats.org/drawingml/2006/main" prst="rightArrow">
            <a:avLst/>
          </a:prstGeom>
          <a:solidFill xmlns:a="http://schemas.openxmlformats.org/drawingml/2006/main">
            <a:srgbClr val="DADFDC"/>
          </a:solidFill>
        </p:spPr>
        <p:txBody>
          <a:bodyPr xmlns:a="http://schemas.openxmlformats.org/drawingml/2006/main"/>
          <a:lstStyle xmlns:a="http://schemas.openxmlformats.org/drawingml/2006/main"/>
          <a:p xmlns:a="http://schemas.openxmlformats.org/drawingml/2006/main">
            <a:endParaRPr/>
          </a:p>
        </p:txBody>
      </p:sp>
      <p:sp>
        <p:nvSpPr>
          <p:cNvPr id="14" name="Shape 12">
            <a:extLst xmlns:a="http://schemas.openxmlformats.org/drawingml/2006/main">
              <a:ext uri="{FF2B5EF4-FFF2-40B4-BE49-F238E27FC236}">
                <a16:creationId xmlns:a16="http://schemas.microsoft.com/office/drawing/2014/main" id="{61FB77F5-F8FF-405C-A5A8-9C59D3D58C4D}"/>
              </a:ext>
            </a:extLst>
          </p:cNvPr>
          <p:cNvSpPr>
            <a:spLocks xmlns:a="http://schemas.openxmlformats.org/drawingml/2006/main" noGrp="1"/>
          </p:cNvSpPr>
          <p:nvPr/>
        </p:nvSpPr>
        <p:spPr>
          <a:xfrm xmlns:a="http://schemas.openxmlformats.org/drawingml/2006/main">
            <a:off x="4357299" y="2331720"/>
            <a:ext cx="1572768" cy="2148840"/>
          </a:xfrm>
          <a:prstGeom xmlns:a="http://schemas.openxmlformats.org/drawingml/2006/main" prst="roundRect">
            <a:avLst>
              <a:gd name="adj" fmla="val 5233"/>
            </a:avLst>
          </a:prstGeom>
          <a:solidFill xmlns:a="http://schemas.openxmlformats.org/drawingml/2006/main">
            <a:srgbClr val="F1F3F1"/>
          </a:solidFill>
          <a:ln xmlns:a="http://schemas.openxmlformats.org/drawingml/2006/main" w="12700">
            <a:solidFill>
              <a:srgbClr val="DADFDC"/>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5BF5D41E-044E-4510-A191-F4273A7DD019}"/>
              </a:ext>
            </a:extLst>
          </p:cNvPr>
          <p:cNvSpPr>
            <a:spLocks xmlns:a="http://schemas.openxmlformats.org/drawingml/2006/main" noGrp="1"/>
          </p:cNvSpPr>
          <p:nvPr/>
        </p:nvSpPr>
        <p:spPr>
          <a:xfrm xmlns:a="http://schemas.openxmlformats.org/drawingml/2006/main">
            <a:off x="4503603" y="2478024"/>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F7A5C"/>
                </a:solidFill>
                <a:latin typeface="Courier New"/>
                <a:ea typeface="Courier New"/>
                <a:cs typeface="Courier New"/>
              </a:rPr>
              <a:t>03</a:t>
            </a:r>
            <a:endParaRPr sz="1200"/>
          </a:p>
        </p:txBody>
      </p:sp>
      <p:sp>
        <p:nvSpPr>
          <p:cNvPr id="16" name="Text 14">
            <a:extLst xmlns:a="http://schemas.openxmlformats.org/drawingml/2006/main">
              <a:ext uri="{FF2B5EF4-FFF2-40B4-BE49-F238E27FC236}">
                <a16:creationId xmlns:a16="http://schemas.microsoft.com/office/drawing/2014/main" id="{6E0C3793-9FE2-4287-9887-608ED41BA2D6}"/>
              </a:ext>
            </a:extLst>
          </p:cNvPr>
          <p:cNvSpPr>
            <a:spLocks xmlns:a="http://schemas.openxmlformats.org/drawingml/2006/main" noGrp="1"/>
          </p:cNvSpPr>
          <p:nvPr/>
        </p:nvSpPr>
        <p:spPr>
          <a:xfrm xmlns:a="http://schemas.openxmlformats.org/drawingml/2006/main">
            <a:off x="4503603" y="2843784"/>
            <a:ext cx="128016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450" b="1">
                <a:solidFill>
                  <a:srgbClr val="12242A"/>
                </a:solidFill>
                <a:latin typeface="Cambria"/>
                <a:ea typeface="Cambria"/>
                <a:cs typeface="Cambria"/>
              </a:rPr>
              <a:t>Track</a:t>
            </a:r>
            <a:endParaRPr sz="1450"/>
          </a:p>
        </p:txBody>
      </p:sp>
      <p:sp>
        <p:nvSpPr>
          <p:cNvPr id="17" name="Text 15">
            <a:extLst xmlns:a="http://schemas.openxmlformats.org/drawingml/2006/main">
              <a:ext uri="{FF2B5EF4-FFF2-40B4-BE49-F238E27FC236}">
                <a16:creationId xmlns:a16="http://schemas.microsoft.com/office/drawing/2014/main" id="{E65120F9-14D8-43A3-A9EB-345688F9B37C}"/>
              </a:ext>
            </a:extLst>
          </p:cNvPr>
          <p:cNvSpPr>
            <a:spLocks xmlns:a="http://schemas.openxmlformats.org/drawingml/2006/main" noGrp="1"/>
          </p:cNvSpPr>
          <p:nvPr/>
        </p:nvSpPr>
        <p:spPr>
          <a:xfrm xmlns:a="http://schemas.openxmlformats.org/drawingml/2006/main">
            <a:off x="4503603" y="4023360"/>
            <a:ext cx="1280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6B7570"/>
                </a:solidFill>
                <a:latin typeface="Courier New"/>
                <a:ea typeface="Courier New"/>
                <a:cs typeface="Courier New"/>
              </a:rPr>
              <a:t>ByteTrack · IDs</a:t>
            </a:r>
            <a:endParaRPr sz="1050"/>
          </a:p>
        </p:txBody>
      </p:sp>
      <p:sp>
        <p:nvSpPr>
          <p:cNvPr id="18" name="Shape 16">
            <a:extLst xmlns:a="http://schemas.openxmlformats.org/drawingml/2006/main">
              <a:ext uri="{FF2B5EF4-FFF2-40B4-BE49-F238E27FC236}">
                <a16:creationId xmlns:a16="http://schemas.microsoft.com/office/drawing/2014/main" id="{DE8A6FBB-84C6-4171-BBCE-0240C7463989}"/>
              </a:ext>
            </a:extLst>
          </p:cNvPr>
          <p:cNvSpPr>
            <a:spLocks xmlns:a="http://schemas.openxmlformats.org/drawingml/2006/main" noGrp="1"/>
          </p:cNvSpPr>
          <p:nvPr/>
        </p:nvSpPr>
        <p:spPr>
          <a:xfrm xmlns:a="http://schemas.openxmlformats.org/drawingml/2006/main">
            <a:off x="5930067" y="3351276"/>
            <a:ext cx="240121" cy="109728"/>
          </a:xfrm>
          <a:prstGeom xmlns:a="http://schemas.openxmlformats.org/drawingml/2006/main" prst="rightArrow">
            <a:avLst/>
          </a:prstGeom>
          <a:solidFill xmlns:a="http://schemas.openxmlformats.org/drawingml/2006/main">
            <a:srgbClr val="DADFDC"/>
          </a:solidFill>
        </p:spPr>
        <p:txBody>
          <a:bodyPr xmlns:a="http://schemas.openxmlformats.org/drawingml/2006/main"/>
          <a:lstStyle xmlns:a="http://schemas.openxmlformats.org/drawingml/2006/main"/>
          <a:p xmlns:a="http://schemas.openxmlformats.org/drawingml/2006/main">
            <a:endParaRPr/>
          </a:p>
        </p:txBody>
      </p:sp>
      <p:sp>
        <p:nvSpPr>
          <p:cNvPr id="19" name="Shape 17">
            <a:extLst xmlns:a="http://schemas.openxmlformats.org/drawingml/2006/main">
              <a:ext uri="{FF2B5EF4-FFF2-40B4-BE49-F238E27FC236}">
                <a16:creationId xmlns:a16="http://schemas.microsoft.com/office/drawing/2014/main" id="{3A308B8E-D856-4BA1-979D-467CF0D69815}"/>
              </a:ext>
            </a:extLst>
          </p:cNvPr>
          <p:cNvSpPr>
            <a:spLocks xmlns:a="http://schemas.openxmlformats.org/drawingml/2006/main" noGrp="1"/>
          </p:cNvSpPr>
          <p:nvPr/>
        </p:nvSpPr>
        <p:spPr>
          <a:xfrm xmlns:a="http://schemas.openxmlformats.org/drawingml/2006/main">
            <a:off x="6261628" y="2331720"/>
            <a:ext cx="1572768" cy="2148840"/>
          </a:xfrm>
          <a:prstGeom xmlns:a="http://schemas.openxmlformats.org/drawingml/2006/main" prst="roundRect">
            <a:avLst>
              <a:gd name="adj" fmla="val 5233"/>
            </a:avLst>
          </a:prstGeom>
          <a:solidFill xmlns:a="http://schemas.openxmlformats.org/drawingml/2006/main">
            <a:srgbClr val="F1F3F1"/>
          </a:solidFill>
          <a:ln xmlns:a="http://schemas.openxmlformats.org/drawingml/2006/main" w="12700">
            <a:solidFill>
              <a:srgbClr val="DADFDC"/>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B54865E6-C4D6-4704-A00D-0D924900A775}"/>
              </a:ext>
            </a:extLst>
          </p:cNvPr>
          <p:cNvSpPr>
            <a:spLocks xmlns:a="http://schemas.openxmlformats.org/drawingml/2006/main" noGrp="1"/>
          </p:cNvSpPr>
          <p:nvPr/>
        </p:nvSpPr>
        <p:spPr>
          <a:xfrm xmlns:a="http://schemas.openxmlformats.org/drawingml/2006/main">
            <a:off x="6407932" y="2478024"/>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F7A5C"/>
                </a:solidFill>
                <a:latin typeface="Courier New"/>
                <a:ea typeface="Courier New"/>
                <a:cs typeface="Courier New"/>
              </a:rPr>
              <a:t>04</a:t>
            </a:r>
            <a:endParaRPr sz="1200"/>
          </a:p>
        </p:txBody>
      </p:sp>
      <p:sp>
        <p:nvSpPr>
          <p:cNvPr id="21" name="Text 19">
            <a:extLst xmlns:a="http://schemas.openxmlformats.org/drawingml/2006/main">
              <a:ext uri="{FF2B5EF4-FFF2-40B4-BE49-F238E27FC236}">
                <a16:creationId xmlns:a16="http://schemas.microsoft.com/office/drawing/2014/main" id="{68D2170D-54E6-4BA3-9709-4AC7C2B0217F}"/>
              </a:ext>
            </a:extLst>
          </p:cNvPr>
          <p:cNvSpPr>
            <a:spLocks xmlns:a="http://schemas.openxmlformats.org/drawingml/2006/main" noGrp="1"/>
          </p:cNvSpPr>
          <p:nvPr/>
        </p:nvSpPr>
        <p:spPr>
          <a:xfrm xmlns:a="http://schemas.openxmlformats.org/drawingml/2006/main">
            <a:off x="6407932" y="2843784"/>
            <a:ext cx="128016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450" b="1">
                <a:solidFill>
                  <a:srgbClr val="12242A"/>
                </a:solidFill>
                <a:latin typeface="Cambria"/>
                <a:ea typeface="Cambria"/>
                <a:cs typeface="Cambria"/>
              </a:rPr>
              <a:t>Recognise</a:t>
            </a:r>
            <a:endParaRPr sz="1450"/>
          </a:p>
        </p:txBody>
      </p:sp>
      <p:sp>
        <p:nvSpPr>
          <p:cNvPr id="22" name="Text 20">
            <a:extLst xmlns:a="http://schemas.openxmlformats.org/drawingml/2006/main">
              <a:ext uri="{FF2B5EF4-FFF2-40B4-BE49-F238E27FC236}">
                <a16:creationId xmlns:a16="http://schemas.microsoft.com/office/drawing/2014/main" id="{BAA523EF-50CD-4CA5-8B36-6FE23159BD50}"/>
              </a:ext>
            </a:extLst>
          </p:cNvPr>
          <p:cNvSpPr>
            <a:spLocks xmlns:a="http://schemas.openxmlformats.org/drawingml/2006/main" noGrp="1"/>
          </p:cNvSpPr>
          <p:nvPr/>
        </p:nvSpPr>
        <p:spPr>
          <a:xfrm xmlns:a="http://schemas.openxmlformats.org/drawingml/2006/main">
            <a:off x="6407932" y="4023360"/>
            <a:ext cx="1280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6B7570"/>
                </a:solidFill>
                <a:latin typeface="Courier New"/>
                <a:ea typeface="Courier New"/>
                <a:cs typeface="Courier New"/>
              </a:rPr>
              <a:t>ANPR · FRS</a:t>
            </a:r>
            <a:endParaRPr sz="1050"/>
          </a:p>
        </p:txBody>
      </p:sp>
      <p:sp>
        <p:nvSpPr>
          <p:cNvPr id="23" name="Shape 21">
            <a:extLst xmlns:a="http://schemas.openxmlformats.org/drawingml/2006/main">
              <a:ext uri="{FF2B5EF4-FFF2-40B4-BE49-F238E27FC236}">
                <a16:creationId xmlns:a16="http://schemas.microsoft.com/office/drawing/2014/main" id="{AF8BCFA3-43C9-48A8-822B-0782240E73BF}"/>
              </a:ext>
            </a:extLst>
          </p:cNvPr>
          <p:cNvSpPr>
            <a:spLocks xmlns:a="http://schemas.openxmlformats.org/drawingml/2006/main" noGrp="1"/>
          </p:cNvSpPr>
          <p:nvPr/>
        </p:nvSpPr>
        <p:spPr>
          <a:xfrm xmlns:a="http://schemas.openxmlformats.org/drawingml/2006/main">
            <a:off x="7834396" y="3351276"/>
            <a:ext cx="240121" cy="109728"/>
          </a:xfrm>
          <a:prstGeom xmlns:a="http://schemas.openxmlformats.org/drawingml/2006/main" prst="rightArrow">
            <a:avLst/>
          </a:prstGeom>
          <a:solidFill xmlns:a="http://schemas.openxmlformats.org/drawingml/2006/main">
            <a:srgbClr val="DADFDC"/>
          </a:solidFill>
        </p:spPr>
        <p:txBody>
          <a:bodyPr xmlns:a="http://schemas.openxmlformats.org/drawingml/2006/main"/>
          <a:lstStyle xmlns:a="http://schemas.openxmlformats.org/drawingml/2006/main"/>
          <a:p xmlns:a="http://schemas.openxmlformats.org/drawingml/2006/main">
            <a:endParaRPr/>
          </a:p>
        </p:txBody>
      </p:sp>
      <p:sp>
        <p:nvSpPr>
          <p:cNvPr id="24" name="Shape 22">
            <a:extLst xmlns:a="http://schemas.openxmlformats.org/drawingml/2006/main">
              <a:ext uri="{FF2B5EF4-FFF2-40B4-BE49-F238E27FC236}">
                <a16:creationId xmlns:a16="http://schemas.microsoft.com/office/drawing/2014/main" id="{0F4176CE-37C3-4762-BFC9-B57B11878228}"/>
              </a:ext>
            </a:extLst>
          </p:cNvPr>
          <p:cNvSpPr>
            <a:spLocks xmlns:a="http://schemas.openxmlformats.org/drawingml/2006/main" noGrp="1"/>
          </p:cNvSpPr>
          <p:nvPr/>
        </p:nvSpPr>
        <p:spPr>
          <a:xfrm xmlns:a="http://schemas.openxmlformats.org/drawingml/2006/main">
            <a:off x="8165958" y="2331720"/>
            <a:ext cx="1572768" cy="2148840"/>
          </a:xfrm>
          <a:prstGeom xmlns:a="http://schemas.openxmlformats.org/drawingml/2006/main" prst="roundRect">
            <a:avLst>
              <a:gd name="adj" fmla="val 5233"/>
            </a:avLst>
          </a:prstGeom>
          <a:solidFill xmlns:a="http://schemas.openxmlformats.org/drawingml/2006/main">
            <a:srgbClr val="F1F3F1"/>
          </a:solidFill>
          <a:ln xmlns:a="http://schemas.openxmlformats.org/drawingml/2006/main" w="12700">
            <a:solidFill>
              <a:srgbClr val="DADFDC"/>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Text 23">
            <a:extLst xmlns:a="http://schemas.openxmlformats.org/drawingml/2006/main">
              <a:ext uri="{FF2B5EF4-FFF2-40B4-BE49-F238E27FC236}">
                <a16:creationId xmlns:a16="http://schemas.microsoft.com/office/drawing/2014/main" id="{45F5FB3B-E79B-4B03-AC4D-DB4D3EC64917}"/>
              </a:ext>
            </a:extLst>
          </p:cNvPr>
          <p:cNvSpPr>
            <a:spLocks xmlns:a="http://schemas.openxmlformats.org/drawingml/2006/main" noGrp="1"/>
          </p:cNvSpPr>
          <p:nvPr/>
        </p:nvSpPr>
        <p:spPr>
          <a:xfrm xmlns:a="http://schemas.openxmlformats.org/drawingml/2006/main">
            <a:off x="8312262" y="2478024"/>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F7A5C"/>
                </a:solidFill>
                <a:latin typeface="Courier New"/>
                <a:ea typeface="Courier New"/>
                <a:cs typeface="Courier New"/>
              </a:rPr>
              <a:t>05</a:t>
            </a:r>
            <a:endParaRPr sz="1200"/>
          </a:p>
        </p:txBody>
      </p:sp>
      <p:sp>
        <p:nvSpPr>
          <p:cNvPr id="26" name="Text 24">
            <a:extLst xmlns:a="http://schemas.openxmlformats.org/drawingml/2006/main">
              <a:ext uri="{FF2B5EF4-FFF2-40B4-BE49-F238E27FC236}">
                <a16:creationId xmlns:a16="http://schemas.microsoft.com/office/drawing/2014/main" id="{6A95413E-8AB9-4B03-A2E3-2047A4FACA99}"/>
              </a:ext>
            </a:extLst>
          </p:cNvPr>
          <p:cNvSpPr>
            <a:spLocks xmlns:a="http://schemas.openxmlformats.org/drawingml/2006/main" noGrp="1"/>
          </p:cNvSpPr>
          <p:nvPr/>
        </p:nvSpPr>
        <p:spPr>
          <a:xfrm xmlns:a="http://schemas.openxmlformats.org/drawingml/2006/main">
            <a:off x="8312262" y="2843784"/>
            <a:ext cx="128016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450" b="1">
                <a:solidFill>
                  <a:srgbClr val="12242A"/>
                </a:solidFill>
                <a:latin typeface="Cambria"/>
                <a:ea typeface="Cambria"/>
                <a:cs typeface="Cambria"/>
              </a:rPr>
              <a:t>Correlate</a:t>
            </a:r>
            <a:endParaRPr sz="1450"/>
          </a:p>
        </p:txBody>
      </p:sp>
      <p:sp>
        <p:nvSpPr>
          <p:cNvPr id="27" name="Text 25">
            <a:extLst xmlns:a="http://schemas.openxmlformats.org/drawingml/2006/main">
              <a:ext uri="{FF2B5EF4-FFF2-40B4-BE49-F238E27FC236}">
                <a16:creationId xmlns:a16="http://schemas.microsoft.com/office/drawing/2014/main" id="{D91DC63F-A845-401A-86A4-40E0A46834AC}"/>
              </a:ext>
            </a:extLst>
          </p:cNvPr>
          <p:cNvSpPr>
            <a:spLocks xmlns:a="http://schemas.openxmlformats.org/drawingml/2006/main" noGrp="1"/>
          </p:cNvSpPr>
          <p:nvPr/>
        </p:nvSpPr>
        <p:spPr>
          <a:xfrm xmlns:a="http://schemas.openxmlformats.org/drawingml/2006/main">
            <a:off x="8312262" y="4023360"/>
            <a:ext cx="1280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6B7570"/>
                </a:solidFill>
                <a:latin typeface="Courier New"/>
                <a:ea typeface="Courier New"/>
                <a:cs typeface="Courier New"/>
              </a:rPr>
              <a:t>multi-frame · policy</a:t>
            </a:r>
            <a:endParaRPr sz="1050"/>
          </a:p>
        </p:txBody>
      </p:sp>
      <p:sp>
        <p:nvSpPr>
          <p:cNvPr id="28" name="Shape 26">
            <a:extLst xmlns:a="http://schemas.openxmlformats.org/drawingml/2006/main">
              <a:ext uri="{FF2B5EF4-FFF2-40B4-BE49-F238E27FC236}">
                <a16:creationId xmlns:a16="http://schemas.microsoft.com/office/drawing/2014/main" id="{BE229E0A-F4D4-4F00-B310-A60042D7F442}"/>
              </a:ext>
            </a:extLst>
          </p:cNvPr>
          <p:cNvSpPr>
            <a:spLocks xmlns:a="http://schemas.openxmlformats.org/drawingml/2006/main" noGrp="1"/>
          </p:cNvSpPr>
          <p:nvPr/>
        </p:nvSpPr>
        <p:spPr>
          <a:xfrm xmlns:a="http://schemas.openxmlformats.org/drawingml/2006/main">
            <a:off x="9738726" y="3351276"/>
            <a:ext cx="240121" cy="109728"/>
          </a:xfrm>
          <a:prstGeom xmlns:a="http://schemas.openxmlformats.org/drawingml/2006/main" prst="rightArrow">
            <a:avLst/>
          </a:prstGeom>
          <a:solidFill xmlns:a="http://schemas.openxmlformats.org/drawingml/2006/main">
            <a:srgbClr val="DADFDC"/>
          </a:solidFill>
        </p:spPr>
        <p:txBody>
          <a:bodyPr xmlns:a="http://schemas.openxmlformats.org/drawingml/2006/main"/>
          <a:lstStyle xmlns:a="http://schemas.openxmlformats.org/drawingml/2006/main"/>
          <a:p xmlns:a="http://schemas.openxmlformats.org/drawingml/2006/main">
            <a:endParaRPr/>
          </a:p>
        </p:txBody>
      </p:sp>
      <p:sp>
        <p:nvSpPr>
          <p:cNvPr id="29" name="Shape 27">
            <a:extLst xmlns:a="http://schemas.openxmlformats.org/drawingml/2006/main">
              <a:ext uri="{FF2B5EF4-FFF2-40B4-BE49-F238E27FC236}">
                <a16:creationId xmlns:a16="http://schemas.microsoft.com/office/drawing/2014/main" id="{50881A8C-8D35-4C10-AADE-47B712F2B93F}"/>
              </a:ext>
            </a:extLst>
          </p:cNvPr>
          <p:cNvSpPr>
            <a:spLocks xmlns:a="http://schemas.openxmlformats.org/drawingml/2006/main" noGrp="1"/>
          </p:cNvSpPr>
          <p:nvPr/>
        </p:nvSpPr>
        <p:spPr>
          <a:xfrm xmlns:a="http://schemas.openxmlformats.org/drawingml/2006/main">
            <a:off x="10070287" y="2331720"/>
            <a:ext cx="1572768" cy="2148840"/>
          </a:xfrm>
          <a:prstGeom xmlns:a="http://schemas.openxmlformats.org/drawingml/2006/main" prst="roundRect">
            <a:avLst>
              <a:gd name="adj" fmla="val 5233"/>
            </a:avLst>
          </a:prstGeom>
          <a:solidFill xmlns:a="http://schemas.openxmlformats.org/drawingml/2006/main">
            <a:srgbClr val="1F7A5C"/>
          </a:solidFill>
        </p:spPr>
        <p:txBody>
          <a:bodyPr xmlns:a="http://schemas.openxmlformats.org/drawingml/2006/main"/>
          <a:lstStyle xmlns:a="http://schemas.openxmlformats.org/drawingml/2006/main"/>
          <a:p xmlns:a="http://schemas.openxmlformats.org/drawingml/2006/main">
            <a:endParaRPr/>
          </a:p>
        </p:txBody>
      </p:sp>
      <p:sp>
        <p:nvSpPr>
          <p:cNvPr id="30" name="Text 28">
            <a:extLst xmlns:a="http://schemas.openxmlformats.org/drawingml/2006/main">
              <a:ext uri="{FF2B5EF4-FFF2-40B4-BE49-F238E27FC236}">
                <a16:creationId xmlns:a16="http://schemas.microsoft.com/office/drawing/2014/main" id="{8B0C708E-C808-45D2-9AF2-04C17016C680}"/>
              </a:ext>
            </a:extLst>
          </p:cNvPr>
          <p:cNvSpPr>
            <a:spLocks xmlns:a="http://schemas.openxmlformats.org/drawingml/2006/main" noGrp="1"/>
          </p:cNvSpPr>
          <p:nvPr/>
        </p:nvSpPr>
        <p:spPr>
          <a:xfrm xmlns:a="http://schemas.openxmlformats.org/drawingml/2006/main">
            <a:off x="10216591" y="2478024"/>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FFFFFF"/>
                </a:solidFill>
                <a:latin typeface="Courier New"/>
                <a:ea typeface="Courier New"/>
                <a:cs typeface="Courier New"/>
              </a:rPr>
              <a:t>06</a:t>
            </a:r>
            <a:endParaRPr sz="1200"/>
          </a:p>
        </p:txBody>
      </p:sp>
      <p:sp>
        <p:nvSpPr>
          <p:cNvPr id="31" name="Text 29">
            <a:extLst xmlns:a="http://schemas.openxmlformats.org/drawingml/2006/main">
              <a:ext uri="{FF2B5EF4-FFF2-40B4-BE49-F238E27FC236}">
                <a16:creationId xmlns:a16="http://schemas.microsoft.com/office/drawing/2014/main" id="{FDCE68B6-3DE6-444F-A798-BC80E6323FED}"/>
              </a:ext>
            </a:extLst>
          </p:cNvPr>
          <p:cNvSpPr>
            <a:spLocks xmlns:a="http://schemas.openxmlformats.org/drawingml/2006/main" noGrp="1"/>
          </p:cNvSpPr>
          <p:nvPr/>
        </p:nvSpPr>
        <p:spPr>
          <a:xfrm xmlns:a="http://schemas.openxmlformats.org/drawingml/2006/main">
            <a:off x="10216591" y="2843784"/>
            <a:ext cx="128016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450" b="1">
                <a:solidFill>
                  <a:srgbClr val="FFFFFF"/>
                </a:solidFill>
                <a:latin typeface="Cambria"/>
                <a:ea typeface="Cambria"/>
                <a:cs typeface="Cambria"/>
              </a:rPr>
              <a:t>Publish</a:t>
            </a:r>
            <a:endParaRPr sz="1450"/>
          </a:p>
        </p:txBody>
      </p:sp>
      <p:sp>
        <p:nvSpPr>
          <p:cNvPr id="32" name="Text 30">
            <a:extLst xmlns:a="http://schemas.openxmlformats.org/drawingml/2006/main">
              <a:ext uri="{FF2B5EF4-FFF2-40B4-BE49-F238E27FC236}">
                <a16:creationId xmlns:a16="http://schemas.microsoft.com/office/drawing/2014/main" id="{C3E0F28D-F1E4-4B1A-BA1D-386BC36722A6}"/>
              </a:ext>
            </a:extLst>
          </p:cNvPr>
          <p:cNvSpPr>
            <a:spLocks xmlns:a="http://schemas.openxmlformats.org/drawingml/2006/main" noGrp="1"/>
          </p:cNvSpPr>
          <p:nvPr/>
        </p:nvSpPr>
        <p:spPr>
          <a:xfrm xmlns:a="http://schemas.openxmlformats.org/drawingml/2006/main">
            <a:off x="10216591" y="4023360"/>
            <a:ext cx="1280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CFE9DE"/>
                </a:solidFill>
                <a:latin typeface="Courier New"/>
                <a:ea typeface="Courier New"/>
                <a:cs typeface="Courier New"/>
              </a:rPr>
              <a:t>observation · alert</a:t>
            </a:r>
            <a:endParaRPr sz="1050"/>
          </a:p>
        </p:txBody>
      </p:sp>
      <p:sp>
        <p:nvSpPr>
          <p:cNvPr id="33" name="Text 31">
            <a:extLst xmlns:a="http://schemas.openxmlformats.org/drawingml/2006/main">
              <a:ext uri="{FF2B5EF4-FFF2-40B4-BE49-F238E27FC236}">
                <a16:creationId xmlns:a16="http://schemas.microsoft.com/office/drawing/2014/main" id="{8F2C0BB3-0CCD-4E6C-81CA-DE87A0DC0257}"/>
              </a:ext>
            </a:extLst>
          </p:cNvPr>
          <p:cNvSpPr>
            <a:spLocks xmlns:a="http://schemas.openxmlformats.org/drawingml/2006/main" noGrp="1"/>
          </p:cNvSpPr>
          <p:nvPr/>
        </p:nvSpPr>
        <p:spPr>
          <a:xfrm xmlns:a="http://schemas.openxmlformats.org/drawingml/2006/main">
            <a:off x="548640" y="4800600"/>
            <a:ext cx="11094415"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6B7570"/>
                </a:solidFill>
                <a:latin typeface="Calibri"/>
                <a:ea typeface="Calibri"/>
                <a:cs typeface="Calibri"/>
              </a:rPr>
              <a:t>Analytics are enabled per camera and policy:</a:t>
            </a:r>
            <a:endParaRPr sz="1350"/>
          </a:p>
        </p:txBody>
      </p:sp>
      <p:sp>
        <p:nvSpPr>
          <p:cNvPr id="34" name="Shape 32">
            <a:extLst xmlns:a="http://schemas.openxmlformats.org/drawingml/2006/main">
              <a:ext uri="{FF2B5EF4-FFF2-40B4-BE49-F238E27FC236}">
                <a16:creationId xmlns:a16="http://schemas.microsoft.com/office/drawing/2014/main" id="{130DE179-1BE9-44BE-9732-A2BC942F5A2A}"/>
              </a:ext>
            </a:extLst>
          </p:cNvPr>
          <p:cNvSpPr>
            <a:spLocks xmlns:a="http://schemas.openxmlformats.org/drawingml/2006/main" noGrp="1"/>
          </p:cNvSpPr>
          <p:nvPr/>
        </p:nvSpPr>
        <p:spPr>
          <a:xfrm xmlns:a="http://schemas.openxmlformats.org/drawingml/2006/main">
            <a:off x="548640" y="5257800"/>
            <a:ext cx="457200" cy="457200"/>
          </a:xfrm>
          <a:prstGeom xmlns:a="http://schemas.openxmlformats.org/drawingml/2006/main" prst="ellipse">
            <a:avLst/>
          </a:prstGeom>
          <a:solidFill xmlns:a="http://schemas.openxmlformats.org/drawingml/2006/main">
            <a:srgbClr val="E4F1EA"/>
          </a:solidFill>
        </p:spPr>
        <p:txBody>
          <a:bodyPr xmlns:a="http://schemas.openxmlformats.org/drawingml/2006/main"/>
          <a:lstStyle xmlns:a="http://schemas.openxmlformats.org/drawingml/2006/main"/>
          <a:p xmlns:a="http://schemas.openxmlformats.org/drawingml/2006/main">
            <a:endParaRPr/>
          </a:p>
        </p:txBody>
      </p:sp>
      <p:pic>
        <p:nvPicPr>
          <p:cNvPr id="84" name="Image 0"/>
          <p:cNvPicPr>
            <a:picLocks xmlns:a="http://schemas.openxmlformats.org/drawingml/2006/main" noChangeAspect="1"/>
          </p:cNvPicPr>
          <p:nvPr/>
        </p:nvPicPr>
        <p:blipFill>
          <a:blip xmlns:r="http://schemas.openxmlformats.org/officeDocument/2006/relationships" xmlns:a="http://schemas.openxmlformats.org/drawingml/2006/main" r:embed="Rf9df5ef4ed8b4f6d"/>
          <a:stretch xmlns:a="http://schemas.openxmlformats.org/drawingml/2006/main">
            <a:fillRect l="0" t="0" r="0" b="0"/>
          </a:stretch>
        </p:blipFill>
        <p:spPr>
          <a:xfrm xmlns:a="http://schemas.openxmlformats.org/drawingml/2006/main">
            <a:off x="653796" y="5362956"/>
            <a:ext cx="246888" cy="246888"/>
          </a:xfrm>
          <a:prstGeom xmlns:a="http://schemas.openxmlformats.org/drawingml/2006/main" prst="rect">
            <a:avLst/>
          </a:prstGeom>
        </p:spPr>
      </p:pic>
      <p:sp>
        <p:nvSpPr>
          <p:cNvPr id="36" name="Text 33">
            <a:extLst xmlns:a="http://schemas.openxmlformats.org/drawingml/2006/main">
              <a:ext uri="{FF2B5EF4-FFF2-40B4-BE49-F238E27FC236}">
                <a16:creationId xmlns:a16="http://schemas.microsoft.com/office/drawing/2014/main" id="{A44401C9-9C9B-42D1-BA65-089FEA193217}"/>
              </a:ext>
            </a:extLst>
          </p:cNvPr>
          <p:cNvSpPr>
            <a:spLocks xmlns:a="http://schemas.openxmlformats.org/drawingml/2006/main" noGrp="1"/>
          </p:cNvSpPr>
          <p:nvPr/>
        </p:nvSpPr>
        <p:spPr>
          <a:xfrm xmlns:a="http://schemas.openxmlformats.org/drawingml/2006/main">
            <a:off x="1133856" y="5212080"/>
            <a:ext cx="293004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242A"/>
                </a:solidFill>
                <a:latin typeface="Cambria"/>
                <a:ea typeface="Cambria"/>
                <a:cs typeface="Cambria"/>
              </a:rPr>
              <a:t>Vehicle · ANPR</a:t>
            </a:r>
            <a:endParaRPr sz="1300"/>
          </a:p>
        </p:txBody>
      </p:sp>
      <p:sp>
        <p:nvSpPr>
          <p:cNvPr id="37" name="Text 34">
            <a:extLst xmlns:a="http://schemas.openxmlformats.org/drawingml/2006/main">
              <a:ext uri="{FF2B5EF4-FFF2-40B4-BE49-F238E27FC236}">
                <a16:creationId xmlns:a16="http://schemas.microsoft.com/office/drawing/2014/main" id="{0D7763EA-560B-4C91-B033-26D64D091560}"/>
              </a:ext>
            </a:extLst>
          </p:cNvPr>
          <p:cNvSpPr>
            <a:spLocks xmlns:a="http://schemas.openxmlformats.org/drawingml/2006/main" noGrp="1"/>
          </p:cNvSpPr>
          <p:nvPr/>
        </p:nvSpPr>
        <p:spPr>
          <a:xfrm xmlns:a="http://schemas.openxmlformats.org/drawingml/2006/main">
            <a:off x="1133856" y="5486400"/>
            <a:ext cx="293004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50">
                <a:solidFill>
                  <a:srgbClr val="6B7570"/>
                </a:solidFill>
                <a:latin typeface="Calibri"/>
                <a:ea typeface="Calibri"/>
                <a:cs typeface="Calibri"/>
              </a:rPr>
              <a:t>Plate tracking, confirmation and watchlist match.</a:t>
            </a:r>
            <a:endParaRPr sz="1050"/>
          </a:p>
        </p:txBody>
      </p:sp>
      <p:sp>
        <p:nvSpPr>
          <p:cNvPr id="38" name="Shape 35">
            <a:extLst xmlns:a="http://schemas.openxmlformats.org/drawingml/2006/main">
              <a:ext uri="{FF2B5EF4-FFF2-40B4-BE49-F238E27FC236}">
                <a16:creationId xmlns:a16="http://schemas.microsoft.com/office/drawing/2014/main" id="{CCE5B918-F758-471D-BC21-09255B8DC1AE}"/>
              </a:ext>
            </a:extLst>
          </p:cNvPr>
          <p:cNvSpPr>
            <a:spLocks xmlns:a="http://schemas.openxmlformats.org/drawingml/2006/main" noGrp="1"/>
          </p:cNvSpPr>
          <p:nvPr/>
        </p:nvSpPr>
        <p:spPr>
          <a:xfrm xmlns:a="http://schemas.openxmlformats.org/drawingml/2006/main">
            <a:off x="4338218" y="5257800"/>
            <a:ext cx="457200" cy="457200"/>
          </a:xfrm>
          <a:prstGeom xmlns:a="http://schemas.openxmlformats.org/drawingml/2006/main" prst="ellipse">
            <a:avLst/>
          </a:prstGeom>
          <a:solidFill xmlns:a="http://schemas.openxmlformats.org/drawingml/2006/main">
            <a:srgbClr val="E4F1EA"/>
          </a:solidFill>
        </p:spPr>
        <p:txBody>
          <a:bodyPr xmlns:a="http://schemas.openxmlformats.org/drawingml/2006/main"/>
          <a:lstStyle xmlns:a="http://schemas.openxmlformats.org/drawingml/2006/main"/>
          <a:p xmlns:a="http://schemas.openxmlformats.org/drawingml/2006/main">
            <a:endParaRPr/>
          </a:p>
        </p:txBody>
      </p:sp>
      <p:pic>
        <p:nvPicPr>
          <p:cNvPr id="88" name="Image 1"/>
          <p:cNvPicPr>
            <a:picLocks xmlns:a="http://schemas.openxmlformats.org/drawingml/2006/main" noChangeAspect="1"/>
          </p:cNvPicPr>
          <p:nvPr/>
        </p:nvPicPr>
        <p:blipFill>
          <a:blip xmlns:r="http://schemas.openxmlformats.org/officeDocument/2006/relationships" xmlns:a="http://schemas.openxmlformats.org/drawingml/2006/main" r:embed="R604436c2bb6a4744"/>
          <a:stretch xmlns:a="http://schemas.openxmlformats.org/drawingml/2006/main">
            <a:fillRect l="0" t="0" r="0" b="0"/>
          </a:stretch>
        </p:blipFill>
        <p:spPr>
          <a:xfrm xmlns:a="http://schemas.openxmlformats.org/drawingml/2006/main">
            <a:off x="4443374" y="5362956"/>
            <a:ext cx="246888" cy="246888"/>
          </a:xfrm>
          <a:prstGeom xmlns:a="http://schemas.openxmlformats.org/drawingml/2006/main" prst="rect">
            <a:avLst/>
          </a:prstGeom>
        </p:spPr>
      </p:pic>
      <p:sp>
        <p:nvSpPr>
          <p:cNvPr id="40" name="Text 36">
            <a:extLst xmlns:a="http://schemas.openxmlformats.org/drawingml/2006/main">
              <a:ext uri="{FF2B5EF4-FFF2-40B4-BE49-F238E27FC236}">
                <a16:creationId xmlns:a16="http://schemas.microsoft.com/office/drawing/2014/main" id="{AF49E219-B2BB-4834-9CDB-E8834EE73D15}"/>
              </a:ext>
            </a:extLst>
          </p:cNvPr>
          <p:cNvSpPr>
            <a:spLocks xmlns:a="http://schemas.openxmlformats.org/drawingml/2006/main" noGrp="1"/>
          </p:cNvSpPr>
          <p:nvPr/>
        </p:nvSpPr>
        <p:spPr>
          <a:xfrm xmlns:a="http://schemas.openxmlformats.org/drawingml/2006/main">
            <a:off x="4923434" y="5212080"/>
            <a:ext cx="293004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242A"/>
                </a:solidFill>
                <a:latin typeface="Cambria"/>
                <a:ea typeface="Cambria"/>
                <a:cs typeface="Cambria"/>
              </a:rPr>
              <a:t>Face recognition</a:t>
            </a:r>
            <a:endParaRPr sz="1300"/>
          </a:p>
        </p:txBody>
      </p:sp>
      <p:sp>
        <p:nvSpPr>
          <p:cNvPr id="41" name="Text 37">
            <a:extLst xmlns:a="http://schemas.openxmlformats.org/drawingml/2006/main">
              <a:ext uri="{FF2B5EF4-FFF2-40B4-BE49-F238E27FC236}">
                <a16:creationId xmlns:a16="http://schemas.microsoft.com/office/drawing/2014/main" id="{B736C06E-00D8-4707-A79B-B5EB7FB81D62}"/>
              </a:ext>
            </a:extLst>
          </p:cNvPr>
          <p:cNvSpPr>
            <a:spLocks xmlns:a="http://schemas.openxmlformats.org/drawingml/2006/main" noGrp="1"/>
          </p:cNvSpPr>
          <p:nvPr/>
        </p:nvSpPr>
        <p:spPr>
          <a:xfrm xmlns:a="http://schemas.openxmlformats.org/drawingml/2006/main">
            <a:off x="4923434" y="5486400"/>
            <a:ext cx="293004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50">
                <a:solidFill>
                  <a:srgbClr val="6B7570"/>
                </a:solidFill>
                <a:latin typeface="Calibri"/>
                <a:ea typeface="Calibri"/>
                <a:cs typeface="Calibri"/>
              </a:rPr>
              <a:t>Authorised match with confidence and purpose audit.</a:t>
            </a:r>
            <a:endParaRPr sz="1050"/>
          </a:p>
        </p:txBody>
      </p:sp>
      <p:sp>
        <p:nvSpPr>
          <p:cNvPr id="42" name="Shape 38">
            <a:extLst xmlns:a="http://schemas.openxmlformats.org/drawingml/2006/main">
              <a:ext uri="{FF2B5EF4-FFF2-40B4-BE49-F238E27FC236}">
                <a16:creationId xmlns:a16="http://schemas.microsoft.com/office/drawing/2014/main" id="{AD7E2287-856B-456D-B25B-B12456331A9E}"/>
              </a:ext>
            </a:extLst>
          </p:cNvPr>
          <p:cNvSpPr>
            <a:spLocks xmlns:a="http://schemas.openxmlformats.org/drawingml/2006/main" noGrp="1"/>
          </p:cNvSpPr>
          <p:nvPr/>
        </p:nvSpPr>
        <p:spPr>
          <a:xfrm xmlns:a="http://schemas.openxmlformats.org/drawingml/2006/main">
            <a:off x="8127797" y="5257800"/>
            <a:ext cx="457200" cy="457200"/>
          </a:xfrm>
          <a:prstGeom xmlns:a="http://schemas.openxmlformats.org/drawingml/2006/main" prst="ellipse">
            <a:avLst/>
          </a:prstGeom>
          <a:solidFill xmlns:a="http://schemas.openxmlformats.org/drawingml/2006/main">
            <a:srgbClr val="E4F1EA"/>
          </a:solidFill>
        </p:spPr>
        <p:txBody>
          <a:bodyPr xmlns:a="http://schemas.openxmlformats.org/drawingml/2006/main"/>
          <a:lstStyle xmlns:a="http://schemas.openxmlformats.org/drawingml/2006/main"/>
          <a:p xmlns:a="http://schemas.openxmlformats.org/drawingml/2006/main">
            <a:endParaRPr/>
          </a:p>
        </p:txBody>
      </p:sp>
      <p:pic>
        <p:nvPicPr>
          <p:cNvPr id="92" name="Image 2"/>
          <p:cNvPicPr>
            <a:picLocks xmlns:a="http://schemas.openxmlformats.org/drawingml/2006/main" noChangeAspect="1"/>
          </p:cNvPicPr>
          <p:nvPr/>
        </p:nvPicPr>
        <p:blipFill>
          <a:blip xmlns:r="http://schemas.openxmlformats.org/officeDocument/2006/relationships" xmlns:a="http://schemas.openxmlformats.org/drawingml/2006/main" r:embed="R5ff9ece31a2641f9"/>
          <a:stretch xmlns:a="http://schemas.openxmlformats.org/drawingml/2006/main">
            <a:fillRect l="0" t="0" r="0" b="0"/>
          </a:stretch>
        </p:blipFill>
        <p:spPr>
          <a:xfrm xmlns:a="http://schemas.openxmlformats.org/drawingml/2006/main">
            <a:off x="8232953" y="5362956"/>
            <a:ext cx="246888" cy="246888"/>
          </a:xfrm>
          <a:prstGeom xmlns:a="http://schemas.openxmlformats.org/drawingml/2006/main" prst="rect">
            <a:avLst/>
          </a:prstGeom>
        </p:spPr>
      </p:pic>
      <p:sp>
        <p:nvSpPr>
          <p:cNvPr id="44" name="Text 39">
            <a:extLst xmlns:a="http://schemas.openxmlformats.org/drawingml/2006/main">
              <a:ext uri="{FF2B5EF4-FFF2-40B4-BE49-F238E27FC236}">
                <a16:creationId xmlns:a16="http://schemas.microsoft.com/office/drawing/2014/main" id="{C0B16248-C4AC-40E0-8B8A-50AC9F24E627}"/>
              </a:ext>
            </a:extLst>
          </p:cNvPr>
          <p:cNvSpPr>
            <a:spLocks xmlns:a="http://schemas.openxmlformats.org/drawingml/2006/main" noGrp="1"/>
          </p:cNvSpPr>
          <p:nvPr/>
        </p:nvSpPr>
        <p:spPr>
          <a:xfrm xmlns:a="http://schemas.openxmlformats.org/drawingml/2006/main">
            <a:off x="8713013" y="5212080"/>
            <a:ext cx="293004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242A"/>
                </a:solidFill>
                <a:latin typeface="Cambria"/>
                <a:ea typeface="Cambria"/>
                <a:cs typeface="Cambria"/>
              </a:rPr>
              <a:t>Event analytics</a:t>
            </a:r>
            <a:endParaRPr sz="1300"/>
          </a:p>
        </p:txBody>
      </p:sp>
      <p:sp>
        <p:nvSpPr>
          <p:cNvPr id="45" name="Text 40">
            <a:extLst xmlns:a="http://schemas.openxmlformats.org/drawingml/2006/main">
              <a:ext uri="{FF2B5EF4-FFF2-40B4-BE49-F238E27FC236}">
                <a16:creationId xmlns:a16="http://schemas.microsoft.com/office/drawing/2014/main" id="{88A8CA28-62CF-4840-8013-2FC521769F39}"/>
              </a:ext>
            </a:extLst>
          </p:cNvPr>
          <p:cNvSpPr>
            <a:spLocks xmlns:a="http://schemas.openxmlformats.org/drawingml/2006/main" noGrp="1"/>
          </p:cNvSpPr>
          <p:nvPr/>
        </p:nvSpPr>
        <p:spPr>
          <a:xfrm xmlns:a="http://schemas.openxmlformats.org/drawingml/2006/main">
            <a:off x="8713013" y="5486400"/>
            <a:ext cx="293004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50">
                <a:solidFill>
                  <a:srgbClr val="6B7570"/>
                </a:solidFill>
                <a:latin typeface="Calibri"/>
                <a:ea typeface="Calibri"/>
                <a:cs typeface="Calibri"/>
              </a:rPr>
              <a:t>Object, count, restricted-zone and event rules.</a:t>
            </a:r>
            <a:endParaRPr sz="1050"/>
          </a:p>
        </p:txBody>
      </p:sp>
      <p:sp>
        <p:nvSpPr>
          <p:cNvPr id="46" name="Text 41">
            <a:extLst xmlns:a="http://schemas.openxmlformats.org/drawingml/2006/main">
              <a:ext uri="{FF2B5EF4-FFF2-40B4-BE49-F238E27FC236}">
                <a16:creationId xmlns:a16="http://schemas.microsoft.com/office/drawing/2014/main" id="{0A6B776C-9DCE-48DE-894C-0A424A5F6365}"/>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150">
                <a:solidFill>
                  <a:srgbClr val="6B7570"/>
                </a:solidFill>
                <a:latin typeface="Courier New"/>
                <a:ea typeface="Courier New"/>
                <a:cs typeface="Courier New"/>
              </a:rPr>
              <a:t>SENTINEL GUJARAT</a:t>
            </a:r>
            <a:endParaRPr sz="900"/>
          </a:p>
        </p:txBody>
      </p:sp>
      <p:sp>
        <p:nvSpPr>
          <p:cNvPr id="47" name="Text 42">
            <a:extLst xmlns:a="http://schemas.openxmlformats.org/drawingml/2006/main">
              <a:ext uri="{FF2B5EF4-FFF2-40B4-BE49-F238E27FC236}">
                <a16:creationId xmlns:a16="http://schemas.microsoft.com/office/drawing/2014/main" id="{A856281D-BFD0-4572-8CBA-E6AA35E29133}"/>
              </a:ext>
            </a:extLst>
          </p:cNvPr>
          <p:cNvSpPr>
            <a:spLocks xmlns:a="http://schemas.openxmlformats.org/drawingml/2006/main" noGrp="1"/>
          </p:cNvSpPr>
          <p:nvPr/>
        </p:nvSpPr>
        <p:spPr>
          <a:xfrm xmlns:a="http://schemas.openxmlformats.org/drawingml/2006/main">
            <a:off x="10728655" y="6473952"/>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570"/>
                </a:solidFill>
                <a:latin typeface="Courier New"/>
                <a:ea typeface="Courier New"/>
                <a:cs typeface="Courier New"/>
              </a:rPr>
              <a:t>08</a:t>
            </a:r>
            <a:endParaRPr sz="900"/>
          </a:p>
        </p:txBody>
      </p:sp>
    </p:spTree>
    <p:extLst>
      <p:ext uri="{BB962C8B-B14F-4D97-AF65-F5344CB8AC3E}">
        <p14:creationId xmlns:p14="http://schemas.microsoft.com/office/powerpoint/2010/main" val="562348025"/>
      </p:ext>
    </p:extLst>
  </p:cSld>
</p:sld>
</file>

<file path=ppt/slides/slide9.xml><?xml version="1.0" encoding="utf-8"?>
<p:sld xmlns:p="http://schemas.openxmlformats.org/presentationml/2006/main">
  <p:cSld>
    <p:bg>
      <p:bgPr>
        <a:solidFill xmlns:a="http://schemas.openxmlformats.org/drawingml/2006/main">
          <a:srgbClr val="12242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74AA061-208E-4F6A-93B4-4F8853776F9C}"/>
              </a:ext>
            </a:extLst>
          </p:cNvPr>
          <p:cNvSpPr>
            <a:spLocks xmlns:a="http://schemas.openxmlformats.org/drawingml/2006/main" noGrp="1"/>
          </p:cNvSpPr>
          <p:nvPr/>
        </p:nvSpPr>
        <p:spPr>
          <a:xfrm xmlns:a="http://schemas.openxmlformats.org/drawingml/2006/main">
            <a:off x="548640" y="45720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1F7A5C"/>
                </a:solidFill>
                <a:latin typeface="Courier New"/>
                <a:ea typeface="Courier New"/>
                <a:cs typeface="Courier New"/>
              </a:rPr>
              <a:t>WATCHLIST CORRELATION</a:t>
            </a:r>
            <a:endParaRPr sz="1100"/>
          </a:p>
        </p:txBody>
      </p:sp>
      <p:sp>
        <p:nvSpPr>
          <p:cNvPr id="3" name="Text 1">
            <a:extLst xmlns:a="http://schemas.openxmlformats.org/drawingml/2006/main">
              <a:ext uri="{FF2B5EF4-FFF2-40B4-BE49-F238E27FC236}">
                <a16:creationId xmlns:a16="http://schemas.microsoft.com/office/drawing/2014/main" id="{FA231C84-8929-41DE-9BFB-81085DF95717}"/>
              </a:ext>
            </a:extLst>
          </p:cNvPr>
          <p:cNvSpPr>
            <a:spLocks xmlns:a="http://schemas.openxmlformats.org/drawingml/2006/main" noGrp="1"/>
          </p:cNvSpPr>
          <p:nvPr/>
        </p:nvSpPr>
        <p:spPr>
          <a:xfrm xmlns:a="http://schemas.openxmlformats.org/drawingml/2006/main">
            <a:off x="548640" y="749808"/>
            <a:ext cx="1078992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2500" b="1">
                <a:solidFill>
                  <a:srgbClr val="FFFFFF"/>
                </a:solidFill>
                <a:latin typeface="Cambria"/>
                <a:ea typeface="Cambria"/>
                <a:cs typeface="Cambria"/>
              </a:rPr>
              <a:t>Observation → match → priority alert → action → audit</a:t>
            </a:r>
            <a:endParaRPr sz="2500"/>
          </a:p>
        </p:txBody>
      </p:sp>
      <p:sp>
        <p:nvSpPr>
          <p:cNvPr id="4" name="Shape 2">
            <a:extLst xmlns:a="http://schemas.openxmlformats.org/drawingml/2006/main">
              <a:ext uri="{FF2B5EF4-FFF2-40B4-BE49-F238E27FC236}">
                <a16:creationId xmlns:a16="http://schemas.microsoft.com/office/drawing/2014/main" id="{36162D02-BA87-4708-8CEF-2EE04E904645}"/>
              </a:ext>
            </a:extLst>
          </p:cNvPr>
          <p:cNvSpPr>
            <a:spLocks xmlns:a="http://schemas.openxmlformats.org/drawingml/2006/main" noGrp="1"/>
          </p:cNvSpPr>
          <p:nvPr/>
        </p:nvSpPr>
        <p:spPr>
          <a:xfrm xmlns:a="http://schemas.openxmlformats.org/drawingml/2006/main">
            <a:off x="548640" y="1965960"/>
            <a:ext cx="1847088" cy="960120"/>
          </a:xfrm>
          <a:prstGeom xmlns:a="http://schemas.openxmlformats.org/drawingml/2006/main" prst="roundRect">
            <a:avLst>
              <a:gd name="adj" fmla="val 7619"/>
            </a:avLst>
          </a:prstGeom>
          <a:solidFill xmlns:a="http://schemas.openxmlformats.org/drawingml/2006/main">
            <a:srgbClr val="1B2E31"/>
          </a:solidFill>
          <a:ln xmlns:a="http://schemas.openxmlformats.org/drawingml/2006/main" w="12700">
            <a:solidFill>
              <a:srgbClr val="5C6864"/>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18133F91-8804-46AD-BB5A-EB03A8FC4DEA}"/>
              </a:ext>
            </a:extLst>
          </p:cNvPr>
          <p:cNvSpPr>
            <a:spLocks xmlns:a="http://schemas.openxmlformats.org/drawingml/2006/main" noGrp="1"/>
          </p:cNvSpPr>
          <p:nvPr/>
        </p:nvSpPr>
        <p:spPr>
          <a:xfrm xmlns:a="http://schemas.openxmlformats.org/drawingml/2006/main">
            <a:off x="640080" y="1965960"/>
            <a:ext cx="1664208"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5000"/>
              </a:lnSpc>
              <a:buNone/>
            </a:pPr>
            <a:r>
              <a:rPr sz="1400" b="1">
                <a:solidFill>
                  <a:srgbClr val="FFFFFF"/>
                </a:solidFill>
                <a:latin typeface="Cambria"/>
                <a:ea typeface="Cambria"/>
                <a:cs typeface="Cambria"/>
              </a:rPr>
              <a:t>Observation</a:t>
            </a:r>
            <a:endParaRPr sz="1400"/>
          </a:p>
        </p:txBody>
      </p:sp>
      <p:sp>
        <p:nvSpPr>
          <p:cNvPr id="6" name="Shape 4">
            <a:extLst xmlns:a="http://schemas.openxmlformats.org/drawingml/2006/main">
              <a:ext uri="{FF2B5EF4-FFF2-40B4-BE49-F238E27FC236}">
                <a16:creationId xmlns:a16="http://schemas.microsoft.com/office/drawing/2014/main" id="{8DD46ADD-3AB1-4E98-9F38-66D11FB59139}"/>
              </a:ext>
            </a:extLst>
          </p:cNvPr>
          <p:cNvSpPr>
            <a:spLocks xmlns:a="http://schemas.openxmlformats.org/drawingml/2006/main" noGrp="1"/>
          </p:cNvSpPr>
          <p:nvPr/>
        </p:nvSpPr>
        <p:spPr>
          <a:xfrm xmlns:a="http://schemas.openxmlformats.org/drawingml/2006/main">
            <a:off x="2395728" y="2391156"/>
            <a:ext cx="373304" cy="109728"/>
          </a:xfrm>
          <a:prstGeom xmlns:a="http://schemas.openxmlformats.org/drawingml/2006/main" prst="rightArrow">
            <a:avLst/>
          </a:prstGeom>
          <a:solidFill xmlns:a="http://schemas.openxmlformats.org/drawingml/2006/main">
            <a:srgbClr val="1F7A5C"/>
          </a:solidFill>
        </p:spPr>
        <p:txBody>
          <a:bodyPr xmlns:a="http://schemas.openxmlformats.org/drawingml/2006/main"/>
          <a:lstStyle xmlns:a="http://schemas.openxmlformats.org/drawingml/2006/main"/>
          <a:p xmlns:a="http://schemas.openxmlformats.org/drawingml/2006/main">
            <a:endParaRPr/>
          </a:p>
        </p:txBody>
      </p:sp>
      <p:sp>
        <p:nvSpPr>
          <p:cNvPr id="7" name="Shape 5">
            <a:extLst xmlns:a="http://schemas.openxmlformats.org/drawingml/2006/main">
              <a:ext uri="{FF2B5EF4-FFF2-40B4-BE49-F238E27FC236}">
                <a16:creationId xmlns:a16="http://schemas.microsoft.com/office/drawing/2014/main" id="{8A751A17-29DB-43E2-9892-7141B68B5FF9}"/>
              </a:ext>
            </a:extLst>
          </p:cNvPr>
          <p:cNvSpPr>
            <a:spLocks xmlns:a="http://schemas.openxmlformats.org/drawingml/2006/main" noGrp="1"/>
          </p:cNvSpPr>
          <p:nvPr/>
        </p:nvSpPr>
        <p:spPr>
          <a:xfrm xmlns:a="http://schemas.openxmlformats.org/drawingml/2006/main">
            <a:off x="2860472" y="1965960"/>
            <a:ext cx="1847088" cy="960120"/>
          </a:xfrm>
          <a:prstGeom xmlns:a="http://schemas.openxmlformats.org/drawingml/2006/main" prst="roundRect">
            <a:avLst>
              <a:gd name="adj" fmla="val 7619"/>
            </a:avLst>
          </a:prstGeom>
          <a:solidFill xmlns:a="http://schemas.openxmlformats.org/drawingml/2006/main">
            <a:srgbClr val="1B2E31"/>
          </a:solidFill>
          <a:ln xmlns:a="http://schemas.openxmlformats.org/drawingml/2006/main" w="12700">
            <a:solidFill>
              <a:srgbClr val="5C6864"/>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9BFC6E5C-8E94-4945-8F65-F902A90FACFC}"/>
              </a:ext>
            </a:extLst>
          </p:cNvPr>
          <p:cNvSpPr>
            <a:spLocks xmlns:a="http://schemas.openxmlformats.org/drawingml/2006/main" noGrp="1"/>
          </p:cNvSpPr>
          <p:nvPr/>
        </p:nvSpPr>
        <p:spPr>
          <a:xfrm xmlns:a="http://schemas.openxmlformats.org/drawingml/2006/main">
            <a:off x="2951912" y="1965960"/>
            <a:ext cx="1664208"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5000"/>
              </a:lnSpc>
              <a:buNone/>
            </a:pPr>
            <a:r>
              <a:rPr sz="1400" b="1">
                <a:solidFill>
                  <a:srgbClr val="FFFFFF"/>
                </a:solidFill>
                <a:latin typeface="Cambria"/>
                <a:ea typeface="Cambria"/>
                <a:cs typeface="Cambria"/>
              </a:rPr>
              <a:t>Match</a:t>
            </a:r>
            <a:endParaRPr sz="1400"/>
          </a:p>
          <a:p xmlns:a="http://schemas.openxmlformats.org/drawingml/2006/main">
            <a:pPr marL="0" indent="0" algn="ctr">
              <a:lnSpc>
                <a:spcPct val="105000"/>
              </a:lnSpc>
              <a:buNone/>
            </a:pPr>
            <a:r>
              <a:rPr sz="1400" b="1">
                <a:solidFill>
                  <a:srgbClr val="FFFFFF"/>
                </a:solidFill>
                <a:latin typeface="Cambria"/>
                <a:ea typeface="Cambria"/>
                <a:cs typeface="Cambria"/>
              </a:rPr>
              <a:t>decision</a:t>
            </a:r>
            <a:endParaRPr sz="1400"/>
          </a:p>
        </p:txBody>
      </p:sp>
      <p:sp>
        <p:nvSpPr>
          <p:cNvPr id="9" name="Shape 7">
            <a:extLst xmlns:a="http://schemas.openxmlformats.org/drawingml/2006/main">
              <a:ext uri="{FF2B5EF4-FFF2-40B4-BE49-F238E27FC236}">
                <a16:creationId xmlns:a16="http://schemas.microsoft.com/office/drawing/2014/main" id="{AC34FC65-5BF5-47D5-A2AA-C3307130F261}"/>
              </a:ext>
            </a:extLst>
          </p:cNvPr>
          <p:cNvSpPr>
            <a:spLocks xmlns:a="http://schemas.openxmlformats.org/drawingml/2006/main" noGrp="1"/>
          </p:cNvSpPr>
          <p:nvPr/>
        </p:nvSpPr>
        <p:spPr>
          <a:xfrm xmlns:a="http://schemas.openxmlformats.org/drawingml/2006/main">
            <a:off x="4707560" y="2391156"/>
            <a:ext cx="373304" cy="109728"/>
          </a:xfrm>
          <a:prstGeom xmlns:a="http://schemas.openxmlformats.org/drawingml/2006/main" prst="rightArrow">
            <a:avLst/>
          </a:prstGeom>
          <a:solidFill xmlns:a="http://schemas.openxmlformats.org/drawingml/2006/main">
            <a:srgbClr val="1F7A5C"/>
          </a:solidFill>
        </p:spPr>
        <p:txBody>
          <a:bodyPr xmlns:a="http://schemas.openxmlformats.org/drawingml/2006/main"/>
          <a:lstStyle xmlns:a="http://schemas.openxmlformats.org/drawingml/2006/main"/>
          <a:p xmlns:a="http://schemas.openxmlformats.org/drawingml/2006/main">
            <a:endParaRPr/>
          </a:p>
        </p:txBody>
      </p:sp>
      <p:sp>
        <p:nvSpPr>
          <p:cNvPr id="10" name="Shape 8">
            <a:extLst xmlns:a="http://schemas.openxmlformats.org/drawingml/2006/main">
              <a:ext uri="{FF2B5EF4-FFF2-40B4-BE49-F238E27FC236}">
                <a16:creationId xmlns:a16="http://schemas.microsoft.com/office/drawing/2014/main" id="{2F416ED8-75B7-4414-B54A-4DB09E634149}"/>
              </a:ext>
            </a:extLst>
          </p:cNvPr>
          <p:cNvSpPr>
            <a:spLocks xmlns:a="http://schemas.openxmlformats.org/drawingml/2006/main" noGrp="1"/>
          </p:cNvSpPr>
          <p:nvPr/>
        </p:nvSpPr>
        <p:spPr>
          <a:xfrm xmlns:a="http://schemas.openxmlformats.org/drawingml/2006/main">
            <a:off x="5172304" y="1965960"/>
            <a:ext cx="1847088" cy="960120"/>
          </a:xfrm>
          <a:prstGeom xmlns:a="http://schemas.openxmlformats.org/drawingml/2006/main" prst="roundRect">
            <a:avLst>
              <a:gd name="adj" fmla="val 7619"/>
            </a:avLst>
          </a:prstGeom>
          <a:solidFill xmlns:a="http://schemas.openxmlformats.org/drawingml/2006/main">
            <a:srgbClr val="1B2E31"/>
          </a:solidFill>
          <a:ln xmlns:a="http://schemas.openxmlformats.org/drawingml/2006/main" w="12700">
            <a:solidFill>
              <a:srgbClr val="5C6864"/>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1C9EAD20-A5F7-45CF-912E-F679686499EA}"/>
              </a:ext>
            </a:extLst>
          </p:cNvPr>
          <p:cNvSpPr>
            <a:spLocks xmlns:a="http://schemas.openxmlformats.org/drawingml/2006/main" noGrp="1"/>
          </p:cNvSpPr>
          <p:nvPr/>
        </p:nvSpPr>
        <p:spPr>
          <a:xfrm xmlns:a="http://schemas.openxmlformats.org/drawingml/2006/main">
            <a:off x="5263744" y="1965960"/>
            <a:ext cx="1664208"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5000"/>
              </a:lnSpc>
              <a:buNone/>
            </a:pPr>
            <a:r>
              <a:rPr sz="1400" b="1">
                <a:solidFill>
                  <a:srgbClr val="FFFFFF"/>
                </a:solidFill>
                <a:latin typeface="Cambria"/>
                <a:ea typeface="Cambria"/>
                <a:cs typeface="Cambria"/>
              </a:rPr>
              <a:t>Priority alert</a:t>
            </a:r>
            <a:endParaRPr sz="1400"/>
          </a:p>
        </p:txBody>
      </p:sp>
      <p:sp>
        <p:nvSpPr>
          <p:cNvPr id="12" name="Shape 10">
            <a:extLst xmlns:a="http://schemas.openxmlformats.org/drawingml/2006/main">
              <a:ext uri="{FF2B5EF4-FFF2-40B4-BE49-F238E27FC236}">
                <a16:creationId xmlns:a16="http://schemas.microsoft.com/office/drawing/2014/main" id="{43653763-87C1-4E7B-993B-3BF94E6E4D4D}"/>
              </a:ext>
            </a:extLst>
          </p:cNvPr>
          <p:cNvSpPr>
            <a:spLocks xmlns:a="http://schemas.openxmlformats.org/drawingml/2006/main" noGrp="1"/>
          </p:cNvSpPr>
          <p:nvPr/>
        </p:nvSpPr>
        <p:spPr>
          <a:xfrm xmlns:a="http://schemas.openxmlformats.org/drawingml/2006/main">
            <a:off x="7019392" y="2391156"/>
            <a:ext cx="373304" cy="109728"/>
          </a:xfrm>
          <a:prstGeom xmlns:a="http://schemas.openxmlformats.org/drawingml/2006/main" prst="rightArrow">
            <a:avLst/>
          </a:prstGeom>
          <a:solidFill xmlns:a="http://schemas.openxmlformats.org/drawingml/2006/main">
            <a:srgbClr val="1F7A5C"/>
          </a:solidFill>
        </p:spPr>
        <p:txBody>
          <a:bodyPr xmlns:a="http://schemas.openxmlformats.org/drawingml/2006/main"/>
          <a:lstStyle xmlns:a="http://schemas.openxmlformats.org/drawingml/2006/main"/>
          <a:p xmlns:a="http://schemas.openxmlformats.org/drawingml/2006/main">
            <a:endParaRPr/>
          </a:p>
        </p:txBody>
      </p:sp>
      <p:sp>
        <p:nvSpPr>
          <p:cNvPr id="13" name="Shape 11">
            <a:extLst xmlns:a="http://schemas.openxmlformats.org/drawingml/2006/main">
              <a:ext uri="{FF2B5EF4-FFF2-40B4-BE49-F238E27FC236}">
                <a16:creationId xmlns:a16="http://schemas.microsoft.com/office/drawing/2014/main" id="{FE0F806D-088D-486C-9858-E7FC0683FA4B}"/>
              </a:ext>
            </a:extLst>
          </p:cNvPr>
          <p:cNvSpPr>
            <a:spLocks xmlns:a="http://schemas.openxmlformats.org/drawingml/2006/main" noGrp="1"/>
          </p:cNvSpPr>
          <p:nvPr/>
        </p:nvSpPr>
        <p:spPr>
          <a:xfrm xmlns:a="http://schemas.openxmlformats.org/drawingml/2006/main">
            <a:off x="7484135" y="1965960"/>
            <a:ext cx="1847088" cy="960120"/>
          </a:xfrm>
          <a:prstGeom xmlns:a="http://schemas.openxmlformats.org/drawingml/2006/main" prst="roundRect">
            <a:avLst>
              <a:gd name="adj" fmla="val 7619"/>
            </a:avLst>
          </a:prstGeom>
          <a:solidFill xmlns:a="http://schemas.openxmlformats.org/drawingml/2006/main">
            <a:srgbClr val="1B2E31"/>
          </a:solidFill>
          <a:ln xmlns:a="http://schemas.openxmlformats.org/drawingml/2006/main" w="12700">
            <a:solidFill>
              <a:srgbClr val="5C6864"/>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915069A8-62DF-4844-A063-378D83AC24BC}"/>
              </a:ext>
            </a:extLst>
          </p:cNvPr>
          <p:cNvSpPr>
            <a:spLocks xmlns:a="http://schemas.openxmlformats.org/drawingml/2006/main" noGrp="1"/>
          </p:cNvSpPr>
          <p:nvPr/>
        </p:nvSpPr>
        <p:spPr>
          <a:xfrm xmlns:a="http://schemas.openxmlformats.org/drawingml/2006/main">
            <a:off x="7575575" y="1965960"/>
            <a:ext cx="1664208"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5000"/>
              </a:lnSpc>
              <a:buNone/>
            </a:pPr>
            <a:r>
              <a:rPr sz="1400" b="1">
                <a:solidFill>
                  <a:srgbClr val="FFFFFF"/>
                </a:solidFill>
                <a:latin typeface="Cambria"/>
                <a:ea typeface="Cambria"/>
                <a:cs typeface="Cambria"/>
              </a:rPr>
              <a:t>Operator action</a:t>
            </a:r>
            <a:endParaRPr sz="1400"/>
          </a:p>
        </p:txBody>
      </p:sp>
      <p:sp>
        <p:nvSpPr>
          <p:cNvPr id="15" name="Shape 13">
            <a:extLst xmlns:a="http://schemas.openxmlformats.org/drawingml/2006/main">
              <a:ext uri="{FF2B5EF4-FFF2-40B4-BE49-F238E27FC236}">
                <a16:creationId xmlns:a16="http://schemas.microsoft.com/office/drawing/2014/main" id="{FE52ABBC-C8FC-425C-81D8-DD7D63ECAA94}"/>
              </a:ext>
            </a:extLst>
          </p:cNvPr>
          <p:cNvSpPr>
            <a:spLocks xmlns:a="http://schemas.openxmlformats.org/drawingml/2006/main" noGrp="1"/>
          </p:cNvSpPr>
          <p:nvPr/>
        </p:nvSpPr>
        <p:spPr>
          <a:xfrm xmlns:a="http://schemas.openxmlformats.org/drawingml/2006/main">
            <a:off x="9331223" y="2391156"/>
            <a:ext cx="373304" cy="109728"/>
          </a:xfrm>
          <a:prstGeom xmlns:a="http://schemas.openxmlformats.org/drawingml/2006/main" prst="rightArrow">
            <a:avLst/>
          </a:prstGeom>
          <a:solidFill xmlns:a="http://schemas.openxmlformats.org/drawingml/2006/main">
            <a:srgbClr val="1F7A5C"/>
          </a:solidFill>
        </p:spPr>
        <p:txBody>
          <a:bodyPr xmlns:a="http://schemas.openxmlformats.org/drawingml/2006/main"/>
          <a:lstStyle xmlns:a="http://schemas.openxmlformats.org/drawingml/2006/main"/>
          <a:p xmlns:a="http://schemas.openxmlformats.org/drawingml/2006/main">
            <a:endParaRPr/>
          </a:p>
        </p:txBody>
      </p:sp>
      <p:sp>
        <p:nvSpPr>
          <p:cNvPr id="16" name="Shape 14">
            <a:extLst xmlns:a="http://schemas.openxmlformats.org/drawingml/2006/main">
              <a:ext uri="{FF2B5EF4-FFF2-40B4-BE49-F238E27FC236}">
                <a16:creationId xmlns:a16="http://schemas.microsoft.com/office/drawing/2014/main" id="{46060798-CC8C-42CE-8B9B-9FA63FF32185}"/>
              </a:ext>
            </a:extLst>
          </p:cNvPr>
          <p:cNvSpPr>
            <a:spLocks xmlns:a="http://schemas.openxmlformats.org/drawingml/2006/main" noGrp="1"/>
          </p:cNvSpPr>
          <p:nvPr/>
        </p:nvSpPr>
        <p:spPr>
          <a:xfrm xmlns:a="http://schemas.openxmlformats.org/drawingml/2006/main">
            <a:off x="9795967" y="1965960"/>
            <a:ext cx="1847088" cy="960120"/>
          </a:xfrm>
          <a:prstGeom xmlns:a="http://schemas.openxmlformats.org/drawingml/2006/main" prst="roundRect">
            <a:avLst>
              <a:gd name="adj" fmla="val 7619"/>
            </a:avLst>
          </a:prstGeom>
          <a:solidFill xmlns:a="http://schemas.openxmlformats.org/drawingml/2006/main">
            <a:srgbClr val="1B2E31"/>
          </a:solidFill>
          <a:ln xmlns:a="http://schemas.openxmlformats.org/drawingml/2006/main" w="12700">
            <a:solidFill>
              <a:srgbClr val="5C6864"/>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667680FD-C545-49A2-B90B-F7990E4BF3B9}"/>
              </a:ext>
            </a:extLst>
          </p:cNvPr>
          <p:cNvSpPr>
            <a:spLocks xmlns:a="http://schemas.openxmlformats.org/drawingml/2006/main" noGrp="1"/>
          </p:cNvSpPr>
          <p:nvPr/>
        </p:nvSpPr>
        <p:spPr>
          <a:xfrm xmlns:a="http://schemas.openxmlformats.org/drawingml/2006/main">
            <a:off x="9887407" y="1965960"/>
            <a:ext cx="1664208"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5000"/>
              </a:lnSpc>
              <a:buNone/>
            </a:pPr>
            <a:r>
              <a:rPr sz="1400" b="1">
                <a:solidFill>
                  <a:srgbClr val="FFFFFF"/>
                </a:solidFill>
                <a:latin typeface="Cambria"/>
                <a:ea typeface="Cambria"/>
                <a:cs typeface="Cambria"/>
              </a:rPr>
              <a:t>Audit</a:t>
            </a:r>
            <a:endParaRPr sz="1400"/>
          </a:p>
        </p:txBody>
      </p:sp>
      <p:sp>
        <p:nvSpPr>
          <p:cNvPr id="18" name="Shape 16">
            <a:extLst xmlns:a="http://schemas.openxmlformats.org/drawingml/2006/main">
              <a:ext uri="{FF2B5EF4-FFF2-40B4-BE49-F238E27FC236}">
                <a16:creationId xmlns:a16="http://schemas.microsoft.com/office/drawing/2014/main" id="{BA36CB6A-6133-450A-BE8C-481EDF6C6A95}"/>
              </a:ext>
            </a:extLst>
          </p:cNvPr>
          <p:cNvSpPr>
            <a:spLocks xmlns:a="http://schemas.openxmlformats.org/drawingml/2006/main" noGrp="1"/>
          </p:cNvSpPr>
          <p:nvPr/>
        </p:nvSpPr>
        <p:spPr>
          <a:xfrm xmlns:a="http://schemas.openxmlformats.org/drawingml/2006/main">
            <a:off x="1389888" y="3429000"/>
            <a:ext cx="2487168" cy="658368"/>
          </a:xfrm>
          <a:prstGeom xmlns:a="http://schemas.openxmlformats.org/drawingml/2006/main" prst="roundRect">
            <a:avLst>
              <a:gd name="adj" fmla="val 11111"/>
            </a:avLst>
          </a:prstGeom>
          <a:solidFill xmlns:a="http://schemas.openxmlformats.org/drawingml/2006/main">
            <a:srgbClr val="12242A"/>
          </a:solidFill>
          <a:ln xmlns:a="http://schemas.openxmlformats.org/drawingml/2006/main" w="15875">
            <a:solidFill>
              <a:srgbClr val="B23B2E"/>
            </a:solidFill>
            <a:prstDash val="dash"/>
          </a:ln>
        </p:spPr>
        <p:txBody>
          <a:bodyPr xmlns:a="http://schemas.openxmlformats.org/drawingml/2006/main"/>
          <a:lstStyle xmlns:a="http://schemas.openxmlformats.org/drawingml/2006/main"/>
          <a:p xmlns:a="http://schemas.openxmlformats.org/drawingml/2006/main">
            <a:endParaRPr/>
          </a:p>
        </p:txBody>
      </p:sp>
      <p:sp>
        <p:nvSpPr>
          <p:cNvPr id="19" name="Text 17">
            <a:extLst xmlns:a="http://schemas.openxmlformats.org/drawingml/2006/main">
              <a:ext uri="{FF2B5EF4-FFF2-40B4-BE49-F238E27FC236}">
                <a16:creationId xmlns:a16="http://schemas.microsoft.com/office/drawing/2014/main" id="{00803202-6F84-477E-AFB4-22FB48F072B6}"/>
              </a:ext>
            </a:extLst>
          </p:cNvPr>
          <p:cNvSpPr>
            <a:spLocks xmlns:a="http://schemas.openxmlformats.org/drawingml/2006/main" noGrp="1"/>
          </p:cNvSpPr>
          <p:nvPr/>
        </p:nvSpPr>
        <p:spPr>
          <a:xfrm xmlns:a="http://schemas.openxmlformats.org/drawingml/2006/main">
            <a:off x="1389888" y="3429000"/>
            <a:ext cx="24871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10000"/>
              </a:lnSpc>
              <a:buNone/>
            </a:pPr>
            <a:r>
              <a:rPr sz="1050">
                <a:solidFill>
                  <a:srgbClr val="C9D2CE"/>
                </a:solidFill>
                <a:latin typeface="Calibri"/>
                <a:ea typeface="Calibri"/>
                <a:cs typeface="Calibri"/>
              </a:rPr>
              <a:t>Non-watchlist event</a:t>
            </a:r>
            <a:endParaRPr sz="1050"/>
          </a:p>
          <a:p xmlns:a="http://schemas.openxmlformats.org/drawingml/2006/main">
            <a:pPr marL="0" indent="0" algn="ctr">
              <a:lnSpc>
                <a:spcPct val="110000"/>
              </a:lnSpc>
              <a:buNone/>
            </a:pPr>
            <a:r>
              <a:rPr sz="1050">
                <a:solidFill>
                  <a:srgbClr val="C9D2CE"/>
                </a:solidFill>
                <a:latin typeface="Calibri"/>
                <a:ea typeface="Calibri"/>
                <a:cs typeface="Calibri"/>
              </a:rPr>
              <a:t>analytics</a:t>
            </a:r>
            <a:endParaRPr sz="1050"/>
          </a:p>
        </p:txBody>
      </p:sp>
      <p:sp>
        <p:nvSpPr>
          <p:cNvPr id="201" name="Susp Elbow 1">
            <a:extLst xmlns:a="http://schemas.openxmlformats.org/drawingml/2006/main">
              <a:ext uri="{FF2B5EF4-FFF2-40B4-BE49-F238E27FC236}">
                <a16:creationId xmlns:a16="http://schemas.microsoft.com/office/drawing/2014/main" id="{1BDCE7F7-FABB-49C4-934B-19A95AD4A9AF}"/>
              </a:ext>
            </a:extLst>
          </p:cNvPr>
          <p:cNvSpPr>
            <a:spLocks xmlns:a="http://schemas.openxmlformats.org/drawingml/2006/main" noGrp="1"/>
          </p:cNvSpPr>
          <p:nvPr/>
        </p:nvSpPr>
        <p:spPr>
          <a:xfrm xmlns:a="http://schemas.openxmlformats.org/drawingml/2006/main">
            <a:off x="2633472" y="3177540"/>
            <a:ext cx="914" cy="251460"/>
          </a:xfrm>
          <a:prstGeom xmlns:a="http://schemas.openxmlformats.org/drawingml/2006/main" prst="line">
            <a:avLst/>
          </a:prstGeom>
          <a:noFill xmlns:a="http://schemas.openxmlformats.org/drawingml/2006/main"/>
          <a:ln xmlns:a="http://schemas.openxmlformats.org/drawingml/2006/main" w="15875">
            <a:solidFill>
              <a:srgbClr val="B23B2E"/>
            </a:solidFill>
            <a:prstDash val="dash"/>
          </a:ln>
        </p:spPr>
        <p:txBody>
          <a:bodyPr xmlns:a="http://schemas.openxmlformats.org/drawingml/2006/main"/>
          <a:lstStyle xmlns:a="http://schemas.openxmlformats.org/drawingml/2006/main"/>
          <a:p xmlns:a="http://schemas.openxmlformats.org/drawingml/2006/main">
            <a:endParaRPr/>
          </a:p>
        </p:txBody>
      </p:sp>
      <p:sp>
        <p:nvSpPr>
          <p:cNvPr id="202" name="Susp Elbow 2">
            <a:extLst xmlns:a="http://schemas.openxmlformats.org/drawingml/2006/main">
              <a:ext uri="{FF2B5EF4-FFF2-40B4-BE49-F238E27FC236}">
                <a16:creationId xmlns:a16="http://schemas.microsoft.com/office/drawing/2014/main" id="{EB7F0F36-95F1-413E-A399-D1EFA1CC8BC1}"/>
              </a:ext>
            </a:extLst>
          </p:cNvPr>
          <p:cNvSpPr>
            <a:spLocks xmlns:a="http://schemas.openxmlformats.org/drawingml/2006/main" noGrp="1"/>
          </p:cNvSpPr>
          <p:nvPr/>
        </p:nvSpPr>
        <p:spPr>
          <a:xfrm xmlns:a="http://schemas.openxmlformats.org/drawingml/2006/main">
            <a:off x="2633472" y="3177540"/>
            <a:ext cx="3465576" cy="914"/>
          </a:xfrm>
          <a:prstGeom xmlns:a="http://schemas.openxmlformats.org/drawingml/2006/main" prst="line">
            <a:avLst/>
          </a:prstGeom>
          <a:noFill xmlns:a="http://schemas.openxmlformats.org/drawingml/2006/main"/>
          <a:ln xmlns:a="http://schemas.openxmlformats.org/drawingml/2006/main" w="15875">
            <a:solidFill>
              <a:srgbClr val="B23B2E"/>
            </a:solidFill>
            <a:prstDash val="dash"/>
          </a:ln>
        </p:spPr>
        <p:txBody>
          <a:bodyPr xmlns:a="http://schemas.openxmlformats.org/drawingml/2006/main"/>
          <a:lstStyle xmlns:a="http://schemas.openxmlformats.org/drawingml/2006/main"/>
          <a:p xmlns:a="http://schemas.openxmlformats.org/drawingml/2006/main">
            <a:endParaRPr/>
          </a:p>
        </p:txBody>
      </p:sp>
      <p:sp>
        <p:nvSpPr>
          <p:cNvPr id="203" name="Susp Elbow 3">
            <a:extLst xmlns:a="http://schemas.openxmlformats.org/drawingml/2006/main">
              <a:ext uri="{FF2B5EF4-FFF2-40B4-BE49-F238E27FC236}">
                <a16:creationId xmlns:a16="http://schemas.microsoft.com/office/drawing/2014/main" id="{74CA36E7-B81C-45B0-8EFD-BD521C06952F}"/>
              </a:ext>
            </a:extLst>
          </p:cNvPr>
          <p:cNvSpPr>
            <a:spLocks xmlns:a="http://schemas.openxmlformats.org/drawingml/2006/main" noGrp="1"/>
          </p:cNvSpPr>
          <p:nvPr/>
        </p:nvSpPr>
        <p:spPr>
          <a:xfrm xmlns:a="http://schemas.openxmlformats.org/drawingml/2006/main">
            <a:off x="6099048" y="2926080"/>
            <a:ext cx="914" cy="251460"/>
          </a:xfrm>
          <a:prstGeom xmlns:a="http://schemas.openxmlformats.org/drawingml/2006/main" prst="line">
            <a:avLst/>
          </a:prstGeom>
          <a:noFill xmlns:a="http://schemas.openxmlformats.org/drawingml/2006/main"/>
          <a:ln xmlns:a="http://schemas.openxmlformats.org/drawingml/2006/main" w="15875">
            <a:solidFill>
              <a:srgbClr val="B23B2E"/>
            </a:solidFill>
            <a:prstDash val="dash"/>
            <a:headEnd type="triangle" w="med" len="med"/>
            <a:tailEnd type="none"/>
          </a:ln>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E707F8BE-A9F8-4DF5-8849-CC9911002EAA}"/>
              </a:ext>
            </a:extLst>
          </p:cNvPr>
          <p:cNvSpPr>
            <a:spLocks xmlns:a="http://schemas.openxmlformats.org/drawingml/2006/main" noGrp="1"/>
          </p:cNvSpPr>
          <p:nvPr/>
        </p:nvSpPr>
        <p:spPr>
          <a:xfrm xmlns:a="http://schemas.openxmlformats.org/drawingml/2006/main">
            <a:off x="548640" y="4343400"/>
            <a:ext cx="969264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0000"/>
              </a:lnSpc>
              <a:buNone/>
            </a:pPr>
            <a:r>
              <a:rPr sz="1450">
                <a:solidFill>
                  <a:srgbClr val="C9D2CE"/>
                </a:solidFill>
                <a:latin typeface="Calibri"/>
                <a:ea typeface="Calibri"/>
                <a:cs typeface="Calibri"/>
              </a:rPr>
              <a:t>ANPR, FRS and event observations are compared with active lists for stolen or blacklisted vehicles, wanted or missing persons, and suspect watchlists. Time windows, confidence, deduplication and department scope control alert creation; every action is recorded.</a:t>
            </a:r>
            <a:endParaRPr sz="1450"/>
          </a:p>
        </p:txBody>
      </p:sp>
      <p:sp>
        <p:nvSpPr>
          <p:cNvPr id="22" name="Shape 20">
            <a:extLst xmlns:a="http://schemas.openxmlformats.org/drawingml/2006/main">
              <a:ext uri="{FF2B5EF4-FFF2-40B4-BE49-F238E27FC236}">
                <a16:creationId xmlns:a16="http://schemas.microsoft.com/office/drawing/2014/main" id="{A3F28969-0F47-47ED-89BA-C0C452890607}"/>
              </a:ext>
            </a:extLst>
          </p:cNvPr>
          <p:cNvSpPr>
            <a:spLocks xmlns:a="http://schemas.openxmlformats.org/drawingml/2006/main" noGrp="1"/>
          </p:cNvSpPr>
          <p:nvPr/>
        </p:nvSpPr>
        <p:spPr>
          <a:xfrm xmlns:a="http://schemas.openxmlformats.org/drawingml/2006/main">
            <a:off x="548640" y="5440680"/>
            <a:ext cx="128016" cy="128016"/>
          </a:xfrm>
          <a:prstGeom xmlns:a="http://schemas.openxmlformats.org/drawingml/2006/main" prst="roundRect">
            <a:avLst>
              <a:gd name="adj" fmla="val 14286"/>
            </a:avLst>
          </a:prstGeom>
          <a:solidFill xmlns:a="http://schemas.openxmlformats.org/drawingml/2006/main">
            <a:srgbClr val="1F7A5C"/>
          </a:solidFill>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39DCBB2D-9010-4DC9-877B-636CF5EB3BEA}"/>
              </a:ext>
            </a:extLst>
          </p:cNvPr>
          <p:cNvSpPr>
            <a:spLocks xmlns:a="http://schemas.openxmlformats.org/drawingml/2006/main" noGrp="1"/>
          </p:cNvSpPr>
          <p:nvPr/>
        </p:nvSpPr>
        <p:spPr>
          <a:xfrm xmlns:a="http://schemas.openxmlformats.org/drawingml/2006/main">
            <a:off x="786384" y="5394960"/>
            <a:ext cx="2743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00">
                <a:solidFill>
                  <a:srgbClr val="1F7A5C"/>
                </a:solidFill>
                <a:latin typeface="Courier New"/>
                <a:ea typeface="Courier New"/>
                <a:cs typeface="Courier New"/>
              </a:rPr>
              <a:t>REAL-TIME CORRELATION</a:t>
            </a:r>
            <a:endParaRPr sz="1000"/>
          </a:p>
        </p:txBody>
      </p:sp>
      <p:sp>
        <p:nvSpPr>
          <p:cNvPr id="24" name="Text 22">
            <a:extLst xmlns:a="http://schemas.openxmlformats.org/drawingml/2006/main">
              <a:ext uri="{FF2B5EF4-FFF2-40B4-BE49-F238E27FC236}">
                <a16:creationId xmlns:a16="http://schemas.microsoft.com/office/drawing/2014/main" id="{8B8BF363-9208-40F0-87E4-CC000C321322}"/>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150">
                <a:solidFill>
                  <a:srgbClr val="8E9B96"/>
                </a:solidFill>
                <a:latin typeface="Courier New"/>
                <a:ea typeface="Courier New"/>
                <a:cs typeface="Courier New"/>
              </a:rPr>
              <a:t>SENTINEL GUJARAT</a:t>
            </a:r>
            <a:endParaRPr sz="900"/>
          </a:p>
        </p:txBody>
      </p:sp>
      <p:sp>
        <p:nvSpPr>
          <p:cNvPr id="25" name="Text 23">
            <a:extLst xmlns:a="http://schemas.openxmlformats.org/drawingml/2006/main">
              <a:ext uri="{FF2B5EF4-FFF2-40B4-BE49-F238E27FC236}">
                <a16:creationId xmlns:a16="http://schemas.microsoft.com/office/drawing/2014/main" id="{5BF9C10B-CE21-48AB-A94C-FA9EDFEC76D4}"/>
              </a:ext>
            </a:extLst>
          </p:cNvPr>
          <p:cNvSpPr>
            <a:spLocks xmlns:a="http://schemas.openxmlformats.org/drawingml/2006/main" noGrp="1"/>
          </p:cNvSpPr>
          <p:nvPr/>
        </p:nvSpPr>
        <p:spPr>
          <a:xfrm xmlns:a="http://schemas.openxmlformats.org/drawingml/2006/main">
            <a:off x="10728655" y="6473952"/>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8E9B96"/>
                </a:solidFill>
                <a:latin typeface="Courier New"/>
                <a:ea typeface="Courier New"/>
                <a:cs typeface="Courier New"/>
              </a:rPr>
              <a:t>09</a:t>
            </a:r>
            <a:endParaRPr sz="900"/>
          </a:p>
        </p:txBody>
      </p:sp>
    </p:spTree>
    <p:extLst>
      <p:ext uri="{BB962C8B-B14F-4D97-AF65-F5344CB8AC3E}">
        <p14:creationId xmlns:p14="http://schemas.microsoft.com/office/powerpoint/2010/main" val="41606113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09607A9-B98A-4C6B-8655-9CA86F646D6E}"/>
              </a:ext>
            </a:extLst>
          </p:cNvPr>
          <p:cNvSpPr>
            <a:spLocks xmlns:a="http://schemas.openxmlformats.org/drawingml/2006/main" noGrp="1"/>
          </p:cNvSpPr>
          <p:nvPr/>
        </p:nvSpPr>
        <p:spPr>
          <a:xfrm xmlns:a="http://schemas.openxmlformats.org/drawingml/2006/main">
            <a:off x="548640" y="45720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1F7A5C"/>
                </a:solidFill>
                <a:latin typeface="Courier New"/>
                <a:ea typeface="Courier New"/>
                <a:cs typeface="Courier New"/>
              </a:rPr>
              <a:t>EVIDENCE + INVESTIGATION</a:t>
            </a:r>
            <a:endParaRPr sz="1100"/>
          </a:p>
        </p:txBody>
      </p:sp>
      <p:sp>
        <p:nvSpPr>
          <p:cNvPr id="3" name="Text 1">
            <a:extLst xmlns:a="http://schemas.openxmlformats.org/drawingml/2006/main">
              <a:ext uri="{FF2B5EF4-FFF2-40B4-BE49-F238E27FC236}">
                <a16:creationId xmlns:a16="http://schemas.microsoft.com/office/drawing/2014/main" id="{2FC70159-D9B4-45A9-A5B7-EECA024E7D35}"/>
              </a:ext>
            </a:extLst>
          </p:cNvPr>
          <p:cNvSpPr>
            <a:spLocks xmlns:a="http://schemas.openxmlformats.org/drawingml/2006/main" noGrp="1"/>
          </p:cNvSpPr>
          <p:nvPr/>
        </p:nvSpPr>
        <p:spPr>
          <a:xfrm xmlns:a="http://schemas.openxmlformats.org/drawingml/2006/main">
            <a:off x="548640" y="749808"/>
            <a:ext cx="1078992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2400" b="1">
                <a:solidFill>
                  <a:srgbClr val="12242A"/>
                </a:solidFill>
                <a:latin typeface="Cambria"/>
                <a:ea typeface="Cambria"/>
                <a:cs typeface="Cambria"/>
              </a:rPr>
              <a:t>Search connects alerts, sightings and recorded footage</a:t>
            </a:r>
            <a:endParaRPr sz="2400"/>
          </a:p>
        </p:txBody>
      </p:sp>
      <p:sp>
        <p:nvSpPr>
          <p:cNvPr id="4" name="Text 2">
            <a:extLst xmlns:a="http://schemas.openxmlformats.org/drawingml/2006/main">
              <a:ext uri="{FF2B5EF4-FFF2-40B4-BE49-F238E27FC236}">
                <a16:creationId xmlns:a16="http://schemas.microsoft.com/office/drawing/2014/main" id="{DCEFB635-1C13-4378-BA24-2F4DFE8C740D}"/>
              </a:ext>
            </a:extLst>
          </p:cNvPr>
          <p:cNvSpPr>
            <a:spLocks xmlns:a="http://schemas.openxmlformats.org/drawingml/2006/main" noGrp="1"/>
          </p:cNvSpPr>
          <p:nvPr/>
        </p:nvSpPr>
        <p:spPr>
          <a:xfrm xmlns:a="http://schemas.openxmlformats.org/drawingml/2006/main">
            <a:off x="548640" y="1463040"/>
            <a:ext cx="10058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6B7570"/>
                </a:solidFill>
                <a:latin typeface="Calibri"/>
                <a:ea typeface="Calibri"/>
                <a:cs typeface="Calibri"/>
              </a:rPr>
              <a:t>All results remain department scoped and auditable.</a:t>
            </a:r>
            <a:endParaRPr sz="1400"/>
          </a:p>
        </p:txBody>
      </p:sp>
      <p:sp>
        <p:nvSpPr>
          <p:cNvPr id="5" name="Shape 3">
            <a:extLst xmlns:a="http://schemas.openxmlformats.org/drawingml/2006/main">
              <a:ext uri="{FF2B5EF4-FFF2-40B4-BE49-F238E27FC236}">
                <a16:creationId xmlns:a16="http://schemas.microsoft.com/office/drawing/2014/main" id="{F8762B82-F21C-4140-B90B-F6488B3AFBF4}"/>
              </a:ext>
            </a:extLst>
          </p:cNvPr>
          <p:cNvSpPr>
            <a:spLocks xmlns:a="http://schemas.openxmlformats.org/drawingml/2006/main" noGrp="1"/>
          </p:cNvSpPr>
          <p:nvPr/>
        </p:nvSpPr>
        <p:spPr>
          <a:xfrm xmlns:a="http://schemas.openxmlformats.org/drawingml/2006/main">
            <a:off x="548640" y="2057400"/>
            <a:ext cx="5364328" cy="3794760"/>
          </a:xfrm>
          <a:prstGeom xmlns:a="http://schemas.openxmlformats.org/drawingml/2006/main" prst="roundRect">
            <a:avLst>
              <a:gd name="adj" fmla="val 1446"/>
            </a:avLst>
          </a:prstGeom>
          <a:solidFill xmlns:a="http://schemas.openxmlformats.org/drawingml/2006/main">
            <a:srgbClr val="F1F3F1"/>
          </a:solidFill>
          <a:ln xmlns:a="http://schemas.openxmlformats.org/drawingml/2006/main" w="9525">
            <a:solidFill>
              <a:srgbClr val="DADFDC"/>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hape 4">
            <a:extLst xmlns:a="http://schemas.openxmlformats.org/drawingml/2006/main">
              <a:ext uri="{FF2B5EF4-FFF2-40B4-BE49-F238E27FC236}">
                <a16:creationId xmlns:a16="http://schemas.microsoft.com/office/drawing/2014/main" id="{B52A5605-CCBA-431A-8775-F93BF57E73A9}"/>
              </a:ext>
            </a:extLst>
          </p:cNvPr>
          <p:cNvSpPr>
            <a:spLocks xmlns:a="http://schemas.openxmlformats.org/drawingml/2006/main" noGrp="1"/>
          </p:cNvSpPr>
          <p:nvPr/>
        </p:nvSpPr>
        <p:spPr>
          <a:xfrm xmlns:a="http://schemas.openxmlformats.org/drawingml/2006/main">
            <a:off x="841248" y="2350008"/>
            <a:ext cx="566928" cy="566928"/>
          </a:xfrm>
          <a:prstGeom xmlns:a="http://schemas.openxmlformats.org/drawingml/2006/main" prst="ellipse">
            <a:avLst/>
          </a:prstGeom>
          <a:solidFill xmlns:a="http://schemas.openxmlformats.org/drawingml/2006/main">
            <a:srgbClr val="E4F1EA"/>
          </a:solidFill>
        </p:spPr>
        <p:txBody>
          <a:bodyPr xmlns:a="http://schemas.openxmlformats.org/drawingml/2006/main"/>
          <a:lstStyle xmlns:a="http://schemas.openxmlformats.org/drawingml/2006/main"/>
          <a:p xmlns:a="http://schemas.openxmlformats.org/drawingml/2006/main">
            <a:endParaRPr/>
          </a:p>
        </p:txBody>
      </p:sp>
      <p:pic>
        <p:nvPicPr>
          <p:cNvPr id="28" name="Image 0"/>
          <p:cNvPicPr>
            <a:picLocks xmlns:a="http://schemas.openxmlformats.org/drawingml/2006/main" noChangeAspect="1"/>
          </p:cNvPicPr>
          <p:nvPr/>
        </p:nvPicPr>
        <p:blipFill>
          <a:blip xmlns:r="http://schemas.openxmlformats.org/officeDocument/2006/relationships" xmlns:a="http://schemas.openxmlformats.org/drawingml/2006/main" r:embed="Re0238a8d36bf47bf"/>
          <a:stretch xmlns:a="http://schemas.openxmlformats.org/drawingml/2006/main">
            <a:fillRect l="0" t="0" r="0" b="0"/>
          </a:stretch>
        </p:blipFill>
        <p:spPr>
          <a:xfrm xmlns:a="http://schemas.openxmlformats.org/drawingml/2006/main">
            <a:off x="968807" y="2477567"/>
            <a:ext cx="311810" cy="311810"/>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22F07BCC-480D-442E-A1C5-010E7FD0C6B0}"/>
              </a:ext>
            </a:extLst>
          </p:cNvPr>
          <p:cNvSpPr>
            <a:spLocks xmlns:a="http://schemas.openxmlformats.org/drawingml/2006/main" noGrp="1"/>
          </p:cNvSpPr>
          <p:nvPr/>
        </p:nvSpPr>
        <p:spPr>
          <a:xfrm xmlns:a="http://schemas.openxmlformats.org/drawingml/2006/main">
            <a:off x="841248" y="3017520"/>
            <a:ext cx="48156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2242A"/>
                </a:solidFill>
                <a:latin typeface="Cambria"/>
                <a:ea typeface="Cambria"/>
                <a:cs typeface="Cambria"/>
              </a:rPr>
              <a:t>Vehicle journey</a:t>
            </a:r>
            <a:endParaRPr sz="1700"/>
          </a:p>
        </p:txBody>
      </p:sp>
      <p:sp>
        <p:nvSpPr>
          <p:cNvPr id="9" name="Text 6">
            <a:extLst xmlns:a="http://schemas.openxmlformats.org/drawingml/2006/main">
              <a:ext uri="{FF2B5EF4-FFF2-40B4-BE49-F238E27FC236}">
                <a16:creationId xmlns:a16="http://schemas.microsoft.com/office/drawing/2014/main" id="{62042452-1577-40F5-B3A5-38D5D99BDB4E}"/>
              </a:ext>
            </a:extLst>
          </p:cNvPr>
          <p:cNvSpPr>
            <a:spLocks xmlns:a="http://schemas.openxmlformats.org/drawingml/2006/main" noGrp="1"/>
          </p:cNvSpPr>
          <p:nvPr/>
        </p:nvSpPr>
        <p:spPr>
          <a:xfrm xmlns:a="http://schemas.openxmlformats.org/drawingml/2006/main">
            <a:off x="841248" y="3474720"/>
            <a:ext cx="4779112"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8000"/>
              </a:lnSpc>
              <a:buNone/>
            </a:pPr>
            <a:r>
              <a:rPr sz="1250">
                <a:solidFill>
                  <a:srgbClr val="3A4744"/>
                </a:solidFill>
                <a:latin typeface="Calibri"/>
                <a:ea typeface="Calibri"/>
                <a:cs typeface="Calibri"/>
              </a:rPr>
              <a:t>Orders sightings by source event time and camera location.</a:t>
            </a:r>
            <a:endParaRPr sz="1250"/>
          </a:p>
        </p:txBody>
      </p:sp>
      <p:sp>
        <p:nvSpPr>
          <p:cNvPr id="10" name="Text 7">
            <a:extLst xmlns:a="http://schemas.openxmlformats.org/drawingml/2006/main">
              <a:ext uri="{FF2B5EF4-FFF2-40B4-BE49-F238E27FC236}">
                <a16:creationId xmlns:a16="http://schemas.microsoft.com/office/drawing/2014/main" id="{4B32984D-A092-405D-993E-E69364435BAF}"/>
              </a:ext>
            </a:extLst>
          </p:cNvPr>
          <p:cNvSpPr>
            <a:spLocks xmlns:a="http://schemas.openxmlformats.org/drawingml/2006/main" noGrp="1"/>
          </p:cNvSpPr>
          <p:nvPr/>
        </p:nvSpPr>
        <p:spPr>
          <a:xfrm xmlns:a="http://schemas.openxmlformats.org/drawingml/2006/main">
            <a:off x="841248" y="4187952"/>
            <a:ext cx="4779112"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8000"/>
              </a:lnSpc>
              <a:buNone/>
            </a:pPr>
            <a:r>
              <a:rPr sz="1250">
                <a:solidFill>
                  <a:srgbClr val="3A4744"/>
                </a:solidFill>
                <a:latin typeface="Calibri"/>
                <a:ea typeface="Calibri"/>
                <a:cs typeface="Calibri"/>
              </a:rPr>
              <a:t>Shows a map, timeline, confidence, associated alerts and export.</a:t>
            </a:r>
            <a:endParaRPr sz="1250"/>
          </a:p>
        </p:txBody>
      </p:sp>
      <p:sp>
        <p:nvSpPr>
          <p:cNvPr id="11" name="Text 8">
            <a:extLst xmlns:a="http://schemas.openxmlformats.org/drawingml/2006/main">
              <a:ext uri="{FF2B5EF4-FFF2-40B4-BE49-F238E27FC236}">
                <a16:creationId xmlns:a16="http://schemas.microsoft.com/office/drawing/2014/main" id="{4393EA99-C8EF-4CDF-874C-BCD4FDD097D2}"/>
              </a:ext>
            </a:extLst>
          </p:cNvPr>
          <p:cNvSpPr>
            <a:spLocks xmlns:a="http://schemas.openxmlformats.org/drawingml/2006/main" noGrp="1"/>
          </p:cNvSpPr>
          <p:nvPr/>
        </p:nvSpPr>
        <p:spPr>
          <a:xfrm xmlns:a="http://schemas.openxmlformats.org/drawingml/2006/main">
            <a:off x="841248" y="4901184"/>
            <a:ext cx="4779112"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8000"/>
              </a:lnSpc>
              <a:buNone/>
            </a:pPr>
            <a:r>
              <a:rPr sz="1250">
                <a:solidFill>
                  <a:srgbClr val="3A4744"/>
                </a:solidFill>
                <a:latin typeface="Calibri"/>
                <a:ea typeface="Calibri"/>
                <a:cs typeface="Calibri"/>
              </a:rPr>
              <a:t>Restricted sources remain policy controlled.</a:t>
            </a:r>
            <a:endParaRPr sz="1250"/>
          </a:p>
        </p:txBody>
      </p:sp>
      <p:sp>
        <p:nvSpPr>
          <p:cNvPr id="12" name="Shape 9">
            <a:extLst xmlns:a="http://schemas.openxmlformats.org/drawingml/2006/main">
              <a:ext uri="{FF2B5EF4-FFF2-40B4-BE49-F238E27FC236}">
                <a16:creationId xmlns:a16="http://schemas.microsoft.com/office/drawing/2014/main" id="{7EDA7036-6268-459D-9D91-919DA178ACD0}"/>
              </a:ext>
            </a:extLst>
          </p:cNvPr>
          <p:cNvSpPr>
            <a:spLocks xmlns:a="http://schemas.openxmlformats.org/drawingml/2006/main" noGrp="1"/>
          </p:cNvSpPr>
          <p:nvPr/>
        </p:nvSpPr>
        <p:spPr>
          <a:xfrm xmlns:a="http://schemas.openxmlformats.org/drawingml/2006/main">
            <a:off x="6278728" y="2057400"/>
            <a:ext cx="5364328" cy="3794760"/>
          </a:xfrm>
          <a:prstGeom xmlns:a="http://schemas.openxmlformats.org/drawingml/2006/main" prst="roundRect">
            <a:avLst>
              <a:gd name="adj" fmla="val 1446"/>
            </a:avLst>
          </a:prstGeom>
          <a:solidFill xmlns:a="http://schemas.openxmlformats.org/drawingml/2006/main">
            <a:srgbClr val="F1F3F1"/>
          </a:solidFill>
          <a:ln xmlns:a="http://schemas.openxmlformats.org/drawingml/2006/main" w="9525">
            <a:solidFill>
              <a:srgbClr val="DADFDC"/>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10">
            <a:extLst xmlns:a="http://schemas.openxmlformats.org/drawingml/2006/main">
              <a:ext uri="{FF2B5EF4-FFF2-40B4-BE49-F238E27FC236}">
                <a16:creationId xmlns:a16="http://schemas.microsoft.com/office/drawing/2014/main" id="{BC551125-3DD6-4E6F-8112-BC4F46C41536}"/>
              </a:ext>
            </a:extLst>
          </p:cNvPr>
          <p:cNvSpPr>
            <a:spLocks xmlns:a="http://schemas.openxmlformats.org/drawingml/2006/main" noGrp="1"/>
          </p:cNvSpPr>
          <p:nvPr/>
        </p:nvSpPr>
        <p:spPr>
          <a:xfrm xmlns:a="http://schemas.openxmlformats.org/drawingml/2006/main">
            <a:off x="6571336" y="2350008"/>
            <a:ext cx="566928" cy="566928"/>
          </a:xfrm>
          <a:prstGeom xmlns:a="http://schemas.openxmlformats.org/drawingml/2006/main" prst="ellipse">
            <a:avLst/>
          </a:prstGeom>
          <a:solidFill xmlns:a="http://schemas.openxmlformats.org/drawingml/2006/main">
            <a:srgbClr val="E4F1EA"/>
          </a:solidFill>
        </p:spPr>
        <p:txBody>
          <a:bodyPr xmlns:a="http://schemas.openxmlformats.org/drawingml/2006/main"/>
          <a:lstStyle xmlns:a="http://schemas.openxmlformats.org/drawingml/2006/main"/>
          <a:p xmlns:a="http://schemas.openxmlformats.org/drawingml/2006/main">
            <a:endParaRPr/>
          </a:p>
        </p:txBody>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ab2c975ff4e14664"/>
          <a:stretch xmlns:a="http://schemas.openxmlformats.org/drawingml/2006/main">
            <a:fillRect l="0" t="0" r="0" b="0"/>
          </a:stretch>
        </p:blipFill>
        <p:spPr>
          <a:xfrm xmlns:a="http://schemas.openxmlformats.org/drawingml/2006/main">
            <a:off x="6698894" y="2477567"/>
            <a:ext cx="311810" cy="311810"/>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C811B638-65B2-4CF0-BA16-400B52871B5C}"/>
              </a:ext>
            </a:extLst>
          </p:cNvPr>
          <p:cNvSpPr>
            <a:spLocks xmlns:a="http://schemas.openxmlformats.org/drawingml/2006/main" noGrp="1"/>
          </p:cNvSpPr>
          <p:nvPr/>
        </p:nvSpPr>
        <p:spPr>
          <a:xfrm xmlns:a="http://schemas.openxmlformats.org/drawingml/2006/main">
            <a:off x="6571336" y="3017520"/>
            <a:ext cx="4815688"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700" b="1">
                <a:solidFill>
                  <a:srgbClr val="12242A"/>
                </a:solidFill>
                <a:latin typeface="Cambria"/>
                <a:ea typeface="Cambria"/>
                <a:cs typeface="Cambria"/>
              </a:rPr>
              <a:t>Recorded-footage investigation</a:t>
            </a:r>
            <a:endParaRPr sz="1700"/>
          </a:p>
        </p:txBody>
      </p:sp>
      <p:sp>
        <p:nvSpPr>
          <p:cNvPr id="16" name="Text 12">
            <a:extLst xmlns:a="http://schemas.openxmlformats.org/drawingml/2006/main">
              <a:ext uri="{FF2B5EF4-FFF2-40B4-BE49-F238E27FC236}">
                <a16:creationId xmlns:a16="http://schemas.microsoft.com/office/drawing/2014/main" id="{106A2DF1-212C-4183-8188-F8F4AFC4EDFD}"/>
              </a:ext>
            </a:extLst>
          </p:cNvPr>
          <p:cNvSpPr>
            <a:spLocks xmlns:a="http://schemas.openxmlformats.org/drawingml/2006/main" noGrp="1"/>
          </p:cNvSpPr>
          <p:nvPr/>
        </p:nvSpPr>
        <p:spPr>
          <a:xfrm xmlns:a="http://schemas.openxmlformats.org/drawingml/2006/main">
            <a:off x="6571336" y="3657600"/>
            <a:ext cx="4779112"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8000"/>
              </a:lnSpc>
              <a:buNone/>
            </a:pPr>
            <a:r>
              <a:rPr sz="1250">
                <a:solidFill>
                  <a:srgbClr val="3A4744"/>
                </a:solidFill>
                <a:latin typeface="Calibri"/>
                <a:ea typeface="Calibri"/>
                <a:cs typeface="Calibri"/>
              </a:rPr>
              <a:t>Normalises an authorised clip and runs selected analytics.</a:t>
            </a:r>
            <a:endParaRPr sz="1250"/>
          </a:p>
        </p:txBody>
      </p:sp>
      <p:sp>
        <p:nvSpPr>
          <p:cNvPr id="17" name="Text 13">
            <a:extLst xmlns:a="http://schemas.openxmlformats.org/drawingml/2006/main">
              <a:ext uri="{FF2B5EF4-FFF2-40B4-BE49-F238E27FC236}">
                <a16:creationId xmlns:a16="http://schemas.microsoft.com/office/drawing/2014/main" id="{5CD24534-2BE2-4940-B60B-260050192257}"/>
              </a:ext>
            </a:extLst>
          </p:cNvPr>
          <p:cNvSpPr>
            <a:spLocks xmlns:a="http://schemas.openxmlformats.org/drawingml/2006/main" noGrp="1"/>
          </p:cNvSpPr>
          <p:nvPr/>
        </p:nvSpPr>
        <p:spPr>
          <a:xfrm xmlns:a="http://schemas.openxmlformats.org/drawingml/2006/main">
            <a:off x="6571336" y="4370832"/>
            <a:ext cx="4779112"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8000"/>
              </a:lnSpc>
              <a:buNone/>
            </a:pPr>
            <a:r>
              <a:rPr sz="1250">
                <a:solidFill>
                  <a:srgbClr val="3A4744"/>
                </a:solidFill>
                <a:latin typeface="Calibri"/>
                <a:ea typeface="Calibri"/>
                <a:cs typeface="Calibri"/>
              </a:rPr>
              <a:t>Supports plate, face or attribute-assisted search under policy.</a:t>
            </a:r>
            <a:endParaRPr sz="1250"/>
          </a:p>
        </p:txBody>
      </p:sp>
      <p:sp>
        <p:nvSpPr>
          <p:cNvPr id="18" name="Text 14">
            <a:extLst xmlns:a="http://schemas.openxmlformats.org/drawingml/2006/main">
              <a:ext uri="{FF2B5EF4-FFF2-40B4-BE49-F238E27FC236}">
                <a16:creationId xmlns:a16="http://schemas.microsoft.com/office/drawing/2014/main" id="{2C12D99C-B484-49B2-9F47-7CC1F4860B23}"/>
              </a:ext>
            </a:extLst>
          </p:cNvPr>
          <p:cNvSpPr>
            <a:spLocks xmlns:a="http://schemas.openxmlformats.org/drawingml/2006/main" noGrp="1"/>
          </p:cNvSpPr>
          <p:nvPr/>
        </p:nvSpPr>
        <p:spPr>
          <a:xfrm xmlns:a="http://schemas.openxmlformats.org/drawingml/2006/main">
            <a:off x="6571336" y="5084064"/>
            <a:ext cx="4779112"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8000"/>
              </a:lnSpc>
              <a:buNone/>
            </a:pPr>
            <a:r>
              <a:rPr sz="1250">
                <a:solidFill>
                  <a:srgbClr val="3A4744"/>
                </a:solidFill>
                <a:latin typeface="Calibri"/>
                <a:ea typeface="Calibri"/>
                <a:cs typeface="Calibri"/>
              </a:rPr>
              <a:t>Opens the relevant time and frame with linked observations.</a:t>
            </a:r>
            <a:endParaRPr sz="1250"/>
          </a:p>
        </p:txBody>
      </p:sp>
      <p:sp>
        <p:nvSpPr>
          <p:cNvPr id="19" name="Text 15">
            <a:extLst xmlns:a="http://schemas.openxmlformats.org/drawingml/2006/main">
              <a:ext uri="{FF2B5EF4-FFF2-40B4-BE49-F238E27FC236}">
                <a16:creationId xmlns:a16="http://schemas.microsoft.com/office/drawing/2014/main" id="{2E63A7D2-9977-4A75-8C3C-C6009A6EE2F9}"/>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150">
                <a:solidFill>
                  <a:srgbClr val="6B7570"/>
                </a:solidFill>
                <a:latin typeface="Courier New"/>
                <a:ea typeface="Courier New"/>
                <a:cs typeface="Courier New"/>
              </a:rPr>
              <a:t>SENTINEL GUJARAT</a:t>
            </a:r>
            <a:endParaRPr sz="900"/>
          </a:p>
        </p:txBody>
      </p:sp>
      <p:sp>
        <p:nvSpPr>
          <p:cNvPr id="20" name="Text 16">
            <a:extLst xmlns:a="http://schemas.openxmlformats.org/drawingml/2006/main">
              <a:ext uri="{FF2B5EF4-FFF2-40B4-BE49-F238E27FC236}">
                <a16:creationId xmlns:a16="http://schemas.microsoft.com/office/drawing/2014/main" id="{F72D6327-F6DE-4529-855C-E317DAEF7644}"/>
              </a:ext>
            </a:extLst>
          </p:cNvPr>
          <p:cNvSpPr>
            <a:spLocks xmlns:a="http://schemas.openxmlformats.org/drawingml/2006/main" noGrp="1"/>
          </p:cNvSpPr>
          <p:nvPr/>
        </p:nvSpPr>
        <p:spPr>
          <a:xfrm xmlns:a="http://schemas.openxmlformats.org/drawingml/2006/main">
            <a:off x="10728655" y="6473952"/>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570"/>
                </a:solidFill>
                <a:latin typeface="Courier New"/>
                <a:ea typeface="Courier New"/>
                <a:cs typeface="Courier New"/>
              </a:rPr>
              <a:t>10</a:t>
            </a:r>
            <a:endParaRPr sz="900"/>
          </a:p>
        </p:txBody>
      </p:sp>
    </p:spTree>
    <p:extLst>
      <p:ext uri="{BB962C8B-B14F-4D97-AF65-F5344CB8AC3E}">
        <p14:creationId xmlns:p14="http://schemas.microsoft.com/office/powerpoint/2010/main" val="202657881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68F7D72-6E16-40F8-9CCB-4C6542ABEDA8}"/>
              </a:ext>
            </a:extLst>
          </p:cNvPr>
          <p:cNvSpPr>
            <a:spLocks xmlns:a="http://schemas.openxmlformats.org/drawingml/2006/main" noGrp="1"/>
          </p:cNvSpPr>
          <p:nvPr/>
        </p:nvSpPr>
        <p:spPr>
          <a:xfrm xmlns:a="http://schemas.openxmlformats.org/drawingml/2006/main">
            <a:off x="548640" y="45720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1F7A5C"/>
                </a:solidFill>
                <a:latin typeface="Courier New"/>
                <a:ea typeface="Courier New"/>
                <a:cs typeface="Courier New"/>
              </a:rPr>
              <a:t>ALERT OPERATIONS</a:t>
            </a:r>
            <a:endParaRPr sz="1100"/>
          </a:p>
        </p:txBody>
      </p:sp>
      <p:sp>
        <p:nvSpPr>
          <p:cNvPr id="3" name="Text 1">
            <a:extLst xmlns:a="http://schemas.openxmlformats.org/drawingml/2006/main">
              <a:ext uri="{FF2B5EF4-FFF2-40B4-BE49-F238E27FC236}">
                <a16:creationId xmlns:a16="http://schemas.microsoft.com/office/drawing/2014/main" id="{770679D8-8E4F-4E75-B7C9-BCC3490675AF}"/>
              </a:ext>
            </a:extLst>
          </p:cNvPr>
          <p:cNvSpPr>
            <a:spLocks xmlns:a="http://schemas.openxmlformats.org/drawingml/2006/main" noGrp="1"/>
          </p:cNvSpPr>
          <p:nvPr/>
        </p:nvSpPr>
        <p:spPr>
          <a:xfrm xmlns:a="http://schemas.openxmlformats.org/drawingml/2006/main">
            <a:off x="548640" y="749808"/>
            <a:ext cx="1078992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2600" b="1">
                <a:solidFill>
                  <a:srgbClr val="12242A"/>
                </a:solidFill>
                <a:latin typeface="Cambria"/>
                <a:ea typeface="Cambria"/>
                <a:cs typeface="Cambria"/>
              </a:rPr>
              <a:t>The operator sees priority, context and next action in one place</a:t>
            </a:r>
            <a:endParaRPr sz="2600"/>
          </a:p>
        </p:txBody>
      </p:sp>
      <p:sp>
        <p:nvSpPr>
          <p:cNvPr id="4" name="Text 2">
            <a:extLst xmlns:a="http://schemas.openxmlformats.org/drawingml/2006/main">
              <a:ext uri="{FF2B5EF4-FFF2-40B4-BE49-F238E27FC236}">
                <a16:creationId xmlns:a16="http://schemas.microsoft.com/office/drawing/2014/main" id="{358F2EAE-73FC-45E0-8EFB-6BFF9363102F}"/>
              </a:ext>
            </a:extLst>
          </p:cNvPr>
          <p:cNvSpPr>
            <a:spLocks xmlns:a="http://schemas.openxmlformats.org/drawingml/2006/main" noGrp="1"/>
          </p:cNvSpPr>
          <p:nvPr/>
        </p:nvSpPr>
        <p:spPr>
          <a:xfrm xmlns:a="http://schemas.openxmlformats.org/drawingml/2006/main">
            <a:off x="548640" y="1481328"/>
            <a:ext cx="10607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400">
                <a:solidFill>
                  <a:srgbClr val="6B7570"/>
                </a:solidFill>
                <a:latin typeface="Calibri"/>
                <a:ea typeface="Calibri"/>
                <a:cs typeface="Calibri"/>
              </a:rPr>
              <a:t>The API enforces access; the console visualises the workflow.</a:t>
            </a:r>
            <a:endParaRPr sz="1400"/>
          </a:p>
        </p:txBody>
      </p:sp>
      <p:sp>
        <p:nvSpPr>
          <p:cNvPr id="5" name="Shape 3">
            <a:extLst xmlns:a="http://schemas.openxmlformats.org/drawingml/2006/main">
              <a:ext uri="{FF2B5EF4-FFF2-40B4-BE49-F238E27FC236}">
                <a16:creationId xmlns:a16="http://schemas.microsoft.com/office/drawing/2014/main" id="{CF628DF0-D5EA-4456-AC32-F158526791BD}"/>
              </a:ext>
            </a:extLst>
          </p:cNvPr>
          <p:cNvSpPr>
            <a:spLocks xmlns:a="http://schemas.openxmlformats.org/drawingml/2006/main" noGrp="1"/>
          </p:cNvSpPr>
          <p:nvPr/>
        </p:nvSpPr>
        <p:spPr>
          <a:xfrm xmlns:a="http://schemas.openxmlformats.org/drawingml/2006/main">
            <a:off x="548640" y="2286000"/>
            <a:ext cx="5410048" cy="1536192"/>
          </a:xfrm>
          <a:prstGeom xmlns:a="http://schemas.openxmlformats.org/drawingml/2006/main" prst="roundRect">
            <a:avLst>
              <a:gd name="adj" fmla="val 3571"/>
            </a:avLst>
          </a:prstGeom>
          <a:solidFill xmlns:a="http://schemas.openxmlformats.org/drawingml/2006/main">
            <a:srgbClr val="F1F3F1"/>
          </a:solidFill>
          <a:ln xmlns:a="http://schemas.openxmlformats.org/drawingml/2006/main" w="9525">
            <a:solidFill>
              <a:srgbClr val="DADFDC"/>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hape 4">
            <a:extLst xmlns:a="http://schemas.openxmlformats.org/drawingml/2006/main">
              <a:ext uri="{FF2B5EF4-FFF2-40B4-BE49-F238E27FC236}">
                <a16:creationId xmlns:a16="http://schemas.microsoft.com/office/drawing/2014/main" id="{4FA4DF4F-CFA2-489E-95F4-5A2D700007E5}"/>
              </a:ext>
            </a:extLst>
          </p:cNvPr>
          <p:cNvSpPr>
            <a:spLocks xmlns:a="http://schemas.openxmlformats.org/drawingml/2006/main" noGrp="1"/>
          </p:cNvSpPr>
          <p:nvPr/>
        </p:nvSpPr>
        <p:spPr>
          <a:xfrm xmlns:a="http://schemas.openxmlformats.org/drawingml/2006/main">
            <a:off x="768096" y="2752344"/>
            <a:ext cx="603504" cy="603504"/>
          </a:xfrm>
          <a:prstGeom xmlns:a="http://schemas.openxmlformats.org/drawingml/2006/main" prst="ellipse">
            <a:avLst/>
          </a:prstGeom>
          <a:solidFill xmlns:a="http://schemas.openxmlformats.org/drawingml/2006/main">
            <a:srgbClr val="FFFFFF"/>
          </a:solidFill>
          <a:ln xmlns:a="http://schemas.openxmlformats.org/drawingml/2006/main" w="12700">
            <a:solidFill>
              <a:srgbClr val="DADFDC"/>
            </a:solidFill>
            <a:prstDash val="solid"/>
          </a:ln>
        </p:spPr>
        <p:txBody>
          <a:bodyPr xmlns:a="http://schemas.openxmlformats.org/drawingml/2006/main"/>
          <a:lstStyle xmlns:a="http://schemas.openxmlformats.org/drawingml/2006/main"/>
          <a:p xmlns:a="http://schemas.openxmlformats.org/drawingml/2006/main">
            <a:endParaRPr/>
          </a:p>
        </p:txBody>
      </p:sp>
      <p:pic>
        <p:nvPicPr>
          <p:cNvPr id="36" name="Image 0"/>
          <p:cNvPicPr>
            <a:picLocks xmlns:a="http://schemas.openxmlformats.org/drawingml/2006/main" noChangeAspect="1"/>
          </p:cNvPicPr>
          <p:nvPr/>
        </p:nvPicPr>
        <p:blipFill>
          <a:blip xmlns:r="http://schemas.openxmlformats.org/officeDocument/2006/relationships" xmlns:a="http://schemas.openxmlformats.org/drawingml/2006/main" r:embed="Rd53a48bb664d4da9"/>
          <a:stretch xmlns:a="http://schemas.openxmlformats.org/drawingml/2006/main">
            <a:fillRect l="0" t="0" r="0" b="0"/>
          </a:stretch>
        </p:blipFill>
        <p:spPr>
          <a:xfrm xmlns:a="http://schemas.openxmlformats.org/drawingml/2006/main">
            <a:off x="912937" y="2897185"/>
            <a:ext cx="313822" cy="313822"/>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88EB370A-58DD-4618-BEB5-B3FA53126894}"/>
              </a:ext>
            </a:extLst>
          </p:cNvPr>
          <p:cNvSpPr>
            <a:spLocks xmlns:a="http://schemas.openxmlformats.org/drawingml/2006/main" noGrp="1"/>
          </p:cNvSpPr>
          <p:nvPr/>
        </p:nvSpPr>
        <p:spPr>
          <a:xfrm xmlns:a="http://schemas.openxmlformats.org/drawingml/2006/main">
            <a:off x="1508760" y="2487168"/>
            <a:ext cx="422132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2242A"/>
                </a:solidFill>
                <a:latin typeface="Cambria"/>
                <a:ea typeface="Cambria"/>
                <a:cs typeface="Cambria"/>
              </a:rPr>
              <a:t>Priority queue</a:t>
            </a:r>
            <a:endParaRPr sz="1500"/>
          </a:p>
        </p:txBody>
      </p:sp>
      <p:sp>
        <p:nvSpPr>
          <p:cNvPr id="9" name="Text 6">
            <a:extLst xmlns:a="http://schemas.openxmlformats.org/drawingml/2006/main">
              <a:ext uri="{FF2B5EF4-FFF2-40B4-BE49-F238E27FC236}">
                <a16:creationId xmlns:a16="http://schemas.microsoft.com/office/drawing/2014/main" id="{086A02CE-8907-410C-99F2-C2CF273412D6}"/>
              </a:ext>
            </a:extLst>
          </p:cNvPr>
          <p:cNvSpPr>
            <a:spLocks xmlns:a="http://schemas.openxmlformats.org/drawingml/2006/main" noGrp="1"/>
          </p:cNvSpPr>
          <p:nvPr/>
        </p:nvSpPr>
        <p:spPr>
          <a:xfrm xmlns:a="http://schemas.openxmlformats.org/drawingml/2006/main">
            <a:off x="1508760" y="2852928"/>
            <a:ext cx="4221328"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8000"/>
              </a:lnSpc>
              <a:buNone/>
            </a:pPr>
            <a:r>
              <a:rPr sz="1150">
                <a:solidFill>
                  <a:srgbClr val="3A4744"/>
                </a:solidFill>
                <a:latin typeface="Calibri"/>
                <a:ea typeface="Calibri"/>
                <a:cs typeface="Calibri"/>
              </a:rPr>
              <a:t>Severity, confidence, watchlist type, freshness and deduplication.</a:t>
            </a:r>
            <a:endParaRPr sz="1150"/>
          </a:p>
        </p:txBody>
      </p:sp>
      <p:sp>
        <p:nvSpPr>
          <p:cNvPr id="10" name="Shape 7">
            <a:extLst xmlns:a="http://schemas.openxmlformats.org/drawingml/2006/main">
              <a:ext uri="{FF2B5EF4-FFF2-40B4-BE49-F238E27FC236}">
                <a16:creationId xmlns:a16="http://schemas.microsoft.com/office/drawing/2014/main" id="{E1CE820A-7B1F-448B-ABA9-75EA0C45DB74}"/>
              </a:ext>
            </a:extLst>
          </p:cNvPr>
          <p:cNvSpPr>
            <a:spLocks xmlns:a="http://schemas.openxmlformats.org/drawingml/2006/main" noGrp="1"/>
          </p:cNvSpPr>
          <p:nvPr/>
        </p:nvSpPr>
        <p:spPr>
          <a:xfrm xmlns:a="http://schemas.openxmlformats.org/drawingml/2006/main">
            <a:off x="6233008" y="2286000"/>
            <a:ext cx="5410048" cy="1536192"/>
          </a:xfrm>
          <a:prstGeom xmlns:a="http://schemas.openxmlformats.org/drawingml/2006/main" prst="roundRect">
            <a:avLst>
              <a:gd name="adj" fmla="val 3571"/>
            </a:avLst>
          </a:prstGeom>
          <a:solidFill xmlns:a="http://schemas.openxmlformats.org/drawingml/2006/main">
            <a:srgbClr val="F1F3F1"/>
          </a:solidFill>
          <a:ln xmlns:a="http://schemas.openxmlformats.org/drawingml/2006/main" w="9525">
            <a:solidFill>
              <a:srgbClr val="DADFDC"/>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8">
            <a:extLst xmlns:a="http://schemas.openxmlformats.org/drawingml/2006/main">
              <a:ext uri="{FF2B5EF4-FFF2-40B4-BE49-F238E27FC236}">
                <a16:creationId xmlns:a16="http://schemas.microsoft.com/office/drawing/2014/main" id="{5B923784-AEEA-43B6-9D52-A93501170A91}"/>
              </a:ext>
            </a:extLst>
          </p:cNvPr>
          <p:cNvSpPr>
            <a:spLocks xmlns:a="http://schemas.openxmlformats.org/drawingml/2006/main" noGrp="1"/>
          </p:cNvSpPr>
          <p:nvPr/>
        </p:nvSpPr>
        <p:spPr>
          <a:xfrm xmlns:a="http://schemas.openxmlformats.org/drawingml/2006/main">
            <a:off x="6452464" y="2752344"/>
            <a:ext cx="603504" cy="603504"/>
          </a:xfrm>
          <a:prstGeom xmlns:a="http://schemas.openxmlformats.org/drawingml/2006/main" prst="ellipse">
            <a:avLst/>
          </a:prstGeom>
          <a:solidFill xmlns:a="http://schemas.openxmlformats.org/drawingml/2006/main">
            <a:srgbClr val="FFFFFF"/>
          </a:solidFill>
          <a:ln xmlns:a="http://schemas.openxmlformats.org/drawingml/2006/main" w="12700">
            <a:solidFill>
              <a:srgbClr val="DADFDC"/>
            </a:solidFill>
            <a:prstDash val="solid"/>
          </a:ln>
        </p:spPr>
        <p:txBody>
          <a:bodyPr xmlns:a="http://schemas.openxmlformats.org/drawingml/2006/main"/>
          <a:lstStyle xmlns:a="http://schemas.openxmlformats.org/drawingml/2006/main"/>
          <a:p xmlns:a="http://schemas.openxmlformats.org/drawingml/2006/main">
            <a:endParaRPr/>
          </a:p>
        </p:txBody>
      </p:sp>
      <p:pic>
        <p:nvPicPr>
          <p:cNvPr id="41" name="Image 1"/>
          <p:cNvPicPr>
            <a:picLocks xmlns:a="http://schemas.openxmlformats.org/drawingml/2006/main" noChangeAspect="1"/>
          </p:cNvPicPr>
          <p:nvPr/>
        </p:nvPicPr>
        <p:blipFill>
          <a:blip xmlns:r="http://schemas.openxmlformats.org/officeDocument/2006/relationships" xmlns:a="http://schemas.openxmlformats.org/drawingml/2006/main" r:embed="R9026238f4b2f48a6"/>
          <a:stretch xmlns:a="http://schemas.openxmlformats.org/drawingml/2006/main">
            <a:fillRect l="0" t="0" r="0" b="0"/>
          </a:stretch>
        </p:blipFill>
        <p:spPr>
          <a:xfrm xmlns:a="http://schemas.openxmlformats.org/drawingml/2006/main">
            <a:off x="6597305" y="2897185"/>
            <a:ext cx="313822" cy="313822"/>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2D927A8E-169F-4B3B-918C-1B594C38743C}"/>
              </a:ext>
            </a:extLst>
          </p:cNvPr>
          <p:cNvSpPr>
            <a:spLocks xmlns:a="http://schemas.openxmlformats.org/drawingml/2006/main" noGrp="1"/>
          </p:cNvSpPr>
          <p:nvPr/>
        </p:nvSpPr>
        <p:spPr>
          <a:xfrm xmlns:a="http://schemas.openxmlformats.org/drawingml/2006/main">
            <a:off x="7193128" y="2487168"/>
            <a:ext cx="422132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2242A"/>
                </a:solidFill>
                <a:latin typeface="Cambria"/>
                <a:ea typeface="Cambria"/>
                <a:cs typeface="Cambria"/>
              </a:rPr>
              <a:t>Live context</a:t>
            </a:r>
            <a:endParaRPr sz="1500"/>
          </a:p>
        </p:txBody>
      </p:sp>
      <p:sp>
        <p:nvSpPr>
          <p:cNvPr id="14" name="Text 10">
            <a:extLst xmlns:a="http://schemas.openxmlformats.org/drawingml/2006/main">
              <a:ext uri="{FF2B5EF4-FFF2-40B4-BE49-F238E27FC236}">
                <a16:creationId xmlns:a16="http://schemas.microsoft.com/office/drawing/2014/main" id="{9B47C903-EF71-4BEA-8326-F2CB808F4122}"/>
              </a:ext>
            </a:extLst>
          </p:cNvPr>
          <p:cNvSpPr>
            <a:spLocks xmlns:a="http://schemas.openxmlformats.org/drawingml/2006/main" noGrp="1"/>
          </p:cNvSpPr>
          <p:nvPr/>
        </p:nvSpPr>
        <p:spPr>
          <a:xfrm xmlns:a="http://schemas.openxmlformats.org/drawingml/2006/main">
            <a:off x="7193128" y="2852928"/>
            <a:ext cx="4221328"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8000"/>
              </a:lnSpc>
              <a:buNone/>
            </a:pPr>
            <a:r>
              <a:rPr sz="1150">
                <a:solidFill>
                  <a:srgbClr val="3A4744"/>
                </a:solidFill>
                <a:latin typeface="Calibri"/>
                <a:ea typeface="Calibri"/>
                <a:cs typeface="Calibri"/>
              </a:rPr>
              <a:t>Camera map, preview, observation details and source health.</a:t>
            </a:r>
            <a:endParaRPr sz="1150"/>
          </a:p>
        </p:txBody>
      </p:sp>
      <p:sp>
        <p:nvSpPr>
          <p:cNvPr id="15" name="Shape 11">
            <a:extLst xmlns:a="http://schemas.openxmlformats.org/drawingml/2006/main">
              <a:ext uri="{FF2B5EF4-FFF2-40B4-BE49-F238E27FC236}">
                <a16:creationId xmlns:a16="http://schemas.microsoft.com/office/drawing/2014/main" id="{3E85FD33-2BAB-4CC4-A04F-070F07FBD721}"/>
              </a:ext>
            </a:extLst>
          </p:cNvPr>
          <p:cNvSpPr>
            <a:spLocks xmlns:a="http://schemas.openxmlformats.org/drawingml/2006/main" noGrp="1"/>
          </p:cNvSpPr>
          <p:nvPr/>
        </p:nvSpPr>
        <p:spPr>
          <a:xfrm xmlns:a="http://schemas.openxmlformats.org/drawingml/2006/main">
            <a:off x="548640" y="4023360"/>
            <a:ext cx="5410048" cy="1536192"/>
          </a:xfrm>
          <a:prstGeom xmlns:a="http://schemas.openxmlformats.org/drawingml/2006/main" prst="roundRect">
            <a:avLst>
              <a:gd name="adj" fmla="val 3571"/>
            </a:avLst>
          </a:prstGeom>
          <a:solidFill xmlns:a="http://schemas.openxmlformats.org/drawingml/2006/main">
            <a:srgbClr val="F1F3F1"/>
          </a:solidFill>
          <a:ln xmlns:a="http://schemas.openxmlformats.org/drawingml/2006/main" w="9525">
            <a:solidFill>
              <a:srgbClr val="DADFDC"/>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Shape 12">
            <a:extLst xmlns:a="http://schemas.openxmlformats.org/drawingml/2006/main">
              <a:ext uri="{FF2B5EF4-FFF2-40B4-BE49-F238E27FC236}">
                <a16:creationId xmlns:a16="http://schemas.microsoft.com/office/drawing/2014/main" id="{23AE435C-D848-413E-9B98-CC01B5C6ABE5}"/>
              </a:ext>
            </a:extLst>
          </p:cNvPr>
          <p:cNvSpPr>
            <a:spLocks xmlns:a="http://schemas.openxmlformats.org/drawingml/2006/main" noGrp="1"/>
          </p:cNvSpPr>
          <p:nvPr/>
        </p:nvSpPr>
        <p:spPr>
          <a:xfrm xmlns:a="http://schemas.openxmlformats.org/drawingml/2006/main">
            <a:off x="768096" y="4489704"/>
            <a:ext cx="603504" cy="603504"/>
          </a:xfrm>
          <a:prstGeom xmlns:a="http://schemas.openxmlformats.org/drawingml/2006/main" prst="ellipse">
            <a:avLst/>
          </a:prstGeom>
          <a:solidFill xmlns:a="http://schemas.openxmlformats.org/drawingml/2006/main">
            <a:srgbClr val="FFFFFF"/>
          </a:solidFill>
          <a:ln xmlns:a="http://schemas.openxmlformats.org/drawingml/2006/main" w="12700">
            <a:solidFill>
              <a:srgbClr val="DADFDC"/>
            </a:solidFill>
            <a:prstDash val="solid"/>
          </a:ln>
        </p:spPr>
        <p:txBody>
          <a:bodyPr xmlns:a="http://schemas.openxmlformats.org/drawingml/2006/main"/>
          <a:lstStyle xmlns:a="http://schemas.openxmlformats.org/drawingml/2006/main"/>
          <a:p xmlns:a="http://schemas.openxmlformats.org/drawingml/2006/main">
            <a:endParaRPr/>
          </a:p>
        </p:txBody>
      </p:sp>
      <p:pic>
        <p:nvPicPr>
          <p:cNvPr id="46" name="Image 2"/>
          <p:cNvPicPr>
            <a:picLocks xmlns:a="http://schemas.openxmlformats.org/drawingml/2006/main" noChangeAspect="1"/>
          </p:cNvPicPr>
          <p:nvPr/>
        </p:nvPicPr>
        <p:blipFill>
          <a:blip xmlns:r="http://schemas.openxmlformats.org/officeDocument/2006/relationships" xmlns:a="http://schemas.openxmlformats.org/drawingml/2006/main" r:embed="R194d85222fb0401d"/>
          <a:stretch xmlns:a="http://schemas.openxmlformats.org/drawingml/2006/main">
            <a:fillRect l="0" t="0" r="0" b="0"/>
          </a:stretch>
        </p:blipFill>
        <p:spPr>
          <a:xfrm xmlns:a="http://schemas.openxmlformats.org/drawingml/2006/main">
            <a:off x="912937" y="4634545"/>
            <a:ext cx="313822" cy="313822"/>
          </a:xfrm>
          <a:prstGeom xmlns:a="http://schemas.openxmlformats.org/drawingml/2006/main" prst="rect">
            <a:avLst/>
          </a:prstGeom>
        </p:spPr>
      </p:pic>
      <p:sp>
        <p:nvSpPr>
          <p:cNvPr id="18" name="Text 13">
            <a:extLst xmlns:a="http://schemas.openxmlformats.org/drawingml/2006/main">
              <a:ext uri="{FF2B5EF4-FFF2-40B4-BE49-F238E27FC236}">
                <a16:creationId xmlns:a16="http://schemas.microsoft.com/office/drawing/2014/main" id="{A2B66AB7-B7CA-4AD1-9A17-08E630706935}"/>
              </a:ext>
            </a:extLst>
          </p:cNvPr>
          <p:cNvSpPr>
            <a:spLocks xmlns:a="http://schemas.openxmlformats.org/drawingml/2006/main" noGrp="1"/>
          </p:cNvSpPr>
          <p:nvPr/>
        </p:nvSpPr>
        <p:spPr>
          <a:xfrm xmlns:a="http://schemas.openxmlformats.org/drawingml/2006/main">
            <a:off x="1508760" y="4224528"/>
            <a:ext cx="422132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2242A"/>
                </a:solidFill>
                <a:latin typeface="Cambria"/>
                <a:ea typeface="Cambria"/>
                <a:cs typeface="Cambria"/>
              </a:rPr>
              <a:t>Operator action</a:t>
            </a:r>
            <a:endParaRPr sz="1500"/>
          </a:p>
        </p:txBody>
      </p:sp>
      <p:sp>
        <p:nvSpPr>
          <p:cNvPr id="19" name="Text 14">
            <a:extLst xmlns:a="http://schemas.openxmlformats.org/drawingml/2006/main">
              <a:ext uri="{FF2B5EF4-FFF2-40B4-BE49-F238E27FC236}">
                <a16:creationId xmlns:a16="http://schemas.microsoft.com/office/drawing/2014/main" id="{5463DB3F-5710-4B42-80B7-6949A47F3848}"/>
              </a:ext>
            </a:extLst>
          </p:cNvPr>
          <p:cNvSpPr>
            <a:spLocks xmlns:a="http://schemas.openxmlformats.org/drawingml/2006/main" noGrp="1"/>
          </p:cNvSpPr>
          <p:nvPr/>
        </p:nvSpPr>
        <p:spPr>
          <a:xfrm xmlns:a="http://schemas.openxmlformats.org/drawingml/2006/main">
            <a:off x="1508760" y="4590288"/>
            <a:ext cx="4221328"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8000"/>
              </a:lnSpc>
              <a:buNone/>
            </a:pPr>
            <a:r>
              <a:rPr sz="1150">
                <a:solidFill>
                  <a:srgbClr val="3A4744"/>
                </a:solidFill>
                <a:latin typeface="Calibri"/>
                <a:ea typeface="Calibri"/>
                <a:cs typeface="Calibri"/>
              </a:rPr>
              <a:t>Acknowledge, assign, comment, escalate and resolve with reason.</a:t>
            </a:r>
            <a:endParaRPr sz="1150"/>
          </a:p>
        </p:txBody>
      </p:sp>
      <p:sp>
        <p:nvSpPr>
          <p:cNvPr id="20" name="Shape 15">
            <a:extLst xmlns:a="http://schemas.openxmlformats.org/drawingml/2006/main">
              <a:ext uri="{FF2B5EF4-FFF2-40B4-BE49-F238E27FC236}">
                <a16:creationId xmlns:a16="http://schemas.microsoft.com/office/drawing/2014/main" id="{2550285F-0C35-4A0D-912C-00B4B1590E8E}"/>
              </a:ext>
            </a:extLst>
          </p:cNvPr>
          <p:cNvSpPr>
            <a:spLocks xmlns:a="http://schemas.openxmlformats.org/drawingml/2006/main" noGrp="1"/>
          </p:cNvSpPr>
          <p:nvPr/>
        </p:nvSpPr>
        <p:spPr>
          <a:xfrm xmlns:a="http://schemas.openxmlformats.org/drawingml/2006/main">
            <a:off x="6233008" y="4023360"/>
            <a:ext cx="5410048" cy="1536192"/>
          </a:xfrm>
          <a:prstGeom xmlns:a="http://schemas.openxmlformats.org/drawingml/2006/main" prst="roundRect">
            <a:avLst>
              <a:gd name="adj" fmla="val 3571"/>
            </a:avLst>
          </a:prstGeom>
          <a:solidFill xmlns:a="http://schemas.openxmlformats.org/drawingml/2006/main">
            <a:srgbClr val="F1F3F1"/>
          </a:solidFill>
          <a:ln xmlns:a="http://schemas.openxmlformats.org/drawingml/2006/main" w="9525">
            <a:solidFill>
              <a:srgbClr val="DADFDC"/>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Shape 16">
            <a:extLst xmlns:a="http://schemas.openxmlformats.org/drawingml/2006/main">
              <a:ext uri="{FF2B5EF4-FFF2-40B4-BE49-F238E27FC236}">
                <a16:creationId xmlns:a16="http://schemas.microsoft.com/office/drawing/2014/main" id="{C1A80055-5B9C-4701-A2A1-A93D273860EC}"/>
              </a:ext>
            </a:extLst>
          </p:cNvPr>
          <p:cNvSpPr>
            <a:spLocks xmlns:a="http://schemas.openxmlformats.org/drawingml/2006/main" noGrp="1"/>
          </p:cNvSpPr>
          <p:nvPr/>
        </p:nvSpPr>
        <p:spPr>
          <a:xfrm xmlns:a="http://schemas.openxmlformats.org/drawingml/2006/main">
            <a:off x="6452464" y="4489704"/>
            <a:ext cx="603504" cy="603504"/>
          </a:xfrm>
          <a:prstGeom xmlns:a="http://schemas.openxmlformats.org/drawingml/2006/main" prst="ellipse">
            <a:avLst/>
          </a:prstGeom>
          <a:solidFill xmlns:a="http://schemas.openxmlformats.org/drawingml/2006/main">
            <a:srgbClr val="FFFFFF"/>
          </a:solidFill>
          <a:ln xmlns:a="http://schemas.openxmlformats.org/drawingml/2006/main" w="12700">
            <a:solidFill>
              <a:srgbClr val="DADFDC"/>
            </a:solidFill>
            <a:prstDash val="solid"/>
          </a:ln>
        </p:spPr>
        <p:txBody>
          <a:bodyPr xmlns:a="http://schemas.openxmlformats.org/drawingml/2006/main"/>
          <a:lstStyle xmlns:a="http://schemas.openxmlformats.org/drawingml/2006/main"/>
          <a:p xmlns:a="http://schemas.openxmlformats.org/drawingml/2006/main">
            <a:endParaRPr/>
          </a:p>
        </p:txBody>
      </p:sp>
      <p:pic>
        <p:nvPicPr>
          <p:cNvPr id="51" name="Image 3"/>
          <p:cNvPicPr>
            <a:picLocks xmlns:a="http://schemas.openxmlformats.org/drawingml/2006/main" noChangeAspect="1"/>
          </p:cNvPicPr>
          <p:nvPr/>
        </p:nvPicPr>
        <p:blipFill>
          <a:blip xmlns:r="http://schemas.openxmlformats.org/officeDocument/2006/relationships" xmlns:a="http://schemas.openxmlformats.org/drawingml/2006/main" r:embed="R7473aba51b8249cb"/>
          <a:stretch xmlns:a="http://schemas.openxmlformats.org/drawingml/2006/main">
            <a:fillRect l="0" t="0" r="0" b="0"/>
          </a:stretch>
        </p:blipFill>
        <p:spPr>
          <a:xfrm xmlns:a="http://schemas.openxmlformats.org/drawingml/2006/main">
            <a:off x="6597305" y="4634545"/>
            <a:ext cx="313822" cy="313822"/>
          </a:xfrm>
          <a:prstGeom xmlns:a="http://schemas.openxmlformats.org/drawingml/2006/main" prst="rect">
            <a:avLst/>
          </a:prstGeom>
        </p:spPr>
      </p:pic>
      <p:sp>
        <p:nvSpPr>
          <p:cNvPr id="23" name="Text 17">
            <a:extLst xmlns:a="http://schemas.openxmlformats.org/drawingml/2006/main">
              <a:ext uri="{FF2B5EF4-FFF2-40B4-BE49-F238E27FC236}">
                <a16:creationId xmlns:a16="http://schemas.microsoft.com/office/drawing/2014/main" id="{8C3D8798-DBCA-4233-B73D-7A0FCF80D7AB}"/>
              </a:ext>
            </a:extLst>
          </p:cNvPr>
          <p:cNvSpPr>
            <a:spLocks xmlns:a="http://schemas.openxmlformats.org/drawingml/2006/main" noGrp="1"/>
          </p:cNvSpPr>
          <p:nvPr/>
        </p:nvSpPr>
        <p:spPr>
          <a:xfrm xmlns:a="http://schemas.openxmlformats.org/drawingml/2006/main">
            <a:off x="7193128" y="4224528"/>
            <a:ext cx="422132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2242A"/>
                </a:solidFill>
                <a:latin typeface="Cambria"/>
                <a:ea typeface="Cambria"/>
                <a:cs typeface="Cambria"/>
              </a:rPr>
              <a:t>Audit + access</a:t>
            </a:r>
            <a:endParaRPr sz="1500"/>
          </a:p>
        </p:txBody>
      </p:sp>
      <p:sp>
        <p:nvSpPr>
          <p:cNvPr id="24" name="Text 18">
            <a:extLst xmlns:a="http://schemas.openxmlformats.org/drawingml/2006/main">
              <a:ext uri="{FF2B5EF4-FFF2-40B4-BE49-F238E27FC236}">
                <a16:creationId xmlns:a16="http://schemas.microsoft.com/office/drawing/2014/main" id="{A48BA52B-4341-4264-B5A2-05E71ACE8FED}"/>
              </a:ext>
            </a:extLst>
          </p:cNvPr>
          <p:cNvSpPr>
            <a:spLocks xmlns:a="http://schemas.openxmlformats.org/drawingml/2006/main" noGrp="1"/>
          </p:cNvSpPr>
          <p:nvPr/>
        </p:nvSpPr>
        <p:spPr>
          <a:xfrm xmlns:a="http://schemas.openxmlformats.org/drawingml/2006/main">
            <a:off x="7193128" y="4590288"/>
            <a:ext cx="4221328"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8000"/>
              </a:lnSpc>
              <a:buNone/>
            </a:pPr>
            <a:r>
              <a:rPr sz="1150">
                <a:solidFill>
                  <a:srgbClr val="3A4744"/>
                </a:solidFill>
                <a:latin typeface="Calibri"/>
                <a:ea typeface="Calibri"/>
                <a:cs typeface="Calibri"/>
              </a:rPr>
              <a:t>Department scope, role checks and a trace of every state change.</a:t>
            </a:r>
            <a:endParaRPr sz="1150"/>
          </a:p>
        </p:txBody>
      </p:sp>
      <p:sp>
        <p:nvSpPr>
          <p:cNvPr id="25" name="Text 19">
            <a:extLst xmlns:a="http://schemas.openxmlformats.org/drawingml/2006/main">
              <a:ext uri="{FF2B5EF4-FFF2-40B4-BE49-F238E27FC236}">
                <a16:creationId xmlns:a16="http://schemas.microsoft.com/office/drawing/2014/main" id="{E0CCF650-E555-40A8-B603-2822000B234A}"/>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150">
                <a:solidFill>
                  <a:srgbClr val="6B7570"/>
                </a:solidFill>
                <a:latin typeface="Courier New"/>
                <a:ea typeface="Courier New"/>
                <a:cs typeface="Courier New"/>
              </a:rPr>
              <a:t>SENTINEL GUJARAT</a:t>
            </a:r>
            <a:endParaRPr sz="900"/>
          </a:p>
        </p:txBody>
      </p:sp>
      <p:sp>
        <p:nvSpPr>
          <p:cNvPr id="26" name="Text 20">
            <a:extLst xmlns:a="http://schemas.openxmlformats.org/drawingml/2006/main">
              <a:ext uri="{FF2B5EF4-FFF2-40B4-BE49-F238E27FC236}">
                <a16:creationId xmlns:a16="http://schemas.microsoft.com/office/drawing/2014/main" id="{750A067D-F8FE-4A7B-AE18-2EC5C8074AB4}"/>
              </a:ext>
            </a:extLst>
          </p:cNvPr>
          <p:cNvSpPr>
            <a:spLocks xmlns:a="http://schemas.openxmlformats.org/drawingml/2006/main" noGrp="1"/>
          </p:cNvSpPr>
          <p:nvPr/>
        </p:nvSpPr>
        <p:spPr>
          <a:xfrm xmlns:a="http://schemas.openxmlformats.org/drawingml/2006/main">
            <a:off x="10728655" y="6473952"/>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570"/>
                </a:solidFill>
                <a:latin typeface="Courier New"/>
                <a:ea typeface="Courier New"/>
                <a:cs typeface="Courier New"/>
              </a:rPr>
              <a:t>11</a:t>
            </a:r>
            <a:endParaRPr sz="900"/>
          </a:p>
        </p:txBody>
      </p:sp>
    </p:spTree>
    <p:extLst>
      <p:ext uri="{BB962C8B-B14F-4D97-AF65-F5344CB8AC3E}">
        <p14:creationId xmlns:p14="http://schemas.microsoft.com/office/powerpoint/2010/main" val="171660929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84108EA-25F7-42B6-95CF-FC81A8C14CA2}"/>
              </a:ext>
            </a:extLst>
          </p:cNvPr>
          <p:cNvSpPr>
            <a:spLocks xmlns:a="http://schemas.openxmlformats.org/drawingml/2006/main" noGrp="1"/>
          </p:cNvSpPr>
          <p:nvPr/>
        </p:nvSpPr>
        <p:spPr>
          <a:xfrm xmlns:a="http://schemas.openxmlformats.org/drawingml/2006/main">
            <a:off x="548640" y="45720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1F7A5C"/>
                </a:solidFill>
                <a:latin typeface="Courier New"/>
                <a:ea typeface="Courier New"/>
                <a:cs typeface="Courier New"/>
              </a:rPr>
              <a:t>TECHNOLOGY</a:t>
            </a:r>
            <a:endParaRPr sz="1100"/>
          </a:p>
        </p:txBody>
      </p:sp>
      <p:sp>
        <p:nvSpPr>
          <p:cNvPr id="3" name="Text 1">
            <a:extLst xmlns:a="http://schemas.openxmlformats.org/drawingml/2006/main">
              <a:ext uri="{FF2B5EF4-FFF2-40B4-BE49-F238E27FC236}">
                <a16:creationId xmlns:a16="http://schemas.microsoft.com/office/drawing/2014/main" id="{2381C76D-9C60-4427-B262-8C91E6DE67D8}"/>
              </a:ext>
            </a:extLst>
          </p:cNvPr>
          <p:cNvSpPr>
            <a:spLocks xmlns:a="http://schemas.openxmlformats.org/drawingml/2006/main" noGrp="1"/>
          </p:cNvSpPr>
          <p:nvPr/>
        </p:nvSpPr>
        <p:spPr>
          <a:xfrm xmlns:a="http://schemas.openxmlformats.org/drawingml/2006/main">
            <a:off x="548640" y="749808"/>
            <a:ext cx="11094415"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2700" b="1">
                <a:solidFill>
                  <a:srgbClr val="12242A"/>
                </a:solidFill>
                <a:latin typeface="Cambria"/>
                <a:ea typeface="Cambria"/>
                <a:cs typeface="Cambria"/>
              </a:rPr>
              <a:t>The stack uses proven, interoperable building blocks</a:t>
            </a:r>
            <a:endParaRPr sz="2700"/>
          </a:p>
        </p:txBody>
      </p:sp>
      <p:sp>
        <p:nvSpPr>
          <p:cNvPr id="4" name="Text 2">
            <a:extLst xmlns:a="http://schemas.openxmlformats.org/drawingml/2006/main">
              <a:ext uri="{FF2B5EF4-FFF2-40B4-BE49-F238E27FC236}">
                <a16:creationId xmlns:a16="http://schemas.microsoft.com/office/drawing/2014/main" id="{71A894ED-F017-4F9C-82DE-A512D11552E3}"/>
              </a:ext>
            </a:extLst>
          </p:cNvPr>
          <p:cNvSpPr>
            <a:spLocks xmlns:a="http://schemas.openxmlformats.org/drawingml/2006/main" noGrp="1"/>
          </p:cNvSpPr>
          <p:nvPr/>
        </p:nvSpPr>
        <p:spPr>
          <a:xfrm xmlns:a="http://schemas.openxmlformats.org/drawingml/2006/main">
            <a:off x="548640" y="1463040"/>
            <a:ext cx="10607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350">
                <a:solidFill>
                  <a:srgbClr val="6B7570"/>
                </a:solidFill>
                <a:latin typeface="Calibri"/>
                <a:ea typeface="Calibri"/>
                <a:cs typeface="Calibri"/>
              </a:rPr>
              <a:t>A modular control plane coordinates workflow; bounded workers handle stream analytics and scale independently.</a:t>
            </a:r>
            <a:endParaRPr sz="1350"/>
          </a:p>
        </p:txBody>
      </p:sp>
      <p:graphicFrame>
        <p:nvGraphicFramePr>
          <p:cNvPr id="12" name="Table 0"/>
          <p:cNvGraphicFramePr/>
          <p:nvPr/>
        </p:nvGraphicFramePr>
        <p:xfrm>
          <a:off xmlns:a="http://schemas.openxmlformats.org/drawingml/2006/main" x="548640" y="2084832"/>
          <a:ext xmlns:a="http://schemas.openxmlformats.org/drawingml/2006/main" cx="11018520" cy="4023360"/>
        </p:xfrm>
        <a:graphic xmlns:a="http://schemas.openxmlformats.org/drawingml/2006/main">
          <a:graphicData uri="http://schemas.openxmlformats.org/drawingml/2006/table">
            <a:tbl>
              <a:tblPr/>
              <a:tblGrid>
                <a:gridCol w="1920240"/>
                <a:gridCol w="3108960"/>
                <a:gridCol w="3383280"/>
                <a:gridCol w="2606040"/>
              </a:tblGrid>
              <a:tr h="365760">
                <a:tc>
                  <a:txBody>
                    <a:bodyPr/>
                    <a:lstStyle/>
                    <a:p>
                      <a:pPr marL="0" indent="0" algn="l">
                        <a:buNone/>
                      </a:pPr>
                      <a:r>
                        <a:rPr sz="1150" b="1" spc="100">
                          <a:solidFill>
                            <a:srgbClr val="FFFFFF"/>
                          </a:solidFill>
                          <a:latin typeface="Courier New"/>
                          <a:ea typeface="Courier New"/>
                          <a:cs typeface="Courier New"/>
                        </a:rPr>
                        <a:t>Layer</a:t>
                      </a:r>
                      <a:endParaRPr sz="1150">
                        <a:latin typeface="Courier New"/>
                        <a:ea typeface="Courier New"/>
                        <a:cs typeface="Courier New"/>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12242A"/>
                    </a:solidFill>
                  </a:tcPr>
                </a:tc>
                <a:tc>
                  <a:txBody>
                    <a:bodyPr/>
                    <a:lstStyle/>
                    <a:p>
                      <a:pPr marL="0" indent="0" algn="l">
                        <a:buNone/>
                      </a:pPr>
                      <a:r>
                        <a:rPr sz="1150" b="1" spc="100">
                          <a:solidFill>
                            <a:srgbClr val="FFFFFF"/>
                          </a:solidFill>
                          <a:latin typeface="Courier New"/>
                          <a:ea typeface="Courier New"/>
                          <a:cs typeface="Courier New"/>
                        </a:rPr>
                        <a:t>Technology</a:t>
                      </a:r>
                      <a:endParaRPr sz="1150">
                        <a:latin typeface="Courier New"/>
                        <a:ea typeface="Courier New"/>
                        <a:cs typeface="Courier New"/>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12242A"/>
                    </a:solidFill>
                  </a:tcPr>
                </a:tc>
                <a:tc>
                  <a:txBody>
                    <a:bodyPr/>
                    <a:lstStyle/>
                    <a:p>
                      <a:pPr marL="0" indent="0" algn="l">
                        <a:buNone/>
                      </a:pPr>
                      <a:r>
                        <a:rPr sz="1150" b="1" spc="100">
                          <a:solidFill>
                            <a:srgbClr val="FFFFFF"/>
                          </a:solidFill>
                          <a:latin typeface="Courier New"/>
                          <a:ea typeface="Courier New"/>
                          <a:cs typeface="Courier New"/>
                        </a:rPr>
                        <a:t>Purpose</a:t>
                      </a:r>
                      <a:endParaRPr sz="1150">
                        <a:latin typeface="Courier New"/>
                        <a:ea typeface="Courier New"/>
                        <a:cs typeface="Courier New"/>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12242A"/>
                    </a:solidFill>
                  </a:tcPr>
                </a:tc>
                <a:tc>
                  <a:txBody>
                    <a:bodyPr/>
                    <a:lstStyle/>
                    <a:p>
                      <a:pPr marL="0" indent="0" algn="l">
                        <a:buNone/>
                      </a:pPr>
                      <a:r>
                        <a:rPr sz="1150" b="1" spc="100">
                          <a:solidFill>
                            <a:srgbClr val="FFFFFF"/>
                          </a:solidFill>
                          <a:latin typeface="Courier New"/>
                          <a:ea typeface="Courier New"/>
                          <a:cs typeface="Courier New"/>
                        </a:rPr>
                        <a:t>Design property</a:t>
                      </a:r>
                      <a:endParaRPr sz="1150">
                        <a:latin typeface="Courier New"/>
                        <a:ea typeface="Courier New"/>
                        <a:cs typeface="Courier New"/>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12242A"/>
                    </a:solidFill>
                  </a:tcPr>
                </a:tc>
              </a:tr>
              <a:tr h="365760">
                <a:tc>
                  <a:txBody>
                    <a:bodyPr/>
                    <a:lstStyle/>
                    <a:p>
                      <a:pPr marL="0" indent="0" algn="l">
                        <a:buNone/>
                      </a:pPr>
                      <a:r>
                        <a:rPr sz="1250" b="1">
                          <a:solidFill>
                            <a:srgbClr val="12242A"/>
                          </a:solidFill>
                          <a:latin typeface="Calibri"/>
                          <a:ea typeface="Calibri"/>
                          <a:cs typeface="Calibri"/>
                        </a:rPr>
                        <a:t>Console</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1F3F1"/>
                    </a:solidFill>
                  </a:tcPr>
                </a:tc>
                <a:tc>
                  <a:txBody>
                    <a:bodyPr/>
                    <a:lstStyle/>
                    <a:p>
                      <a:pPr marL="0" indent="0" algn="l">
                        <a:buNone/>
                      </a:pPr>
                      <a:r>
                        <a:rPr sz="1250">
                          <a:solidFill>
                            <a:srgbClr val="12242A"/>
                          </a:solidFill>
                          <a:latin typeface="Calibri"/>
                          <a:ea typeface="Calibri"/>
                          <a:cs typeface="Calibri"/>
                        </a:rPr>
                        <a:t>React 19 + Vite 8</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1F3F1"/>
                    </a:solidFill>
                  </a:tcPr>
                </a:tc>
                <a:tc>
                  <a:txBody>
                    <a:bodyPr/>
                    <a:lstStyle/>
                    <a:p>
                      <a:pPr marL="0" indent="0" algn="l">
                        <a:buNone/>
                      </a:pPr>
                      <a:r>
                        <a:rPr sz="1250">
                          <a:solidFill>
                            <a:srgbClr val="12242A"/>
                          </a:solidFill>
                          <a:latin typeface="Calibri"/>
                          <a:ea typeface="Calibri"/>
                          <a:cs typeface="Calibri"/>
                        </a:rPr>
                        <a:t>Operator workflow</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1F3F1"/>
                    </a:solidFill>
                  </a:tcPr>
                </a:tc>
                <a:tc>
                  <a:txBody>
                    <a:bodyPr/>
                    <a:lstStyle/>
                    <a:p>
                      <a:pPr marL="0" indent="0" algn="l">
                        <a:buNone/>
                      </a:pPr>
                      <a:r>
                        <a:rPr sz="1250">
                          <a:solidFill>
                            <a:srgbClr val="1F7A5C"/>
                          </a:solidFill>
                          <a:latin typeface="Calibri"/>
                          <a:ea typeface="Calibri"/>
                          <a:cs typeface="Calibri"/>
                        </a:rPr>
                        <a:t>Browser UI</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1F3F1"/>
                    </a:solidFill>
                  </a:tcPr>
                </a:tc>
              </a:tr>
              <a:tr h="365760">
                <a:tc>
                  <a:txBody>
                    <a:bodyPr/>
                    <a:lstStyle/>
                    <a:p>
                      <a:pPr marL="0" indent="0" algn="l">
                        <a:buNone/>
                      </a:pPr>
                      <a:r>
                        <a:rPr sz="1250" b="1">
                          <a:solidFill>
                            <a:srgbClr val="12242A"/>
                          </a:solidFill>
                          <a:latin typeface="Calibri"/>
                          <a:ea typeface="Calibri"/>
                          <a:cs typeface="Calibri"/>
                        </a:rPr>
                        <a:t>GIS</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FFFFF"/>
                    </a:solidFill>
                  </a:tcPr>
                </a:tc>
                <a:tc>
                  <a:txBody>
                    <a:bodyPr/>
                    <a:lstStyle/>
                    <a:p>
                      <a:pPr marL="0" indent="0" algn="l">
                        <a:buNone/>
                      </a:pPr>
                      <a:r>
                        <a:rPr sz="1250">
                          <a:solidFill>
                            <a:srgbClr val="12242A"/>
                          </a:solidFill>
                          <a:latin typeface="Calibri"/>
                          <a:ea typeface="Calibri"/>
                          <a:cs typeface="Calibri"/>
                        </a:rPr>
                        <a:t>Leaflet + PostGIS</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FFFFF"/>
                    </a:solidFill>
                  </a:tcPr>
                </a:tc>
                <a:tc>
                  <a:txBody>
                    <a:bodyPr/>
                    <a:lstStyle/>
                    <a:p>
                      <a:pPr marL="0" indent="0" algn="l">
                        <a:buNone/>
                      </a:pPr>
                      <a:r>
                        <a:rPr sz="1250">
                          <a:solidFill>
                            <a:srgbClr val="12242A"/>
                          </a:solidFill>
                          <a:latin typeface="Calibri"/>
                          <a:ea typeface="Calibri"/>
                          <a:cs typeface="Calibri"/>
                        </a:rPr>
                        <a:t>Registry and maps</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FFFFF"/>
                    </a:solidFill>
                  </a:tcPr>
                </a:tc>
                <a:tc>
                  <a:txBody>
                    <a:bodyPr/>
                    <a:lstStyle/>
                    <a:p>
                      <a:pPr marL="0" indent="0" algn="l">
                        <a:buNone/>
                      </a:pPr>
                      <a:r>
                        <a:rPr sz="1250">
                          <a:solidFill>
                            <a:srgbClr val="1F7A5C"/>
                          </a:solidFill>
                          <a:latin typeface="Calibri"/>
                          <a:ea typeface="Calibri"/>
                          <a:cs typeface="Calibri"/>
                        </a:rPr>
                        <a:t>Spatial queries</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FFFFF"/>
                    </a:solidFill>
                  </a:tcPr>
                </a:tc>
              </a:tr>
              <a:tr h="365760">
                <a:tc>
                  <a:txBody>
                    <a:bodyPr/>
                    <a:lstStyle/>
                    <a:p>
                      <a:pPr marL="0" indent="0" algn="l">
                        <a:buNone/>
                      </a:pPr>
                      <a:r>
                        <a:rPr sz="1250" b="1">
                          <a:solidFill>
                            <a:srgbClr val="12242A"/>
                          </a:solidFill>
                          <a:latin typeface="Calibri"/>
                          <a:ea typeface="Calibri"/>
                          <a:cs typeface="Calibri"/>
                        </a:rPr>
                        <a:t>API</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1F3F1"/>
                    </a:solidFill>
                  </a:tcPr>
                </a:tc>
                <a:tc>
                  <a:txBody>
                    <a:bodyPr/>
                    <a:lstStyle/>
                    <a:p>
                      <a:pPr marL="0" indent="0" algn="l">
                        <a:buNone/>
                      </a:pPr>
                      <a:r>
                        <a:rPr sz="1250">
                          <a:solidFill>
                            <a:srgbClr val="12242A"/>
                          </a:solidFill>
                          <a:latin typeface="Calibri"/>
                          <a:ea typeface="Calibri"/>
                          <a:cs typeface="Calibri"/>
                        </a:rPr>
                        <a:t>Python + FastAPI</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1F3F1"/>
                    </a:solidFill>
                  </a:tcPr>
                </a:tc>
                <a:tc>
                  <a:txBody>
                    <a:bodyPr/>
                    <a:lstStyle/>
                    <a:p>
                      <a:pPr marL="0" indent="0" algn="l">
                        <a:buNone/>
                      </a:pPr>
                      <a:r>
                        <a:rPr sz="1250">
                          <a:solidFill>
                            <a:srgbClr val="12242A"/>
                          </a:solidFill>
                          <a:latin typeface="Calibri"/>
                          <a:ea typeface="Calibri"/>
                          <a:cs typeface="Calibri"/>
                        </a:rPr>
                        <a:t>Control plane</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1F3F1"/>
                    </a:solidFill>
                  </a:tcPr>
                </a:tc>
                <a:tc>
                  <a:txBody>
                    <a:bodyPr/>
                    <a:lstStyle/>
                    <a:p>
                      <a:pPr marL="0" indent="0" algn="l">
                        <a:buNone/>
                      </a:pPr>
                      <a:r>
                        <a:rPr sz="1250">
                          <a:solidFill>
                            <a:srgbClr val="1F7A5C"/>
                          </a:solidFill>
                          <a:latin typeface="Calibri"/>
                          <a:ea typeface="Calibri"/>
                          <a:cs typeface="Calibri"/>
                        </a:rPr>
                        <a:t>REST / OpenAPI</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1F3F1"/>
                    </a:solidFill>
                  </a:tcPr>
                </a:tc>
              </a:tr>
              <a:tr h="365760">
                <a:tc>
                  <a:txBody>
                    <a:bodyPr/>
                    <a:lstStyle/>
                    <a:p>
                      <a:pPr marL="0" indent="0" algn="l">
                        <a:buNone/>
                      </a:pPr>
                      <a:r>
                        <a:rPr sz="1250" b="1">
                          <a:solidFill>
                            <a:srgbClr val="12242A"/>
                          </a:solidFill>
                          <a:latin typeface="Calibri"/>
                          <a:ea typeface="Calibri"/>
                          <a:cs typeface="Calibri"/>
                        </a:rPr>
                        <a:t>Data</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FFFFF"/>
                    </a:solidFill>
                  </a:tcPr>
                </a:tc>
                <a:tc>
                  <a:txBody>
                    <a:bodyPr/>
                    <a:lstStyle/>
                    <a:p>
                      <a:pPr marL="0" indent="0" algn="l">
                        <a:buNone/>
                      </a:pPr>
                      <a:r>
                        <a:rPr sz="1250">
                          <a:solidFill>
                            <a:srgbClr val="12242A"/>
                          </a:solidFill>
                          <a:latin typeface="Calibri"/>
                          <a:ea typeface="Calibri"/>
                          <a:cs typeface="Calibri"/>
                        </a:rPr>
                        <a:t>PostgreSQL 17</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FFFFF"/>
                    </a:solidFill>
                  </a:tcPr>
                </a:tc>
                <a:tc>
                  <a:txBody>
                    <a:bodyPr/>
                    <a:lstStyle/>
                    <a:p>
                      <a:pPr marL="0" indent="0" algn="l">
                        <a:buNone/>
                      </a:pPr>
                      <a:r>
                        <a:rPr sz="1250">
                          <a:solidFill>
                            <a:srgbClr val="12242A"/>
                          </a:solidFill>
                          <a:latin typeface="Calibri"/>
                          <a:ea typeface="Calibri"/>
                          <a:cs typeface="Calibri"/>
                        </a:rPr>
                        <a:t>Metadata and events</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FFFFF"/>
                    </a:solidFill>
                  </a:tcPr>
                </a:tc>
                <a:tc>
                  <a:txBody>
                    <a:bodyPr/>
                    <a:lstStyle/>
                    <a:p>
                      <a:pPr marL="0" indent="0" algn="l">
                        <a:buNone/>
                      </a:pPr>
                      <a:r>
                        <a:rPr sz="1250">
                          <a:solidFill>
                            <a:srgbClr val="1F7A5C"/>
                          </a:solidFill>
                          <a:latin typeface="Calibri"/>
                          <a:ea typeface="Calibri"/>
                          <a:cs typeface="Calibri"/>
                        </a:rPr>
                        <a:t>Relational + JSON</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FFFFF"/>
                    </a:solidFill>
                  </a:tcPr>
                </a:tc>
              </a:tr>
              <a:tr h="365760">
                <a:tc>
                  <a:txBody>
                    <a:bodyPr/>
                    <a:lstStyle/>
                    <a:p>
                      <a:pPr marL="0" indent="0" algn="l">
                        <a:buNone/>
                      </a:pPr>
                      <a:r>
                        <a:rPr sz="1250" b="1">
                          <a:solidFill>
                            <a:srgbClr val="12242A"/>
                          </a:solidFill>
                          <a:latin typeface="Calibri"/>
                          <a:ea typeface="Calibri"/>
                          <a:cs typeface="Calibri"/>
                        </a:rPr>
                        <a:t>Media</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1F3F1"/>
                    </a:solidFill>
                  </a:tcPr>
                </a:tc>
                <a:tc>
                  <a:txBody>
                    <a:bodyPr/>
                    <a:lstStyle/>
                    <a:p>
                      <a:pPr marL="0" indent="0" algn="l">
                        <a:buNone/>
                      </a:pPr>
                      <a:r>
                        <a:rPr sz="1250">
                          <a:solidFill>
                            <a:srgbClr val="12242A"/>
                          </a:solidFill>
                          <a:latin typeface="Calibri"/>
                          <a:ea typeface="Calibri"/>
                          <a:cs typeface="Calibri"/>
                        </a:rPr>
                        <a:t>FFmpeg + OpenCV</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1F3F1"/>
                    </a:solidFill>
                  </a:tcPr>
                </a:tc>
                <a:tc>
                  <a:txBody>
                    <a:bodyPr/>
                    <a:lstStyle/>
                    <a:p>
                      <a:pPr marL="0" indent="0" algn="l">
                        <a:buNone/>
                      </a:pPr>
                      <a:r>
                        <a:rPr sz="1250">
                          <a:solidFill>
                            <a:srgbClr val="12242A"/>
                          </a:solidFill>
                          <a:latin typeface="Calibri"/>
                          <a:ea typeface="Calibri"/>
                          <a:cs typeface="Calibri"/>
                        </a:rPr>
                        <a:t>Probe and decode</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1F3F1"/>
                    </a:solidFill>
                  </a:tcPr>
                </a:tc>
                <a:tc>
                  <a:txBody>
                    <a:bodyPr/>
                    <a:lstStyle/>
                    <a:p>
                      <a:pPr marL="0" indent="0" algn="l">
                        <a:buNone/>
                      </a:pPr>
                      <a:r>
                        <a:rPr sz="1250">
                          <a:solidFill>
                            <a:srgbClr val="1F7A5C"/>
                          </a:solidFill>
                          <a:latin typeface="Calibri"/>
                          <a:ea typeface="Calibri"/>
                          <a:cs typeface="Calibri"/>
                        </a:rPr>
                        <a:t>Codec flexibility</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1F3F1"/>
                    </a:solidFill>
                  </a:tcPr>
                </a:tc>
              </a:tr>
              <a:tr h="365760">
                <a:tc>
                  <a:txBody>
                    <a:bodyPr/>
                    <a:lstStyle/>
                    <a:p>
                      <a:pPr marL="0" indent="0" algn="l">
                        <a:buNone/>
                      </a:pPr>
                      <a:r>
                        <a:rPr sz="1250" b="1">
                          <a:solidFill>
                            <a:srgbClr val="12242A"/>
                          </a:solidFill>
                          <a:latin typeface="Calibri"/>
                          <a:ea typeface="Calibri"/>
                          <a:cs typeface="Calibri"/>
                        </a:rPr>
                        <a:t>Preview</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FFFFF"/>
                    </a:solidFill>
                  </a:tcPr>
                </a:tc>
                <a:tc>
                  <a:txBody>
                    <a:bodyPr/>
                    <a:lstStyle/>
                    <a:p>
                      <a:pPr marL="0" indent="0" algn="l">
                        <a:buNone/>
                      </a:pPr>
                      <a:r>
                        <a:rPr sz="1250">
                          <a:solidFill>
                            <a:srgbClr val="12242A"/>
                          </a:solidFill>
                          <a:latin typeface="Calibri"/>
                          <a:ea typeface="Calibri"/>
                          <a:cs typeface="Calibri"/>
                        </a:rPr>
                        <a:t>MediaMTX + WHEP</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FFFFF"/>
                    </a:solidFill>
                  </a:tcPr>
                </a:tc>
                <a:tc>
                  <a:txBody>
                    <a:bodyPr/>
                    <a:lstStyle/>
                    <a:p>
                      <a:pPr marL="0" indent="0" algn="l">
                        <a:buNone/>
                      </a:pPr>
                      <a:r>
                        <a:rPr sz="1250">
                          <a:solidFill>
                            <a:srgbClr val="12242A"/>
                          </a:solidFill>
                          <a:latin typeface="Calibri"/>
                          <a:ea typeface="Calibri"/>
                          <a:cs typeface="Calibri"/>
                        </a:rPr>
                        <a:t>Low-latency view</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FFFFF"/>
                    </a:solidFill>
                  </a:tcPr>
                </a:tc>
                <a:tc>
                  <a:txBody>
                    <a:bodyPr/>
                    <a:lstStyle/>
                    <a:p>
                      <a:pPr marL="0" indent="0" algn="l">
                        <a:buNone/>
                      </a:pPr>
                      <a:r>
                        <a:rPr sz="1250">
                          <a:solidFill>
                            <a:srgbClr val="1F7A5C"/>
                          </a:solidFill>
                          <a:latin typeface="Calibri"/>
                          <a:ea typeface="Calibri"/>
                          <a:cs typeface="Calibri"/>
                        </a:rPr>
                        <a:t>WebRTC delivery</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FFFFF"/>
                    </a:solidFill>
                  </a:tcPr>
                </a:tc>
              </a:tr>
              <a:tr h="365760">
                <a:tc>
                  <a:txBody>
                    <a:bodyPr/>
                    <a:lstStyle/>
                    <a:p>
                      <a:pPr marL="0" indent="0" algn="l">
                        <a:buNone/>
                      </a:pPr>
                      <a:r>
                        <a:rPr sz="1250" b="1">
                          <a:solidFill>
                            <a:srgbClr val="12242A"/>
                          </a:solidFill>
                          <a:latin typeface="Calibri"/>
                          <a:ea typeface="Calibri"/>
                          <a:cs typeface="Calibri"/>
                        </a:rPr>
                        <a:t>Detection</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1F3F1"/>
                    </a:solidFill>
                  </a:tcPr>
                </a:tc>
                <a:tc>
                  <a:txBody>
                    <a:bodyPr/>
                    <a:lstStyle/>
                    <a:p>
                      <a:pPr marL="0" indent="0" algn="l">
                        <a:buNone/>
                      </a:pPr>
                      <a:r>
                        <a:rPr sz="1250">
                          <a:solidFill>
                            <a:srgbClr val="12242A"/>
                          </a:solidFill>
                          <a:latin typeface="Calibri"/>
                          <a:ea typeface="Calibri"/>
                          <a:cs typeface="Calibri"/>
                        </a:rPr>
                        <a:t>YOLO11 + ByteTrack</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1F3F1"/>
                    </a:solidFill>
                  </a:tcPr>
                </a:tc>
                <a:tc>
                  <a:txBody>
                    <a:bodyPr/>
                    <a:lstStyle/>
                    <a:p>
                      <a:pPr marL="0" indent="0" algn="l">
                        <a:buNone/>
                      </a:pPr>
                      <a:r>
                        <a:rPr sz="1250">
                          <a:solidFill>
                            <a:srgbClr val="12242A"/>
                          </a:solidFill>
                          <a:latin typeface="Calibri"/>
                          <a:ea typeface="Calibri"/>
                          <a:cs typeface="Calibri"/>
                        </a:rPr>
                        <a:t>Detect and track</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1F3F1"/>
                    </a:solidFill>
                  </a:tcPr>
                </a:tc>
                <a:tc>
                  <a:txBody>
                    <a:bodyPr/>
                    <a:lstStyle/>
                    <a:p>
                      <a:pPr marL="0" indent="0" algn="l">
                        <a:buNone/>
                      </a:pPr>
                      <a:r>
                        <a:rPr sz="1250">
                          <a:solidFill>
                            <a:srgbClr val="1F7A5C"/>
                          </a:solidFill>
                          <a:latin typeface="Calibri"/>
                          <a:ea typeface="Calibri"/>
                          <a:cs typeface="Calibri"/>
                        </a:rPr>
                        <a:t>GPU workers</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1F3F1"/>
                    </a:solidFill>
                  </a:tcPr>
                </a:tc>
              </a:tr>
              <a:tr h="365760">
                <a:tc>
                  <a:txBody>
                    <a:bodyPr/>
                    <a:lstStyle/>
                    <a:p>
                      <a:pPr marL="0" indent="0" algn="l">
                        <a:buNone/>
                      </a:pPr>
                      <a:r>
                        <a:rPr sz="1250" b="1">
                          <a:solidFill>
                            <a:srgbClr val="12242A"/>
                          </a:solidFill>
                          <a:latin typeface="Calibri"/>
                          <a:ea typeface="Calibri"/>
                          <a:cs typeface="Calibri"/>
                        </a:rPr>
                        <a:t>Recognition</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FFFFF"/>
                    </a:solidFill>
                  </a:tcPr>
                </a:tc>
                <a:tc>
                  <a:txBody>
                    <a:bodyPr/>
                    <a:lstStyle/>
                    <a:p>
                      <a:pPr marL="0" indent="0" algn="l">
                        <a:buNone/>
                      </a:pPr>
                      <a:r>
                        <a:rPr sz="1250">
                          <a:solidFill>
                            <a:srgbClr val="12242A"/>
                          </a:solidFill>
                          <a:latin typeface="Calibri"/>
                          <a:ea typeface="Calibri"/>
                          <a:cs typeface="Calibri"/>
                        </a:rPr>
                        <a:t>fast-alpr + ONNX</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FFFFF"/>
                    </a:solidFill>
                  </a:tcPr>
                </a:tc>
                <a:tc>
                  <a:txBody>
                    <a:bodyPr/>
                    <a:lstStyle/>
                    <a:p>
                      <a:pPr marL="0" indent="0" algn="l">
                        <a:buNone/>
                      </a:pPr>
                      <a:r>
                        <a:rPr sz="1250">
                          <a:solidFill>
                            <a:srgbClr val="12242A"/>
                          </a:solidFill>
                          <a:latin typeface="Calibri"/>
                          <a:ea typeface="Calibri"/>
                          <a:cs typeface="Calibri"/>
                        </a:rPr>
                        <a:t>ANPR and FRS</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FFFFF"/>
                    </a:solidFill>
                  </a:tcPr>
                </a:tc>
                <a:tc>
                  <a:txBody>
                    <a:bodyPr/>
                    <a:lstStyle/>
                    <a:p>
                      <a:pPr marL="0" indent="0" algn="l">
                        <a:buNone/>
                      </a:pPr>
                      <a:r>
                        <a:rPr sz="1250">
                          <a:solidFill>
                            <a:srgbClr val="1F7A5C"/>
                          </a:solidFill>
                          <a:latin typeface="Calibri"/>
                          <a:ea typeface="Calibri"/>
                          <a:cs typeface="Calibri"/>
                        </a:rPr>
                        <a:t>Model portability</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FFFFF"/>
                    </a:solidFill>
                  </a:tcPr>
                </a:tc>
              </a:tr>
              <a:tr h="365760">
                <a:tc>
                  <a:txBody>
                    <a:bodyPr/>
                    <a:lstStyle/>
                    <a:p>
                      <a:pPr marL="0" indent="0" algn="l">
                        <a:buNone/>
                      </a:pPr>
                      <a:r>
                        <a:rPr sz="1250" b="1">
                          <a:solidFill>
                            <a:srgbClr val="12242A"/>
                          </a:solidFill>
                          <a:latin typeface="Calibri"/>
                          <a:ea typeface="Calibri"/>
                          <a:cs typeface="Calibri"/>
                        </a:rPr>
                        <a:t>Workers</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1F3F1"/>
                    </a:solidFill>
                  </a:tcPr>
                </a:tc>
                <a:tc>
                  <a:txBody>
                    <a:bodyPr/>
                    <a:lstStyle/>
                    <a:p>
                      <a:pPr marL="0" indent="0" algn="l">
                        <a:buNone/>
                      </a:pPr>
                      <a:r>
                        <a:rPr sz="1250">
                          <a:solidFill>
                            <a:srgbClr val="12242A"/>
                          </a:solidFill>
                          <a:latin typeface="Calibri"/>
                          <a:ea typeface="Calibri"/>
                          <a:cs typeface="Calibri"/>
                        </a:rPr>
                        <a:t>Python services</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1F3F1"/>
                    </a:solidFill>
                  </a:tcPr>
                </a:tc>
                <a:tc>
                  <a:txBody>
                    <a:bodyPr/>
                    <a:lstStyle/>
                    <a:p>
                      <a:pPr marL="0" indent="0" algn="l">
                        <a:buNone/>
                      </a:pPr>
                      <a:r>
                        <a:rPr sz="1250">
                          <a:solidFill>
                            <a:srgbClr val="12242A"/>
                          </a:solidFill>
                          <a:latin typeface="Calibri"/>
                          <a:ea typeface="Calibri"/>
                          <a:cs typeface="Calibri"/>
                        </a:rPr>
                        <a:t>Bounded analytics</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1F3F1"/>
                    </a:solidFill>
                  </a:tcPr>
                </a:tc>
                <a:tc>
                  <a:txBody>
                    <a:bodyPr/>
                    <a:lstStyle/>
                    <a:p>
                      <a:pPr marL="0" indent="0" algn="l">
                        <a:buNone/>
                      </a:pPr>
                      <a:r>
                        <a:rPr sz="1250">
                          <a:solidFill>
                            <a:srgbClr val="1F7A5C"/>
                          </a:solidFill>
                          <a:latin typeface="Calibri"/>
                          <a:ea typeface="Calibri"/>
                          <a:cs typeface="Calibri"/>
                        </a:rPr>
                        <a:t>Per-stream scale</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1F3F1"/>
                    </a:solidFill>
                  </a:tcPr>
                </a:tc>
              </a:tr>
              <a:tr h="365760">
                <a:tc>
                  <a:txBody>
                    <a:bodyPr/>
                    <a:lstStyle/>
                    <a:p>
                      <a:pPr marL="0" indent="0" algn="l">
                        <a:buNone/>
                      </a:pPr>
                      <a:r>
                        <a:rPr sz="1250" b="1">
                          <a:solidFill>
                            <a:srgbClr val="12242A"/>
                          </a:solidFill>
                          <a:latin typeface="Calibri"/>
                          <a:ea typeface="Calibri"/>
                          <a:cs typeface="Calibri"/>
                        </a:rPr>
                        <a:t>Integration</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FFFFF"/>
                    </a:solidFill>
                  </a:tcPr>
                </a:tc>
                <a:tc>
                  <a:txBody>
                    <a:bodyPr/>
                    <a:lstStyle/>
                    <a:p>
                      <a:pPr marL="0" indent="0" algn="l">
                        <a:buNone/>
                      </a:pPr>
                      <a:r>
                        <a:rPr sz="1250">
                          <a:solidFill>
                            <a:srgbClr val="12242A"/>
                          </a:solidFill>
                          <a:latin typeface="Calibri"/>
                          <a:ea typeface="Calibri"/>
                          <a:cs typeface="Calibri"/>
                        </a:rPr>
                        <a:t>REST + adapters</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FFFFF"/>
                    </a:solidFill>
                  </a:tcPr>
                </a:tc>
                <a:tc>
                  <a:txBody>
                    <a:bodyPr/>
                    <a:lstStyle/>
                    <a:p>
                      <a:pPr marL="0" indent="0" algn="l">
                        <a:buNone/>
                      </a:pPr>
                      <a:r>
                        <a:rPr sz="1250">
                          <a:solidFill>
                            <a:srgbClr val="12242A"/>
                          </a:solidFill>
                          <a:latin typeface="Calibri"/>
                          <a:ea typeface="Calibri"/>
                          <a:cs typeface="Calibri"/>
                        </a:rPr>
                        <a:t>Cameras and VMS</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FFFFF"/>
                    </a:solidFill>
                  </a:tcPr>
                </a:tc>
                <a:tc>
                  <a:txBody>
                    <a:bodyPr/>
                    <a:lstStyle/>
                    <a:p>
                      <a:pPr marL="0" indent="0" algn="l">
                        <a:buNone/>
                      </a:pPr>
                      <a:r>
                        <a:rPr sz="1250" b="0">
                          <a:solidFill>
                            <a:srgbClr val="1F7A5C"/>
                          </a:solidFill>
                          <a:latin typeface="Calibri"/>
                          <a:ea typeface="Calibri"/>
                          <a:cs typeface="Calibri"/>
                        </a:rPr>
                        <a:t>Replaceable connectors</a:t>
                      </a:r>
                      <a:endParaRPr sz="1250">
                        <a:latin typeface="Calibri"/>
                        <a:ea typeface="Calibri"/>
                        <a:cs typeface="Calibri"/>
                      </a:endParaRPr>
                    </a:p>
                  </a:txBody>
                  <a:tcPr marL="128016" marR="128016" marT="54864" marB="54864" anchor="ctr">
                    <a:lnL w="6350" cmpd="sng">
                      <a:solidFill>
                        <a:srgbClr val="DADFDC"/>
                      </a:solidFill>
                      <a:prstDash val="solid"/>
                    </a:lnL>
                    <a:lnR w="6350" cmpd="sng">
                      <a:solidFill>
                        <a:srgbClr val="DADFDC"/>
                      </a:solidFill>
                      <a:prstDash val="solid"/>
                    </a:lnR>
                    <a:lnT w="6350" cmpd="sng">
                      <a:solidFill>
                        <a:srgbClr val="DADFDC"/>
                      </a:solidFill>
                      <a:prstDash val="solid"/>
                    </a:lnT>
                    <a:lnB w="6350" cmpd="sng">
                      <a:solidFill>
                        <a:srgbClr val="DADFDC"/>
                      </a:solidFill>
                      <a:prstDash val="solid"/>
                    </a:lnB>
                    <a:solidFill>
                      <a:srgbClr val="FFFFFF"/>
                    </a:solidFill>
                  </a:tcPr>
                </a:tc>
              </a:tr>
            </a:tbl>
          </a:graphicData>
        </a:graphic>
      </p:graphicFrame>
      <p:sp>
        <p:nvSpPr>
          <p:cNvPr id="6" name="Text 3">
            <a:extLst xmlns:a="http://schemas.openxmlformats.org/drawingml/2006/main">
              <a:ext uri="{FF2B5EF4-FFF2-40B4-BE49-F238E27FC236}">
                <a16:creationId xmlns:a16="http://schemas.microsoft.com/office/drawing/2014/main" id="{BCEA0567-FE3F-45BE-88D3-F7131E01639C}"/>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150">
                <a:solidFill>
                  <a:srgbClr val="6B7570"/>
                </a:solidFill>
                <a:latin typeface="Courier New"/>
                <a:ea typeface="Courier New"/>
                <a:cs typeface="Courier New"/>
              </a:rPr>
              <a:t>SENTINEL GUJARAT</a:t>
            </a:r>
            <a:endParaRPr sz="900"/>
          </a:p>
        </p:txBody>
      </p:sp>
      <p:sp>
        <p:nvSpPr>
          <p:cNvPr id="7" name="Text 4">
            <a:extLst xmlns:a="http://schemas.openxmlformats.org/drawingml/2006/main">
              <a:ext uri="{FF2B5EF4-FFF2-40B4-BE49-F238E27FC236}">
                <a16:creationId xmlns:a16="http://schemas.microsoft.com/office/drawing/2014/main" id="{7284A926-326A-4A53-8F13-FAF4AE1D48D7}"/>
              </a:ext>
            </a:extLst>
          </p:cNvPr>
          <p:cNvSpPr>
            <a:spLocks xmlns:a="http://schemas.openxmlformats.org/drawingml/2006/main" noGrp="1"/>
          </p:cNvSpPr>
          <p:nvPr/>
        </p:nvSpPr>
        <p:spPr>
          <a:xfrm xmlns:a="http://schemas.openxmlformats.org/drawingml/2006/main">
            <a:off x="10728655" y="6473952"/>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570"/>
                </a:solidFill>
                <a:latin typeface="Courier New"/>
                <a:ea typeface="Courier New"/>
                <a:cs typeface="Courier New"/>
              </a:rPr>
              <a:t>12</a:t>
            </a:r>
            <a:endParaRPr sz="900"/>
          </a:p>
        </p:txBody>
      </p:sp>
    </p:spTree>
    <p:extLst>
      <p:ext uri="{BB962C8B-B14F-4D97-AF65-F5344CB8AC3E}">
        <p14:creationId xmlns:p14="http://schemas.microsoft.com/office/powerpoint/2010/main" val="631932278"/>
      </p:ext>
    </p:extLst>
  </p:cSld>
</p:sld>
</file>

<file path=ppt/slides/slide13.xml><?xml version="1.0" encoding="utf-8"?>
<p:sld xmlns:p="http://schemas.openxmlformats.org/presentationml/2006/main">
  <p:cSld>
    <p:bg>
      <p:bgPr>
        <a:solidFill xmlns:a="http://schemas.openxmlformats.org/drawingml/2006/main">
          <a:srgbClr val="12242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2281AFB-1849-472F-A6F5-04D71CC0C32A}"/>
              </a:ext>
            </a:extLst>
          </p:cNvPr>
          <p:cNvSpPr>
            <a:spLocks xmlns:a="http://schemas.openxmlformats.org/drawingml/2006/main" noGrp="1"/>
          </p:cNvSpPr>
          <p:nvPr/>
        </p:nvSpPr>
        <p:spPr>
          <a:xfrm xmlns:a="http://schemas.openxmlformats.org/drawingml/2006/main">
            <a:off x="548640" y="45720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1F7A5C"/>
                </a:solidFill>
                <a:latin typeface="Courier New"/>
                <a:ea typeface="Courier New"/>
                <a:cs typeface="Courier New"/>
              </a:rPr>
              <a:t>STATEWIDE DEPLOYMENT</a:t>
            </a:r>
            <a:endParaRPr sz="1100"/>
          </a:p>
        </p:txBody>
      </p:sp>
      <p:sp>
        <p:nvSpPr>
          <p:cNvPr id="3" name="Text 1">
            <a:extLst xmlns:a="http://schemas.openxmlformats.org/drawingml/2006/main">
              <a:ext uri="{FF2B5EF4-FFF2-40B4-BE49-F238E27FC236}">
                <a16:creationId xmlns:a16="http://schemas.microsoft.com/office/drawing/2014/main" id="{EAF64DA7-58B7-478A-82C6-8E4C4E63F458}"/>
              </a:ext>
            </a:extLst>
          </p:cNvPr>
          <p:cNvSpPr>
            <a:spLocks xmlns:a="http://schemas.openxmlformats.org/drawingml/2006/main" noGrp="1"/>
          </p:cNvSpPr>
          <p:nvPr/>
        </p:nvSpPr>
        <p:spPr>
          <a:xfrm xmlns:a="http://schemas.openxmlformats.org/drawingml/2006/main">
            <a:off x="548640" y="749808"/>
            <a:ext cx="1078992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2600" b="1">
                <a:solidFill>
                  <a:srgbClr val="FFFFFF"/>
                </a:solidFill>
                <a:latin typeface="Cambria"/>
                <a:ea typeface="Cambria"/>
                <a:cs typeface="Cambria"/>
              </a:rPr>
              <a:t>Regional processing scales the platform toward 80,000 cameras</a:t>
            </a:r>
            <a:endParaRPr sz="2600"/>
          </a:p>
        </p:txBody>
      </p:sp>
      <p:sp>
        <p:nvSpPr>
          <p:cNvPr id="4" name="Text 2">
            <a:extLst xmlns:a="http://schemas.openxmlformats.org/drawingml/2006/main">
              <a:ext uri="{FF2B5EF4-FFF2-40B4-BE49-F238E27FC236}">
                <a16:creationId xmlns:a16="http://schemas.microsoft.com/office/drawing/2014/main" id="{9FF4A14E-172D-414B-B62C-F2659CD65C12}"/>
              </a:ext>
            </a:extLst>
          </p:cNvPr>
          <p:cNvSpPr>
            <a:spLocks xmlns:a="http://schemas.openxmlformats.org/drawingml/2006/main" noGrp="1"/>
          </p:cNvSpPr>
          <p:nvPr/>
        </p:nvSpPr>
        <p:spPr>
          <a:xfrm xmlns:a="http://schemas.openxmlformats.org/drawingml/2006/main">
            <a:off x="548640" y="1691640"/>
            <a:ext cx="51206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4000" b="1">
                <a:solidFill>
                  <a:srgbClr val="FFFFFF"/>
                </a:solidFill>
                <a:latin typeface="Cambria"/>
                <a:ea typeface="Cambria"/>
                <a:cs typeface="Cambria"/>
              </a:rPr>
              <a:t>Pilot → ~80,000</a:t>
            </a:r>
            <a:endParaRPr sz="4000"/>
          </a:p>
        </p:txBody>
      </p:sp>
      <p:sp>
        <p:nvSpPr>
          <p:cNvPr id="5" name="Text 3">
            <a:extLst xmlns:a="http://schemas.openxmlformats.org/drawingml/2006/main">
              <a:ext uri="{FF2B5EF4-FFF2-40B4-BE49-F238E27FC236}">
                <a16:creationId xmlns:a16="http://schemas.microsoft.com/office/drawing/2014/main" id="{3F27CFCF-ABD8-47ED-AAB7-374F4D11407B}"/>
              </a:ext>
            </a:extLst>
          </p:cNvPr>
          <p:cNvSpPr>
            <a:spLocks xmlns:a="http://schemas.openxmlformats.org/drawingml/2006/main" noGrp="1"/>
          </p:cNvSpPr>
          <p:nvPr/>
        </p:nvSpPr>
        <p:spPr>
          <a:xfrm xmlns:a="http://schemas.openxmlformats.org/drawingml/2006/main">
            <a:off x="548640" y="2478024"/>
            <a:ext cx="5120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6B7570"/>
                </a:solidFill>
                <a:latin typeface="Calibri"/>
                <a:ea typeface="Calibri"/>
                <a:cs typeface="Calibri"/>
              </a:rPr>
              <a:t>Camera registration and active analytics scale independently. Only policy-selected streams need continuous inference.</a:t>
            </a:r>
            <a:endParaRPr sz="1300"/>
          </a:p>
        </p:txBody>
      </p:sp>
      <p:sp>
        <p:nvSpPr>
          <p:cNvPr id="6" name="Shape 4">
            <a:extLst xmlns:a="http://schemas.openxmlformats.org/drawingml/2006/main">
              <a:ext uri="{FF2B5EF4-FFF2-40B4-BE49-F238E27FC236}">
                <a16:creationId xmlns:a16="http://schemas.microsoft.com/office/drawing/2014/main" id="{70F52DBF-F717-43D0-A7A1-D59C0A3A1AC2}"/>
              </a:ext>
            </a:extLst>
          </p:cNvPr>
          <p:cNvSpPr>
            <a:spLocks xmlns:a="http://schemas.openxmlformats.org/drawingml/2006/main" noGrp="1"/>
          </p:cNvSpPr>
          <p:nvPr/>
        </p:nvSpPr>
        <p:spPr>
          <a:xfrm xmlns:a="http://schemas.openxmlformats.org/drawingml/2006/main">
            <a:off x="548640" y="3977640"/>
            <a:ext cx="3291840" cy="1965960"/>
          </a:xfrm>
          <a:prstGeom xmlns:a="http://schemas.openxmlformats.org/drawingml/2006/main" prst="roundRect">
            <a:avLst>
              <a:gd name="adj" fmla="val 4186"/>
            </a:avLst>
          </a:prstGeom>
          <a:solidFill xmlns:a="http://schemas.openxmlformats.org/drawingml/2006/main">
            <a:srgbClr val="1B2E31"/>
          </a:solidFill>
          <a:ln xmlns:a="http://schemas.openxmlformats.org/drawingml/2006/main" w="12700">
            <a:solidFill>
              <a:srgbClr val="5C6864"/>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hape 5">
            <a:extLst xmlns:a="http://schemas.openxmlformats.org/drawingml/2006/main">
              <a:ext uri="{FF2B5EF4-FFF2-40B4-BE49-F238E27FC236}">
                <a16:creationId xmlns:a16="http://schemas.microsoft.com/office/drawing/2014/main" id="{9B5AC6AF-5465-4FF4-A31C-4DB217924496}"/>
              </a:ext>
            </a:extLst>
          </p:cNvPr>
          <p:cNvSpPr>
            <a:spLocks xmlns:a="http://schemas.openxmlformats.org/drawingml/2006/main" noGrp="1"/>
          </p:cNvSpPr>
          <p:nvPr/>
        </p:nvSpPr>
        <p:spPr>
          <a:xfrm xmlns:a="http://schemas.openxmlformats.org/drawingml/2006/main">
            <a:off x="786384" y="4215384"/>
            <a:ext cx="566928" cy="566928"/>
          </a:xfrm>
          <a:prstGeom xmlns:a="http://schemas.openxmlformats.org/drawingml/2006/main" prst="ellipse">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a:endParaRPr/>
          </a:p>
        </p:txBody>
      </p:sp>
      <p:pic>
        <p:nvPicPr>
          <p:cNvPr id="34" name="Image 0"/>
          <p:cNvPicPr>
            <a:picLocks xmlns:a="http://schemas.openxmlformats.org/drawingml/2006/main" noChangeAspect="1"/>
          </p:cNvPicPr>
          <p:nvPr/>
        </p:nvPicPr>
        <p:blipFill>
          <a:blip xmlns:r="http://schemas.openxmlformats.org/officeDocument/2006/relationships" xmlns:a="http://schemas.openxmlformats.org/drawingml/2006/main" r:embed="Ref2bfe2b2d484c5b"/>
          <a:stretch xmlns:a="http://schemas.openxmlformats.org/drawingml/2006/main">
            <a:fillRect l="0" t="0" r="0" b="0"/>
          </a:stretch>
        </p:blipFill>
        <p:spPr>
          <a:xfrm xmlns:a="http://schemas.openxmlformats.org/drawingml/2006/main">
            <a:off x="913943" y="4342943"/>
            <a:ext cx="311810" cy="31181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2A471A88-34F3-4BA9-BB06-7AC3262D8407}"/>
              </a:ext>
            </a:extLst>
          </p:cNvPr>
          <p:cNvSpPr>
            <a:spLocks xmlns:a="http://schemas.openxmlformats.org/drawingml/2006/main" noGrp="1"/>
          </p:cNvSpPr>
          <p:nvPr/>
        </p:nvSpPr>
        <p:spPr>
          <a:xfrm xmlns:a="http://schemas.openxmlformats.org/drawingml/2006/main">
            <a:off x="1463040" y="4251960"/>
            <a:ext cx="2194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latin typeface="Cambria"/>
                <a:ea typeface="Cambria"/>
                <a:cs typeface="Cambria"/>
              </a:rPr>
              <a:t>Department / edge</a:t>
            </a:r>
            <a:endParaRPr sz="1500"/>
          </a:p>
        </p:txBody>
      </p:sp>
      <p:sp>
        <p:nvSpPr>
          <p:cNvPr id="10" name="Text 7">
            <a:extLst xmlns:a="http://schemas.openxmlformats.org/drawingml/2006/main">
              <a:ext uri="{FF2B5EF4-FFF2-40B4-BE49-F238E27FC236}">
                <a16:creationId xmlns:a16="http://schemas.microsoft.com/office/drawing/2014/main" id="{FDEF08C3-DA79-47B6-964C-5F526EF3F385}"/>
              </a:ext>
            </a:extLst>
          </p:cNvPr>
          <p:cNvSpPr>
            <a:spLocks xmlns:a="http://schemas.openxmlformats.org/drawingml/2006/main" noGrp="1"/>
          </p:cNvSpPr>
          <p:nvPr/>
        </p:nvSpPr>
        <p:spPr>
          <a:xfrm xmlns:a="http://schemas.openxmlformats.org/drawingml/2006/main">
            <a:off x="786384" y="4910328"/>
            <a:ext cx="281635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8000"/>
              </a:lnSpc>
              <a:buNone/>
            </a:pPr>
            <a:r>
              <a:rPr sz="1150">
                <a:solidFill>
                  <a:srgbClr val="C9D2CE"/>
                </a:solidFill>
                <a:latin typeface="Calibri"/>
                <a:ea typeface="Calibri"/>
                <a:cs typeface="Calibri"/>
              </a:rPr>
              <a:t>Camera and VMS adapters, health checks, local preview, buffering and optional inference.</a:t>
            </a:r>
            <a:endParaRPr sz="1150"/>
          </a:p>
        </p:txBody>
      </p:sp>
      <p:sp>
        <p:nvSpPr>
          <p:cNvPr id="11" name="Shape 8">
            <a:extLst xmlns:a="http://schemas.openxmlformats.org/drawingml/2006/main">
              <a:ext uri="{FF2B5EF4-FFF2-40B4-BE49-F238E27FC236}">
                <a16:creationId xmlns:a16="http://schemas.microsoft.com/office/drawing/2014/main" id="{796F2C8C-DED8-4286-9228-BC60C4BF6BED}"/>
              </a:ext>
            </a:extLst>
          </p:cNvPr>
          <p:cNvSpPr>
            <a:spLocks xmlns:a="http://schemas.openxmlformats.org/drawingml/2006/main" noGrp="1"/>
          </p:cNvSpPr>
          <p:nvPr/>
        </p:nvSpPr>
        <p:spPr>
          <a:xfrm xmlns:a="http://schemas.openxmlformats.org/drawingml/2006/main">
            <a:off x="3840480" y="4905756"/>
            <a:ext cx="481432" cy="109728"/>
          </a:xfrm>
          <a:prstGeom xmlns:a="http://schemas.openxmlformats.org/drawingml/2006/main" prst="rightArrow">
            <a:avLst/>
          </a:prstGeom>
          <a:solidFill xmlns:a="http://schemas.openxmlformats.org/drawingml/2006/main">
            <a:srgbClr val="1F7A5C"/>
          </a:solidFill>
        </p:spPr>
        <p:txBody>
          <a:bodyPr xmlns:a="http://schemas.openxmlformats.org/drawingml/2006/main"/>
          <a:lstStyle xmlns:a="http://schemas.openxmlformats.org/drawingml/2006/main"/>
          <a:p xmlns:a="http://schemas.openxmlformats.org/drawingml/2006/main">
            <a:endParaRPr/>
          </a:p>
        </p:txBody>
      </p:sp>
      <p:sp>
        <p:nvSpPr>
          <p:cNvPr id="12" name="Shape 9">
            <a:extLst xmlns:a="http://schemas.openxmlformats.org/drawingml/2006/main">
              <a:ext uri="{FF2B5EF4-FFF2-40B4-BE49-F238E27FC236}">
                <a16:creationId xmlns:a16="http://schemas.microsoft.com/office/drawing/2014/main" id="{2CEC3E56-8734-4AFE-88C9-843A6EBA9940}"/>
              </a:ext>
            </a:extLst>
          </p:cNvPr>
          <p:cNvSpPr>
            <a:spLocks xmlns:a="http://schemas.openxmlformats.org/drawingml/2006/main" noGrp="1"/>
          </p:cNvSpPr>
          <p:nvPr/>
        </p:nvSpPr>
        <p:spPr>
          <a:xfrm xmlns:a="http://schemas.openxmlformats.org/drawingml/2006/main">
            <a:off x="4449928" y="3977640"/>
            <a:ext cx="3291840" cy="1965960"/>
          </a:xfrm>
          <a:prstGeom xmlns:a="http://schemas.openxmlformats.org/drawingml/2006/main" prst="roundRect">
            <a:avLst>
              <a:gd name="adj" fmla="val 4186"/>
            </a:avLst>
          </a:prstGeom>
          <a:solidFill xmlns:a="http://schemas.openxmlformats.org/drawingml/2006/main">
            <a:srgbClr val="1E4A40"/>
          </a:solidFill>
          <a:ln xmlns:a="http://schemas.openxmlformats.org/drawingml/2006/main" w="12700">
            <a:solidFill>
              <a:srgbClr val="5C6864"/>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10">
            <a:extLst xmlns:a="http://schemas.openxmlformats.org/drawingml/2006/main">
              <a:ext uri="{FF2B5EF4-FFF2-40B4-BE49-F238E27FC236}">
                <a16:creationId xmlns:a16="http://schemas.microsoft.com/office/drawing/2014/main" id="{E576DCED-DAAA-4022-AEC1-344BCA63D2A4}"/>
              </a:ext>
            </a:extLst>
          </p:cNvPr>
          <p:cNvSpPr>
            <a:spLocks xmlns:a="http://schemas.openxmlformats.org/drawingml/2006/main" noGrp="1"/>
          </p:cNvSpPr>
          <p:nvPr/>
        </p:nvSpPr>
        <p:spPr>
          <a:xfrm xmlns:a="http://schemas.openxmlformats.org/drawingml/2006/main">
            <a:off x="4687672" y="4215384"/>
            <a:ext cx="566928" cy="566928"/>
          </a:xfrm>
          <a:prstGeom xmlns:a="http://schemas.openxmlformats.org/drawingml/2006/main" prst="ellipse">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a:endParaRPr/>
          </a:p>
        </p:txBody>
      </p:sp>
      <p:pic>
        <p:nvPicPr>
          <p:cNvPr id="40" name="Image 1"/>
          <p:cNvPicPr>
            <a:picLocks xmlns:a="http://schemas.openxmlformats.org/drawingml/2006/main" noChangeAspect="1"/>
          </p:cNvPicPr>
          <p:nvPr/>
        </p:nvPicPr>
        <p:blipFill>
          <a:blip xmlns:r="http://schemas.openxmlformats.org/officeDocument/2006/relationships" xmlns:a="http://schemas.openxmlformats.org/drawingml/2006/main" r:embed="R0df8538d8d5a4299"/>
          <a:stretch xmlns:a="http://schemas.openxmlformats.org/drawingml/2006/main">
            <a:fillRect l="0" t="0" r="0" b="0"/>
          </a:stretch>
        </p:blipFill>
        <p:spPr>
          <a:xfrm xmlns:a="http://schemas.openxmlformats.org/drawingml/2006/main">
            <a:off x="4815230" y="4342943"/>
            <a:ext cx="311810" cy="311810"/>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2CA3B6F9-098D-45CD-98B9-9CD3F7ED6F78}"/>
              </a:ext>
            </a:extLst>
          </p:cNvPr>
          <p:cNvSpPr>
            <a:spLocks xmlns:a="http://schemas.openxmlformats.org/drawingml/2006/main" noGrp="1"/>
          </p:cNvSpPr>
          <p:nvPr/>
        </p:nvSpPr>
        <p:spPr>
          <a:xfrm xmlns:a="http://schemas.openxmlformats.org/drawingml/2006/main">
            <a:off x="5364328" y="4251960"/>
            <a:ext cx="2194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latin typeface="Cambria"/>
                <a:ea typeface="Cambria"/>
                <a:cs typeface="Cambria"/>
              </a:rPr>
              <a:t>Regional nodes</a:t>
            </a:r>
            <a:endParaRPr sz="1500"/>
          </a:p>
        </p:txBody>
      </p:sp>
      <p:sp>
        <p:nvSpPr>
          <p:cNvPr id="16" name="Text 12">
            <a:extLst xmlns:a="http://schemas.openxmlformats.org/drawingml/2006/main">
              <a:ext uri="{FF2B5EF4-FFF2-40B4-BE49-F238E27FC236}">
                <a16:creationId xmlns:a16="http://schemas.microsoft.com/office/drawing/2014/main" id="{9327F7AF-A753-4DC7-8114-D1438CCB66FB}"/>
              </a:ext>
            </a:extLst>
          </p:cNvPr>
          <p:cNvSpPr>
            <a:spLocks xmlns:a="http://schemas.openxmlformats.org/drawingml/2006/main" noGrp="1"/>
          </p:cNvSpPr>
          <p:nvPr/>
        </p:nvSpPr>
        <p:spPr>
          <a:xfrm xmlns:a="http://schemas.openxmlformats.org/drawingml/2006/main">
            <a:off x="4687672" y="4910328"/>
            <a:ext cx="281635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8000"/>
              </a:lnSpc>
              <a:buNone/>
            </a:pPr>
            <a:r>
              <a:rPr sz="1150">
                <a:solidFill>
                  <a:srgbClr val="C9D2CE"/>
                </a:solidFill>
                <a:latin typeface="Calibri"/>
                <a:ea typeface="Calibri"/>
                <a:cs typeface="Calibri"/>
              </a:rPr>
              <a:t>Worker pools, policy enforcement, alert routing, event queues and resilient storage.</a:t>
            </a:r>
            <a:endParaRPr sz="1150"/>
          </a:p>
        </p:txBody>
      </p:sp>
      <p:sp>
        <p:nvSpPr>
          <p:cNvPr id="17" name="Shape 13">
            <a:extLst xmlns:a="http://schemas.openxmlformats.org/drawingml/2006/main">
              <a:ext uri="{FF2B5EF4-FFF2-40B4-BE49-F238E27FC236}">
                <a16:creationId xmlns:a16="http://schemas.microsoft.com/office/drawing/2014/main" id="{1B76375C-79D1-4CA0-AB15-4E7E9722D2E4}"/>
              </a:ext>
            </a:extLst>
          </p:cNvPr>
          <p:cNvSpPr>
            <a:spLocks xmlns:a="http://schemas.openxmlformats.org/drawingml/2006/main" noGrp="1"/>
          </p:cNvSpPr>
          <p:nvPr/>
        </p:nvSpPr>
        <p:spPr>
          <a:xfrm xmlns:a="http://schemas.openxmlformats.org/drawingml/2006/main">
            <a:off x="7741768" y="4905756"/>
            <a:ext cx="481432" cy="109728"/>
          </a:xfrm>
          <a:prstGeom xmlns:a="http://schemas.openxmlformats.org/drawingml/2006/main" prst="rightArrow">
            <a:avLst/>
          </a:prstGeom>
          <a:solidFill xmlns:a="http://schemas.openxmlformats.org/drawingml/2006/main">
            <a:srgbClr val="1F7A5C"/>
          </a:solidFill>
        </p:spPr>
        <p:txBody>
          <a:bodyPr xmlns:a="http://schemas.openxmlformats.org/drawingml/2006/main"/>
          <a:lstStyle xmlns:a="http://schemas.openxmlformats.org/drawingml/2006/main"/>
          <a:p xmlns:a="http://schemas.openxmlformats.org/drawingml/2006/main">
            <a:endParaRPr/>
          </a:p>
        </p:txBody>
      </p:sp>
      <p:sp>
        <p:nvSpPr>
          <p:cNvPr id="18" name="Shape 14">
            <a:extLst xmlns:a="http://schemas.openxmlformats.org/drawingml/2006/main">
              <a:ext uri="{FF2B5EF4-FFF2-40B4-BE49-F238E27FC236}">
                <a16:creationId xmlns:a16="http://schemas.microsoft.com/office/drawing/2014/main" id="{E4BCC1C3-80CE-423C-884E-ABD272C17E02}"/>
              </a:ext>
            </a:extLst>
          </p:cNvPr>
          <p:cNvSpPr>
            <a:spLocks xmlns:a="http://schemas.openxmlformats.org/drawingml/2006/main" noGrp="1"/>
          </p:cNvSpPr>
          <p:nvPr/>
        </p:nvSpPr>
        <p:spPr>
          <a:xfrm xmlns:a="http://schemas.openxmlformats.org/drawingml/2006/main">
            <a:off x="8351215" y="3977640"/>
            <a:ext cx="3291840" cy="1965960"/>
          </a:xfrm>
          <a:prstGeom xmlns:a="http://schemas.openxmlformats.org/drawingml/2006/main" prst="roundRect">
            <a:avLst>
              <a:gd name="adj" fmla="val 4186"/>
            </a:avLst>
          </a:prstGeom>
          <a:solidFill xmlns:a="http://schemas.openxmlformats.org/drawingml/2006/main">
            <a:srgbClr val="1F7A5C"/>
          </a:solidFill>
          <a:ln xmlns:a="http://schemas.openxmlformats.org/drawingml/2006/main" w="12700">
            <a:solidFill>
              <a:srgbClr val="5C686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Shape 15">
            <a:extLst xmlns:a="http://schemas.openxmlformats.org/drawingml/2006/main">
              <a:ext uri="{FF2B5EF4-FFF2-40B4-BE49-F238E27FC236}">
                <a16:creationId xmlns:a16="http://schemas.microsoft.com/office/drawing/2014/main" id="{7CD113A3-17E7-4D3E-B213-DC7E8F6C3E17}"/>
              </a:ext>
            </a:extLst>
          </p:cNvPr>
          <p:cNvSpPr>
            <a:spLocks xmlns:a="http://schemas.openxmlformats.org/drawingml/2006/main" noGrp="1"/>
          </p:cNvSpPr>
          <p:nvPr/>
        </p:nvSpPr>
        <p:spPr>
          <a:xfrm xmlns:a="http://schemas.openxmlformats.org/drawingml/2006/main">
            <a:off x="8588959" y="4215384"/>
            <a:ext cx="566928" cy="566928"/>
          </a:xfrm>
          <a:prstGeom xmlns:a="http://schemas.openxmlformats.org/drawingml/2006/main" prst="ellipse">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a:endParaRPr/>
          </a:p>
        </p:txBody>
      </p:sp>
      <p:pic>
        <p:nvPicPr>
          <p:cNvPr id="46" name="Image 2"/>
          <p:cNvPicPr>
            <a:picLocks xmlns:a="http://schemas.openxmlformats.org/drawingml/2006/main" noChangeAspect="1"/>
          </p:cNvPicPr>
          <p:nvPr/>
        </p:nvPicPr>
        <p:blipFill>
          <a:blip xmlns:r="http://schemas.openxmlformats.org/officeDocument/2006/relationships" xmlns:a="http://schemas.openxmlformats.org/drawingml/2006/main" r:embed="Rb0a07f74a9384d70"/>
          <a:stretch xmlns:a="http://schemas.openxmlformats.org/drawingml/2006/main">
            <a:fillRect l="0" t="0" r="0" b="0"/>
          </a:stretch>
        </p:blipFill>
        <p:spPr>
          <a:xfrm xmlns:a="http://schemas.openxmlformats.org/drawingml/2006/main">
            <a:off x="8716518" y="4342943"/>
            <a:ext cx="311810" cy="311810"/>
          </a:xfrm>
          <a:prstGeom xmlns:a="http://schemas.openxmlformats.org/drawingml/2006/main" prst="rect">
            <a:avLst/>
          </a:prstGeom>
        </p:spPr>
      </p:pic>
      <p:sp>
        <p:nvSpPr>
          <p:cNvPr id="21" name="Text 16">
            <a:extLst xmlns:a="http://schemas.openxmlformats.org/drawingml/2006/main">
              <a:ext uri="{FF2B5EF4-FFF2-40B4-BE49-F238E27FC236}">
                <a16:creationId xmlns:a16="http://schemas.microsoft.com/office/drawing/2014/main" id="{96340432-3863-4515-B06B-3012DCB81A61}"/>
              </a:ext>
            </a:extLst>
          </p:cNvPr>
          <p:cNvSpPr>
            <a:spLocks xmlns:a="http://schemas.openxmlformats.org/drawingml/2006/main" noGrp="1"/>
          </p:cNvSpPr>
          <p:nvPr/>
        </p:nvSpPr>
        <p:spPr>
          <a:xfrm xmlns:a="http://schemas.openxmlformats.org/drawingml/2006/main">
            <a:off x="9265615" y="4251960"/>
            <a:ext cx="2194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latin typeface="Cambria"/>
                <a:ea typeface="Cambria"/>
                <a:cs typeface="Cambria"/>
              </a:rPr>
              <a:t>State services</a:t>
            </a:r>
            <a:endParaRPr sz="1500"/>
          </a:p>
        </p:txBody>
      </p:sp>
      <p:sp>
        <p:nvSpPr>
          <p:cNvPr id="22" name="Text 17">
            <a:extLst xmlns:a="http://schemas.openxmlformats.org/drawingml/2006/main">
              <a:ext uri="{FF2B5EF4-FFF2-40B4-BE49-F238E27FC236}">
                <a16:creationId xmlns:a16="http://schemas.microsoft.com/office/drawing/2014/main" id="{F71BD4CF-365A-4170-AAC7-5F40C1078399}"/>
              </a:ext>
            </a:extLst>
          </p:cNvPr>
          <p:cNvSpPr>
            <a:spLocks xmlns:a="http://schemas.openxmlformats.org/drawingml/2006/main" noGrp="1"/>
          </p:cNvSpPr>
          <p:nvPr/>
        </p:nvSpPr>
        <p:spPr>
          <a:xfrm xmlns:a="http://schemas.openxmlformats.org/drawingml/2006/main">
            <a:off x="8588959" y="4910328"/>
            <a:ext cx="281635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8000"/>
              </a:lnSpc>
              <a:buNone/>
            </a:pPr>
            <a:r>
              <a:rPr sz="1150">
                <a:solidFill>
                  <a:srgbClr val="C9D2CE"/>
                </a:solidFill>
                <a:latin typeface="Calibri"/>
                <a:ea typeface="Calibri"/>
                <a:cs typeface="Calibri"/>
              </a:rPr>
              <a:t>Registry, watchlists, search, GIS, audit, governance and capacity control.</a:t>
            </a:r>
            <a:endParaRPr sz="1150"/>
          </a:p>
        </p:txBody>
      </p:sp>
      <p:sp>
        <p:nvSpPr>
          <p:cNvPr id="23" name="Text 18">
            <a:extLst xmlns:a="http://schemas.openxmlformats.org/drawingml/2006/main">
              <a:ext uri="{FF2B5EF4-FFF2-40B4-BE49-F238E27FC236}">
                <a16:creationId xmlns:a16="http://schemas.microsoft.com/office/drawing/2014/main" id="{3EE2CA98-970B-4009-AD1B-58867F15C086}"/>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150">
                <a:solidFill>
                  <a:srgbClr val="8E9B96"/>
                </a:solidFill>
                <a:latin typeface="Courier New"/>
                <a:ea typeface="Courier New"/>
                <a:cs typeface="Courier New"/>
              </a:rPr>
              <a:t>SENTINEL GUJARAT</a:t>
            </a:r>
            <a:endParaRPr sz="900"/>
          </a:p>
        </p:txBody>
      </p:sp>
      <p:sp>
        <p:nvSpPr>
          <p:cNvPr id="24" name="Text 19">
            <a:extLst xmlns:a="http://schemas.openxmlformats.org/drawingml/2006/main">
              <a:ext uri="{FF2B5EF4-FFF2-40B4-BE49-F238E27FC236}">
                <a16:creationId xmlns:a16="http://schemas.microsoft.com/office/drawing/2014/main" id="{8DBAD911-C285-4B1A-AFB1-745E3CF589CB}"/>
              </a:ext>
            </a:extLst>
          </p:cNvPr>
          <p:cNvSpPr>
            <a:spLocks xmlns:a="http://schemas.openxmlformats.org/drawingml/2006/main" noGrp="1"/>
          </p:cNvSpPr>
          <p:nvPr/>
        </p:nvSpPr>
        <p:spPr>
          <a:xfrm xmlns:a="http://schemas.openxmlformats.org/drawingml/2006/main">
            <a:off x="10728655" y="6473952"/>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8E9B96"/>
                </a:solidFill>
                <a:latin typeface="Courier New"/>
                <a:ea typeface="Courier New"/>
                <a:cs typeface="Courier New"/>
              </a:rPr>
              <a:t>13</a:t>
            </a:r>
            <a:endParaRPr sz="900"/>
          </a:p>
        </p:txBody>
      </p:sp>
    </p:spTree>
    <p:extLst>
      <p:ext uri="{BB962C8B-B14F-4D97-AF65-F5344CB8AC3E}">
        <p14:creationId xmlns:p14="http://schemas.microsoft.com/office/powerpoint/2010/main" val="167589331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2888BD1-3050-41D0-86DD-9C8E151D7DDD}"/>
              </a:ext>
            </a:extLst>
          </p:cNvPr>
          <p:cNvSpPr>
            <a:spLocks xmlns:a="http://schemas.openxmlformats.org/drawingml/2006/main" noGrp="1"/>
          </p:cNvSpPr>
          <p:nvPr/>
        </p:nvSpPr>
        <p:spPr>
          <a:xfrm xmlns:a="http://schemas.openxmlformats.org/drawingml/2006/main">
            <a:off x="548640" y="45720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1F7A5C"/>
                </a:solidFill>
                <a:latin typeface="Courier New"/>
                <a:ea typeface="Courier New"/>
                <a:cs typeface="Courier New"/>
              </a:rPr>
              <a:t>SECURITY + INTEROPERABILITY</a:t>
            </a:r>
            <a:endParaRPr sz="1100"/>
          </a:p>
        </p:txBody>
      </p:sp>
      <p:sp>
        <p:nvSpPr>
          <p:cNvPr id="3" name="Text 1">
            <a:extLst xmlns:a="http://schemas.openxmlformats.org/drawingml/2006/main">
              <a:ext uri="{FF2B5EF4-FFF2-40B4-BE49-F238E27FC236}">
                <a16:creationId xmlns:a16="http://schemas.microsoft.com/office/drawing/2014/main" id="{44F7AADE-17E6-40C8-A3C7-2F4811FB9092}"/>
              </a:ext>
            </a:extLst>
          </p:cNvPr>
          <p:cNvSpPr>
            <a:spLocks xmlns:a="http://schemas.openxmlformats.org/drawingml/2006/main" noGrp="1"/>
          </p:cNvSpPr>
          <p:nvPr/>
        </p:nvSpPr>
        <p:spPr>
          <a:xfrm xmlns:a="http://schemas.openxmlformats.org/drawingml/2006/main">
            <a:off x="548640" y="749808"/>
            <a:ext cx="11094415"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2700" b="1">
                <a:solidFill>
                  <a:srgbClr val="12242A"/>
                </a:solidFill>
                <a:latin typeface="Cambria"/>
                <a:ea typeface="Cambria"/>
                <a:cs typeface="Cambria"/>
              </a:rPr>
              <a:t>Security and interoperability are enforced at every boundary</a:t>
            </a:r>
            <a:endParaRPr sz="2700"/>
          </a:p>
        </p:txBody>
      </p:sp>
      <p:sp>
        <p:nvSpPr>
          <p:cNvPr id="4" name="Text 2">
            <a:extLst xmlns:a="http://schemas.openxmlformats.org/drawingml/2006/main">
              <a:ext uri="{FF2B5EF4-FFF2-40B4-BE49-F238E27FC236}">
                <a16:creationId xmlns:a16="http://schemas.microsoft.com/office/drawing/2014/main" id="{F97B3976-C6AF-4547-8B9F-25AC61E38997}"/>
              </a:ext>
            </a:extLst>
          </p:cNvPr>
          <p:cNvSpPr>
            <a:spLocks xmlns:a="http://schemas.openxmlformats.org/drawingml/2006/main" noGrp="1"/>
          </p:cNvSpPr>
          <p:nvPr/>
        </p:nvSpPr>
        <p:spPr>
          <a:xfrm xmlns:a="http://schemas.openxmlformats.org/drawingml/2006/main">
            <a:off x="548640" y="1463040"/>
            <a:ext cx="9144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6B7570"/>
                </a:solidFill>
                <a:latin typeface="Calibri"/>
                <a:ea typeface="Calibri"/>
                <a:cs typeface="Calibri"/>
              </a:rPr>
              <a:t>Deploy on-premises, in a state data centre or on approved hybrid infrastructure.</a:t>
            </a:r>
            <a:endParaRPr sz="1400"/>
          </a:p>
        </p:txBody>
      </p:sp>
      <p:sp>
        <p:nvSpPr>
          <p:cNvPr id="5" name="Shape 3">
            <a:extLst xmlns:a="http://schemas.openxmlformats.org/drawingml/2006/main">
              <a:ext uri="{FF2B5EF4-FFF2-40B4-BE49-F238E27FC236}">
                <a16:creationId xmlns:a16="http://schemas.microsoft.com/office/drawing/2014/main" id="{EA74F7C4-B70E-4ECA-B4E8-B2040AE046BD}"/>
              </a:ext>
            </a:extLst>
          </p:cNvPr>
          <p:cNvSpPr>
            <a:spLocks xmlns:a="http://schemas.openxmlformats.org/drawingml/2006/main" noGrp="1"/>
          </p:cNvSpPr>
          <p:nvPr/>
        </p:nvSpPr>
        <p:spPr>
          <a:xfrm xmlns:a="http://schemas.openxmlformats.org/drawingml/2006/main">
            <a:off x="548640" y="2057400"/>
            <a:ext cx="11091672" cy="2697480"/>
          </a:xfrm>
          <a:prstGeom xmlns:a="http://schemas.openxmlformats.org/drawingml/2006/main" prst="roundRect">
            <a:avLst>
              <a:gd name="adj" fmla="val 1379"/>
            </a:avLst>
          </a:prstGeom>
          <a:solidFill xmlns:a="http://schemas.openxmlformats.org/drawingml/2006/main">
            <a:srgbClr val="F1F3F1"/>
          </a:solidFill>
          <a:ln xmlns:a="http://schemas.openxmlformats.org/drawingml/2006/main" w="9525">
            <a:solidFill>
              <a:srgbClr val="DADFDC"/>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21D94EC8-C6B1-41F6-BBF6-F4793BEA6DB0}"/>
              </a:ext>
            </a:extLst>
          </p:cNvPr>
          <p:cNvSpPr>
            <a:spLocks xmlns:a="http://schemas.openxmlformats.org/drawingml/2006/main" noGrp="1"/>
          </p:cNvSpPr>
          <p:nvPr/>
        </p:nvSpPr>
        <p:spPr>
          <a:xfrm xmlns:a="http://schemas.openxmlformats.org/drawingml/2006/main">
            <a:off x="822960" y="2276856"/>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b="1">
                <a:solidFill>
                  <a:srgbClr val="12242A"/>
                </a:solidFill>
                <a:latin typeface="Cambria"/>
                <a:ea typeface="Cambria"/>
                <a:cs typeface="Cambria"/>
              </a:rPr>
              <a:t>Core controls and contracts</a:t>
            </a:r>
            <a:endParaRPr sz="1550"/>
          </a:p>
        </p:txBody>
      </p:sp>
      <p:sp>
        <p:nvSpPr>
          <p:cNvPr id="7" name="Shape 5">
            <a:extLst xmlns:a="http://schemas.openxmlformats.org/drawingml/2006/main">
              <a:ext uri="{FF2B5EF4-FFF2-40B4-BE49-F238E27FC236}">
                <a16:creationId xmlns:a16="http://schemas.microsoft.com/office/drawing/2014/main" id="{4CF3D272-FDA5-4FDA-9899-689A9DA908CD}"/>
              </a:ext>
            </a:extLst>
          </p:cNvPr>
          <p:cNvSpPr>
            <a:spLocks xmlns:a="http://schemas.openxmlformats.org/drawingml/2006/main" noGrp="1"/>
          </p:cNvSpPr>
          <p:nvPr/>
        </p:nvSpPr>
        <p:spPr>
          <a:xfrm xmlns:a="http://schemas.openxmlformats.org/drawingml/2006/main">
            <a:off x="822960" y="2770632"/>
            <a:ext cx="256032" cy="256032"/>
          </a:xfrm>
          <a:prstGeom xmlns:a="http://schemas.openxmlformats.org/drawingml/2006/main" prst="ellipse">
            <a:avLst/>
          </a:prstGeom>
          <a:solidFill xmlns:a="http://schemas.openxmlformats.org/drawingml/2006/main">
            <a:srgbClr val="1F7A5C"/>
          </a:solidFill>
        </p:spPr>
        <p:txBody>
          <a:bodyPr xmlns:a="http://schemas.openxmlformats.org/drawingml/2006/main"/>
          <a:lstStyle xmlns:a="http://schemas.openxmlformats.org/drawingml/2006/main"/>
          <a:p xmlns:a="http://schemas.openxmlformats.org/drawingml/2006/main">
            <a:endParaRPr/>
          </a:p>
        </p:txBody>
      </p:sp>
      <p:pic>
        <p:nvPicPr>
          <p:cNvPr id="58" name="Image 0"/>
          <p:cNvPicPr>
            <a:picLocks xmlns:a="http://schemas.openxmlformats.org/drawingml/2006/main" noChangeAspect="1"/>
          </p:cNvPicPr>
          <p:nvPr/>
        </p:nvPicPr>
        <p:blipFill>
          <a:blip xmlns:r="http://schemas.openxmlformats.org/officeDocument/2006/relationships" xmlns:a="http://schemas.openxmlformats.org/drawingml/2006/main" r:embed="R588e02c206464fc4">
            <a:extLst>
              <a:ext uri="{96DAC541-7B7A-43D3-8B79-37D633B846F1}">
                <asvg:svgBlip xmlns:asvg="http://schemas.microsoft.com/office/drawing/2016/SVG/main" r:embed="Rf6b72c59e4c94b18"/>
              </a:ext>
            </a:extLst>
          </a:blip>
          <a:srcRect xmlns:a="http://schemas.openxmlformats.org/drawingml/2006/main" l="0" t="0" r="0" b="0"/>
          <a:stretch xmlns:a="http://schemas.openxmlformats.org/drawingml/2006/main"/>
        </p:blipFill>
        <p:spPr>
          <a:xfrm xmlns:a="http://schemas.openxmlformats.org/drawingml/2006/main">
            <a:off x="874166" y="2835015"/>
            <a:ext cx="153619" cy="153619"/>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03A19829-D5AC-48D0-8671-D569E1966D6F}"/>
              </a:ext>
            </a:extLst>
          </p:cNvPr>
          <p:cNvSpPr>
            <a:spLocks xmlns:a="http://schemas.openxmlformats.org/drawingml/2006/main" noGrp="1"/>
          </p:cNvSpPr>
          <p:nvPr/>
        </p:nvSpPr>
        <p:spPr>
          <a:xfrm xmlns:a="http://schemas.openxmlformats.org/drawingml/2006/main">
            <a:off x="1207008" y="2715768"/>
            <a:ext cx="4480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3A4744"/>
                </a:solidFill>
                <a:latin typeface="Calibri"/>
                <a:ea typeface="Calibri"/>
                <a:cs typeface="Calibri"/>
              </a:rPr>
              <a:t>Department-scoped RBAC and least-privilege operator roles</a:t>
            </a:r>
            <a:endParaRPr sz="1250"/>
          </a:p>
        </p:txBody>
      </p:sp>
      <p:sp>
        <p:nvSpPr>
          <p:cNvPr id="10" name="Shape 7">
            <a:extLst xmlns:a="http://schemas.openxmlformats.org/drawingml/2006/main">
              <a:ext uri="{FF2B5EF4-FFF2-40B4-BE49-F238E27FC236}">
                <a16:creationId xmlns:a16="http://schemas.microsoft.com/office/drawing/2014/main" id="{7C15A3FD-08E6-42FB-8C10-1A8670A8782B}"/>
              </a:ext>
            </a:extLst>
          </p:cNvPr>
          <p:cNvSpPr>
            <a:spLocks xmlns:a="http://schemas.openxmlformats.org/drawingml/2006/main" noGrp="1"/>
          </p:cNvSpPr>
          <p:nvPr/>
        </p:nvSpPr>
        <p:spPr>
          <a:xfrm xmlns:a="http://schemas.openxmlformats.org/drawingml/2006/main">
            <a:off x="822960" y="3209544"/>
            <a:ext cx="256032" cy="256032"/>
          </a:xfrm>
          <a:prstGeom xmlns:a="http://schemas.openxmlformats.org/drawingml/2006/main" prst="ellipse">
            <a:avLst/>
          </a:prstGeom>
          <a:solidFill xmlns:a="http://schemas.openxmlformats.org/drawingml/2006/main">
            <a:srgbClr val="1F7A5C"/>
          </a:solidFill>
        </p:spPr>
        <p:txBody>
          <a:bodyPr xmlns:a="http://schemas.openxmlformats.org/drawingml/2006/main"/>
          <a:lstStyle xmlns:a="http://schemas.openxmlformats.org/drawingml/2006/main"/>
          <a:p xmlns:a="http://schemas.openxmlformats.org/drawingml/2006/main">
            <a:endParaRPr/>
          </a:p>
        </p:txBody>
      </p:sp>
      <p:sp>
        <p:nvSpPr>
          <p:cNvPr id="12" name="Text 8">
            <a:extLst xmlns:a="http://schemas.openxmlformats.org/drawingml/2006/main">
              <a:ext uri="{FF2B5EF4-FFF2-40B4-BE49-F238E27FC236}">
                <a16:creationId xmlns:a16="http://schemas.microsoft.com/office/drawing/2014/main" id="{41993E25-9C66-484F-BE5F-0C354246170E}"/>
              </a:ext>
            </a:extLst>
          </p:cNvPr>
          <p:cNvSpPr>
            <a:spLocks xmlns:a="http://schemas.openxmlformats.org/drawingml/2006/main" noGrp="1"/>
          </p:cNvSpPr>
          <p:nvPr/>
        </p:nvSpPr>
        <p:spPr>
          <a:xfrm xmlns:a="http://schemas.openxmlformats.org/drawingml/2006/main">
            <a:off x="1207008" y="3154680"/>
            <a:ext cx="4480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3A4744"/>
                </a:solidFill>
                <a:latin typeface="Calibri"/>
                <a:ea typeface="Calibri"/>
                <a:cs typeface="Calibri"/>
              </a:rPr>
              <a:t>Separate browser, worker and service credentials</a:t>
            </a:r>
            <a:endParaRPr sz="1250"/>
          </a:p>
        </p:txBody>
      </p:sp>
      <p:sp>
        <p:nvSpPr>
          <p:cNvPr id="13" name="Shape 9">
            <a:extLst xmlns:a="http://schemas.openxmlformats.org/drawingml/2006/main">
              <a:ext uri="{FF2B5EF4-FFF2-40B4-BE49-F238E27FC236}">
                <a16:creationId xmlns:a16="http://schemas.microsoft.com/office/drawing/2014/main" id="{F6A6DE93-D8B8-4B99-8D85-6982AB549392}"/>
              </a:ext>
            </a:extLst>
          </p:cNvPr>
          <p:cNvSpPr>
            <a:spLocks xmlns:a="http://schemas.openxmlformats.org/drawingml/2006/main" noGrp="1"/>
          </p:cNvSpPr>
          <p:nvPr/>
        </p:nvSpPr>
        <p:spPr>
          <a:xfrm xmlns:a="http://schemas.openxmlformats.org/drawingml/2006/main">
            <a:off x="822960" y="3648456"/>
            <a:ext cx="256032" cy="256032"/>
          </a:xfrm>
          <a:prstGeom xmlns:a="http://schemas.openxmlformats.org/drawingml/2006/main" prst="ellipse">
            <a:avLst/>
          </a:prstGeom>
          <a:solidFill xmlns:a="http://schemas.openxmlformats.org/drawingml/2006/main">
            <a:srgbClr val="1F7A5C"/>
          </a:solidFill>
        </p:spPr>
        <p:txBody>
          <a:bodyPr xmlns:a="http://schemas.openxmlformats.org/drawingml/2006/main"/>
          <a:lstStyle xmlns:a="http://schemas.openxmlformats.org/drawingml/2006/main"/>
          <a:p xmlns:a="http://schemas.openxmlformats.org/drawingml/2006/main">
            <a:endParaRPr/>
          </a:p>
        </p:txBody>
      </p:sp>
      <p:sp>
        <p:nvSpPr>
          <p:cNvPr id="15" name="Text 10">
            <a:extLst xmlns:a="http://schemas.openxmlformats.org/drawingml/2006/main">
              <a:ext uri="{FF2B5EF4-FFF2-40B4-BE49-F238E27FC236}">
                <a16:creationId xmlns:a16="http://schemas.microsoft.com/office/drawing/2014/main" id="{9AF2EAD6-FD25-47FC-B749-0C3AF4863947}"/>
              </a:ext>
            </a:extLst>
          </p:cNvPr>
          <p:cNvSpPr>
            <a:spLocks xmlns:a="http://schemas.openxmlformats.org/drawingml/2006/main" noGrp="1"/>
          </p:cNvSpPr>
          <p:nvPr/>
        </p:nvSpPr>
        <p:spPr>
          <a:xfrm xmlns:a="http://schemas.openxmlformats.org/drawingml/2006/main">
            <a:off x="1207008" y="3593592"/>
            <a:ext cx="4480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3A4744"/>
                </a:solidFill>
                <a:latin typeface="Calibri"/>
                <a:ea typeface="Calibri"/>
                <a:cs typeface="Calibri"/>
              </a:rPr>
              <a:t>Encrypted transport, secret management and server-side camera endpoints</a:t>
            </a:r>
            <a:endParaRPr sz="1250"/>
          </a:p>
        </p:txBody>
      </p:sp>
      <p:sp>
        <p:nvSpPr>
          <p:cNvPr id="16" name="Shape 11">
            <a:extLst xmlns:a="http://schemas.openxmlformats.org/drawingml/2006/main">
              <a:ext uri="{FF2B5EF4-FFF2-40B4-BE49-F238E27FC236}">
                <a16:creationId xmlns:a16="http://schemas.microsoft.com/office/drawing/2014/main" id="{F2EC13E3-2CE7-4A23-B265-CD741F619960}"/>
              </a:ext>
            </a:extLst>
          </p:cNvPr>
          <p:cNvSpPr>
            <a:spLocks xmlns:a="http://schemas.openxmlformats.org/drawingml/2006/main" noGrp="1"/>
          </p:cNvSpPr>
          <p:nvPr/>
        </p:nvSpPr>
        <p:spPr>
          <a:xfrm xmlns:a="http://schemas.openxmlformats.org/drawingml/2006/main">
            <a:off x="822960" y="4087368"/>
            <a:ext cx="256032" cy="256032"/>
          </a:xfrm>
          <a:prstGeom xmlns:a="http://schemas.openxmlformats.org/drawingml/2006/main" prst="ellipse">
            <a:avLst/>
          </a:prstGeom>
          <a:solidFill xmlns:a="http://schemas.openxmlformats.org/drawingml/2006/main">
            <a:srgbClr val="1F7A5C"/>
          </a:solidFill>
        </p:spPr>
        <p:txBody>
          <a:bodyPr xmlns:a="http://schemas.openxmlformats.org/drawingml/2006/main"/>
          <a:lstStyle xmlns:a="http://schemas.openxmlformats.org/drawingml/2006/main"/>
          <a:p xmlns:a="http://schemas.openxmlformats.org/drawingml/2006/main">
            <a:endParaRPr/>
          </a:p>
        </p:txBody>
      </p:sp>
      <p:sp>
        <p:nvSpPr>
          <p:cNvPr id="18" name="Text 12">
            <a:extLst xmlns:a="http://schemas.openxmlformats.org/drawingml/2006/main">
              <a:ext uri="{FF2B5EF4-FFF2-40B4-BE49-F238E27FC236}">
                <a16:creationId xmlns:a16="http://schemas.microsoft.com/office/drawing/2014/main" id="{EDA91A0F-6467-4613-B931-E151D194D0EF}"/>
              </a:ext>
            </a:extLst>
          </p:cNvPr>
          <p:cNvSpPr>
            <a:spLocks xmlns:a="http://schemas.openxmlformats.org/drawingml/2006/main" noGrp="1"/>
          </p:cNvSpPr>
          <p:nvPr/>
        </p:nvSpPr>
        <p:spPr>
          <a:xfrm xmlns:a="http://schemas.openxmlformats.org/drawingml/2006/main">
            <a:off x="1207008" y="4032504"/>
            <a:ext cx="4480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3A4744"/>
                </a:solidFill>
                <a:latin typeface="Calibri"/>
                <a:ea typeface="Calibri"/>
                <a:cs typeface="Calibri"/>
              </a:rPr>
              <a:t>ONVIF, RTSP/TCP, HLS, REST and vendor adapter contracts</a:t>
            </a:r>
            <a:endParaRPr sz="1250"/>
          </a:p>
        </p:txBody>
      </p:sp>
      <p:sp>
        <p:nvSpPr>
          <p:cNvPr id="19" name="Shape 13">
            <a:extLst xmlns:a="http://schemas.openxmlformats.org/drawingml/2006/main">
              <a:ext uri="{FF2B5EF4-FFF2-40B4-BE49-F238E27FC236}">
                <a16:creationId xmlns:a16="http://schemas.microsoft.com/office/drawing/2014/main" id="{1B3C605D-5EF8-4E04-BBC5-4D4A207F2651}"/>
              </a:ext>
            </a:extLst>
          </p:cNvPr>
          <p:cNvSpPr>
            <a:spLocks xmlns:a="http://schemas.openxmlformats.org/drawingml/2006/main" noGrp="1"/>
          </p:cNvSpPr>
          <p:nvPr/>
        </p:nvSpPr>
        <p:spPr>
          <a:xfrm xmlns:a="http://schemas.openxmlformats.org/drawingml/2006/main">
            <a:off x="6373368" y="2770632"/>
            <a:ext cx="256032" cy="256032"/>
          </a:xfrm>
          <a:prstGeom xmlns:a="http://schemas.openxmlformats.org/drawingml/2006/main" prst="ellipse">
            <a:avLst/>
          </a:prstGeom>
          <a:solidFill xmlns:a="http://schemas.openxmlformats.org/drawingml/2006/main">
            <a:srgbClr val="1F7A5C"/>
          </a:solidFill>
        </p:spPr>
        <p:txBody>
          <a:bodyPr xmlns:a="http://schemas.openxmlformats.org/drawingml/2006/main"/>
          <a:lstStyle xmlns:a="http://schemas.openxmlformats.org/drawingml/2006/main"/>
          <a:p xmlns:a="http://schemas.openxmlformats.org/drawingml/2006/main">
            <a:endParaRPr/>
          </a:p>
        </p:txBody>
      </p:sp>
      <p:sp>
        <p:nvSpPr>
          <p:cNvPr id="21" name="Text 14">
            <a:extLst xmlns:a="http://schemas.openxmlformats.org/drawingml/2006/main">
              <a:ext uri="{FF2B5EF4-FFF2-40B4-BE49-F238E27FC236}">
                <a16:creationId xmlns:a16="http://schemas.microsoft.com/office/drawing/2014/main" id="{938818B1-41C4-4306-9D70-CB87E58EAF29}"/>
              </a:ext>
            </a:extLst>
          </p:cNvPr>
          <p:cNvSpPr>
            <a:spLocks xmlns:a="http://schemas.openxmlformats.org/drawingml/2006/main" noGrp="1"/>
          </p:cNvSpPr>
          <p:nvPr/>
        </p:nvSpPr>
        <p:spPr>
          <a:xfrm xmlns:a="http://schemas.openxmlformats.org/drawingml/2006/main">
            <a:off x="6757416" y="2715768"/>
            <a:ext cx="4526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3A4744"/>
                </a:solidFill>
                <a:latin typeface="Calibri"/>
                <a:ea typeface="Calibri"/>
                <a:cs typeface="Calibri"/>
              </a:rPr>
              <a:t>Audit trail for access, alert decisions and operator state changes</a:t>
            </a:r>
            <a:endParaRPr sz="1250"/>
          </a:p>
        </p:txBody>
      </p:sp>
      <p:sp>
        <p:nvSpPr>
          <p:cNvPr id="22" name="Shape 15">
            <a:extLst xmlns:a="http://schemas.openxmlformats.org/drawingml/2006/main">
              <a:ext uri="{FF2B5EF4-FFF2-40B4-BE49-F238E27FC236}">
                <a16:creationId xmlns:a16="http://schemas.microsoft.com/office/drawing/2014/main" id="{E4288F9B-F569-4A84-BE80-8ED067F0F9EC}"/>
              </a:ext>
            </a:extLst>
          </p:cNvPr>
          <p:cNvSpPr>
            <a:spLocks xmlns:a="http://schemas.openxmlformats.org/drawingml/2006/main" noGrp="1"/>
          </p:cNvSpPr>
          <p:nvPr/>
        </p:nvSpPr>
        <p:spPr>
          <a:xfrm xmlns:a="http://schemas.openxmlformats.org/drawingml/2006/main">
            <a:off x="6373368" y="3209544"/>
            <a:ext cx="256032" cy="256032"/>
          </a:xfrm>
          <a:prstGeom xmlns:a="http://schemas.openxmlformats.org/drawingml/2006/main" prst="ellipse">
            <a:avLst/>
          </a:prstGeom>
          <a:solidFill xmlns:a="http://schemas.openxmlformats.org/drawingml/2006/main">
            <a:srgbClr val="1F7A5C"/>
          </a:solidFill>
        </p:spPr>
        <p:txBody>
          <a:bodyPr xmlns:a="http://schemas.openxmlformats.org/drawingml/2006/main"/>
          <a:lstStyle xmlns:a="http://schemas.openxmlformats.org/drawingml/2006/main"/>
          <a:p xmlns:a="http://schemas.openxmlformats.org/drawingml/2006/main">
            <a:endParaRPr/>
          </a:p>
        </p:txBody>
      </p:sp>
      <p:sp>
        <p:nvSpPr>
          <p:cNvPr id="24" name="Text 16">
            <a:extLst xmlns:a="http://schemas.openxmlformats.org/drawingml/2006/main">
              <a:ext uri="{FF2B5EF4-FFF2-40B4-BE49-F238E27FC236}">
                <a16:creationId xmlns:a16="http://schemas.microsoft.com/office/drawing/2014/main" id="{CD62AB24-EF51-4299-BBA0-C8AB1CDE81C8}"/>
              </a:ext>
            </a:extLst>
          </p:cNvPr>
          <p:cNvSpPr>
            <a:spLocks xmlns:a="http://schemas.openxmlformats.org/drawingml/2006/main" noGrp="1"/>
          </p:cNvSpPr>
          <p:nvPr/>
        </p:nvSpPr>
        <p:spPr>
          <a:xfrm xmlns:a="http://schemas.openxmlformats.org/drawingml/2006/main">
            <a:off x="6757416" y="3154680"/>
            <a:ext cx="4526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3A4744"/>
                </a:solidFill>
                <a:latin typeface="Calibri"/>
                <a:ea typeface="Calibri"/>
                <a:cs typeface="Calibri"/>
              </a:rPr>
              <a:t>Regional isolation, bounded retries, health checks and outage buffering</a:t>
            </a:r>
            <a:endParaRPr sz="1250"/>
          </a:p>
        </p:txBody>
      </p:sp>
      <p:sp>
        <p:nvSpPr>
          <p:cNvPr id="25" name="Shape 17">
            <a:extLst xmlns:a="http://schemas.openxmlformats.org/drawingml/2006/main">
              <a:ext uri="{FF2B5EF4-FFF2-40B4-BE49-F238E27FC236}">
                <a16:creationId xmlns:a16="http://schemas.microsoft.com/office/drawing/2014/main" id="{157AA75E-7A2E-4BD4-997C-F8F647C8ADD3}"/>
              </a:ext>
            </a:extLst>
          </p:cNvPr>
          <p:cNvSpPr>
            <a:spLocks xmlns:a="http://schemas.openxmlformats.org/drawingml/2006/main" noGrp="1"/>
          </p:cNvSpPr>
          <p:nvPr/>
        </p:nvSpPr>
        <p:spPr>
          <a:xfrm xmlns:a="http://schemas.openxmlformats.org/drawingml/2006/main">
            <a:off x="6373368" y="3648456"/>
            <a:ext cx="256032" cy="256032"/>
          </a:xfrm>
          <a:prstGeom xmlns:a="http://schemas.openxmlformats.org/drawingml/2006/main" prst="ellipse">
            <a:avLst/>
          </a:prstGeom>
          <a:solidFill xmlns:a="http://schemas.openxmlformats.org/drawingml/2006/main">
            <a:srgbClr val="1F7A5C"/>
          </a:solidFill>
        </p:spPr>
        <p:txBody>
          <a:bodyPr xmlns:a="http://schemas.openxmlformats.org/drawingml/2006/main"/>
          <a:lstStyle xmlns:a="http://schemas.openxmlformats.org/drawingml/2006/main"/>
          <a:p xmlns:a="http://schemas.openxmlformats.org/drawingml/2006/main">
            <a:endParaRPr/>
          </a:p>
        </p:txBody>
      </p:sp>
      <p:sp>
        <p:nvSpPr>
          <p:cNvPr id="27" name="Text 18">
            <a:extLst xmlns:a="http://schemas.openxmlformats.org/drawingml/2006/main">
              <a:ext uri="{FF2B5EF4-FFF2-40B4-BE49-F238E27FC236}">
                <a16:creationId xmlns:a16="http://schemas.microsoft.com/office/drawing/2014/main" id="{10F3BBF2-A3E6-45C7-B26B-8C1DB603B3BE}"/>
              </a:ext>
            </a:extLst>
          </p:cNvPr>
          <p:cNvSpPr>
            <a:spLocks xmlns:a="http://schemas.openxmlformats.org/drawingml/2006/main" noGrp="1"/>
          </p:cNvSpPr>
          <p:nvPr/>
        </p:nvSpPr>
        <p:spPr>
          <a:xfrm xmlns:a="http://schemas.openxmlformats.org/drawingml/2006/main">
            <a:off x="6757416" y="3593592"/>
            <a:ext cx="4526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3A4744"/>
                </a:solidFill>
                <a:latin typeface="Calibri"/>
                <a:ea typeface="Calibri"/>
                <a:cs typeface="Calibri"/>
              </a:rPr>
              <a:t>Retention, privacy masking and evidence access controlled by policy</a:t>
            </a:r>
            <a:endParaRPr sz="1250"/>
          </a:p>
        </p:txBody>
      </p:sp>
      <p:sp>
        <p:nvSpPr>
          <p:cNvPr id="43" name="Text 31">
            <a:extLst xmlns:a="http://schemas.openxmlformats.org/drawingml/2006/main">
              <a:ext uri="{FF2B5EF4-FFF2-40B4-BE49-F238E27FC236}">
                <a16:creationId xmlns:a16="http://schemas.microsoft.com/office/drawing/2014/main" id="{2709F2EB-E4CB-4E7F-965E-B49458EFDA0F}"/>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150">
                <a:solidFill>
                  <a:srgbClr val="6B7570"/>
                </a:solidFill>
                <a:latin typeface="Courier New"/>
                <a:ea typeface="Courier New"/>
                <a:cs typeface="Courier New"/>
              </a:rPr>
              <a:t>SENTINEL GUJARAT</a:t>
            </a:r>
            <a:endParaRPr sz="900"/>
          </a:p>
        </p:txBody>
      </p:sp>
      <p:sp>
        <p:nvSpPr>
          <p:cNvPr id="44" name="Text 32">
            <a:extLst xmlns:a="http://schemas.openxmlformats.org/drawingml/2006/main">
              <a:ext uri="{FF2B5EF4-FFF2-40B4-BE49-F238E27FC236}">
                <a16:creationId xmlns:a16="http://schemas.microsoft.com/office/drawing/2014/main" id="{BFBFE9ED-17CD-4157-BE9D-E16B4452531F}"/>
              </a:ext>
            </a:extLst>
          </p:cNvPr>
          <p:cNvSpPr>
            <a:spLocks xmlns:a="http://schemas.openxmlformats.org/drawingml/2006/main" noGrp="1"/>
          </p:cNvSpPr>
          <p:nvPr/>
        </p:nvSpPr>
        <p:spPr>
          <a:xfrm xmlns:a="http://schemas.openxmlformats.org/drawingml/2006/main">
            <a:off x="10728655" y="6473952"/>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570"/>
                </a:solidFill>
                <a:latin typeface="Courier New"/>
                <a:ea typeface="Courier New"/>
                <a:cs typeface="Courier New"/>
              </a:rPr>
              <a:t>14</a:t>
            </a:r>
            <a:endParaRPr sz="900"/>
          </a:p>
        </p:txBody>
      </p:sp>
      <p:pic>
        <p:nvPicPr>
          <p:cNvPr id="74" name="Image 0"/>
          <p:cNvPicPr>
            <a:picLocks xmlns:a="http://schemas.openxmlformats.org/drawingml/2006/main" noChangeAspect="1"/>
          </p:cNvPicPr>
          <p:nvPr/>
        </p:nvPicPr>
        <p:blipFill>
          <a:blip xmlns:r="http://schemas.openxmlformats.org/officeDocument/2006/relationships" xmlns:a="http://schemas.openxmlformats.org/drawingml/2006/main" r:embed="R588e02c206464fc4">
            <a:extLst>
              <a:ext uri="{96DAC541-7B7A-43D3-8B79-37D633B846F1}">
                <asvg:svgBlip xmlns:asvg="http://schemas.microsoft.com/office/drawing/2016/SVG/main" r:embed="Rf6b72c59e4c94b18"/>
              </a:ext>
            </a:extLst>
          </a:blip>
          <a:srcRect xmlns:a="http://schemas.openxmlformats.org/drawingml/2006/main" l="0" t="0" r="0" b="0"/>
          <a:stretch xmlns:a="http://schemas.openxmlformats.org/drawingml/2006/main"/>
        </p:blipFill>
        <p:spPr>
          <a:xfrm xmlns:a="http://schemas.openxmlformats.org/drawingml/2006/main">
            <a:off x="870828" y="3697174"/>
            <a:ext cx="153619" cy="153619"/>
          </a:xfrm>
          <a:prstGeom xmlns:a="http://schemas.openxmlformats.org/drawingml/2006/main" prst="rect">
            <a:avLst/>
          </a:prstGeom>
        </p:spPr>
      </p:pic>
      <p:pic>
        <p:nvPicPr>
          <p:cNvPr id="75" name="Image 0"/>
          <p:cNvPicPr>
            <a:picLocks xmlns:a="http://schemas.openxmlformats.org/drawingml/2006/main" noChangeAspect="1"/>
          </p:cNvPicPr>
          <p:nvPr/>
        </p:nvPicPr>
        <p:blipFill>
          <a:blip xmlns:r="http://schemas.openxmlformats.org/officeDocument/2006/relationships" xmlns:a="http://schemas.openxmlformats.org/drawingml/2006/main" r:embed="R588e02c206464fc4">
            <a:extLst>
              <a:ext uri="{96DAC541-7B7A-43D3-8B79-37D633B846F1}">
                <asvg:svgBlip xmlns:asvg="http://schemas.microsoft.com/office/drawing/2016/SVG/main" r:embed="Rf6b72c59e4c94b18"/>
              </a:ext>
            </a:extLst>
          </a:blip>
          <a:srcRect xmlns:a="http://schemas.openxmlformats.org/drawingml/2006/main" l="0" t="0" r="0" b="0"/>
          <a:stretch xmlns:a="http://schemas.openxmlformats.org/drawingml/2006/main"/>
        </p:blipFill>
        <p:spPr>
          <a:xfrm xmlns:a="http://schemas.openxmlformats.org/drawingml/2006/main">
            <a:off x="872947" y="3260391"/>
            <a:ext cx="153619" cy="153619"/>
          </a:xfrm>
          <a:prstGeom xmlns:a="http://schemas.openxmlformats.org/drawingml/2006/main" prst="rect">
            <a:avLst/>
          </a:prstGeom>
        </p:spPr>
      </p:pic>
      <p:pic>
        <p:nvPicPr>
          <p:cNvPr id="76" name="Image 0"/>
          <p:cNvPicPr>
            <a:picLocks xmlns:a="http://schemas.openxmlformats.org/drawingml/2006/main" noChangeAspect="1"/>
          </p:cNvPicPr>
          <p:nvPr/>
        </p:nvPicPr>
        <p:blipFill>
          <a:blip xmlns:r="http://schemas.openxmlformats.org/officeDocument/2006/relationships" xmlns:a="http://schemas.openxmlformats.org/drawingml/2006/main" r:embed="R588e02c206464fc4">
            <a:extLst>
              <a:ext uri="{96DAC541-7B7A-43D3-8B79-37D633B846F1}">
                <asvg:svgBlip xmlns:asvg="http://schemas.microsoft.com/office/drawing/2016/SVG/main" r:embed="Rf6b72c59e4c94b18"/>
              </a:ext>
            </a:extLst>
          </a:blip>
          <a:srcRect xmlns:a="http://schemas.openxmlformats.org/drawingml/2006/main" l="0" t="0" r="0" b="0"/>
          <a:stretch xmlns:a="http://schemas.openxmlformats.org/drawingml/2006/main"/>
        </p:blipFill>
        <p:spPr>
          <a:xfrm xmlns:a="http://schemas.openxmlformats.org/drawingml/2006/main">
            <a:off x="869928" y="4132803"/>
            <a:ext cx="153619" cy="153619"/>
          </a:xfrm>
          <a:prstGeom xmlns:a="http://schemas.openxmlformats.org/drawingml/2006/main" prst="rect">
            <a:avLst/>
          </a:prstGeom>
        </p:spPr>
      </p:pic>
      <p:pic>
        <p:nvPicPr>
          <p:cNvPr id="77" name="Image 0"/>
          <p:cNvPicPr>
            <a:picLocks xmlns:a="http://schemas.openxmlformats.org/drawingml/2006/main" noChangeAspect="1"/>
          </p:cNvPicPr>
          <p:nvPr/>
        </p:nvPicPr>
        <p:blipFill>
          <a:blip xmlns:r="http://schemas.openxmlformats.org/officeDocument/2006/relationships" xmlns:a="http://schemas.openxmlformats.org/drawingml/2006/main" r:embed="R588e02c206464fc4">
            <a:extLst>
              <a:ext uri="{96DAC541-7B7A-43D3-8B79-37D633B846F1}">
                <asvg:svgBlip xmlns:asvg="http://schemas.microsoft.com/office/drawing/2016/SVG/main" r:embed="Rf6b72c59e4c94b18"/>
              </a:ext>
            </a:extLst>
          </a:blip>
          <a:srcRect xmlns:a="http://schemas.openxmlformats.org/drawingml/2006/main" l="0" t="0" r="0" b="0"/>
          <a:stretch xmlns:a="http://schemas.openxmlformats.org/drawingml/2006/main"/>
        </p:blipFill>
        <p:spPr>
          <a:xfrm xmlns:a="http://schemas.openxmlformats.org/drawingml/2006/main">
            <a:off x="6424573" y="2847333"/>
            <a:ext cx="153619" cy="153619"/>
          </a:xfrm>
          <a:prstGeom xmlns:a="http://schemas.openxmlformats.org/drawingml/2006/main" prst="rect">
            <a:avLst/>
          </a:prstGeom>
        </p:spPr>
      </p:pic>
      <p:pic>
        <p:nvPicPr>
          <p:cNvPr id="78" name="Image 0"/>
          <p:cNvPicPr>
            <a:picLocks xmlns:a="http://schemas.openxmlformats.org/drawingml/2006/main" noChangeAspect="1"/>
          </p:cNvPicPr>
          <p:nvPr/>
        </p:nvPicPr>
        <p:blipFill>
          <a:blip xmlns:r="http://schemas.openxmlformats.org/officeDocument/2006/relationships" xmlns:a="http://schemas.openxmlformats.org/drawingml/2006/main" r:embed="R588e02c206464fc4">
            <a:extLst>
              <a:ext uri="{96DAC541-7B7A-43D3-8B79-37D633B846F1}">
                <asvg:svgBlip xmlns:asvg="http://schemas.microsoft.com/office/drawing/2016/SVG/main" r:embed="Rf6b72c59e4c94b18"/>
              </a:ext>
            </a:extLst>
          </a:blip>
          <a:srcRect xmlns:a="http://schemas.openxmlformats.org/drawingml/2006/main" l="0" t="0" r="0" b="0"/>
          <a:stretch xmlns:a="http://schemas.openxmlformats.org/drawingml/2006/main"/>
        </p:blipFill>
        <p:spPr>
          <a:xfrm xmlns:a="http://schemas.openxmlformats.org/drawingml/2006/main">
            <a:off x="6424573" y="3274357"/>
            <a:ext cx="153619" cy="153619"/>
          </a:xfrm>
          <a:prstGeom xmlns:a="http://schemas.openxmlformats.org/drawingml/2006/main" prst="rect">
            <a:avLst/>
          </a:prstGeom>
        </p:spPr>
      </p:pic>
      <p:pic>
        <p:nvPicPr>
          <p:cNvPr id="79" name="Image 0"/>
          <p:cNvPicPr>
            <a:picLocks xmlns:a="http://schemas.openxmlformats.org/drawingml/2006/main" noChangeAspect="1"/>
          </p:cNvPicPr>
          <p:nvPr/>
        </p:nvPicPr>
        <p:blipFill>
          <a:blip xmlns:r="http://schemas.openxmlformats.org/officeDocument/2006/relationships" xmlns:a="http://schemas.openxmlformats.org/drawingml/2006/main" r:embed="R588e02c206464fc4">
            <a:extLst>
              <a:ext uri="{96DAC541-7B7A-43D3-8B79-37D633B846F1}">
                <asvg:svgBlip xmlns:asvg="http://schemas.microsoft.com/office/drawing/2016/SVG/main" r:embed="Rf6b72c59e4c94b18"/>
              </a:ext>
            </a:extLst>
          </a:blip>
          <a:srcRect xmlns:a="http://schemas.openxmlformats.org/drawingml/2006/main" l="0" t="0" r="0" b="0"/>
          <a:stretch xmlns:a="http://schemas.openxmlformats.org/drawingml/2006/main"/>
        </p:blipFill>
        <p:spPr>
          <a:xfrm xmlns:a="http://schemas.openxmlformats.org/drawingml/2006/main">
            <a:off x="6424574" y="3705149"/>
            <a:ext cx="153619" cy="153619"/>
          </a:xfrm>
          <a:prstGeom xmlns:a="http://schemas.openxmlformats.org/drawingml/2006/main" prst="rect">
            <a:avLst/>
          </a:prstGeom>
        </p:spPr>
      </p:pic>
    </p:spTree>
    <p:extLst>
      <p:ext uri="{BB962C8B-B14F-4D97-AF65-F5344CB8AC3E}">
        <p14:creationId xmlns:p14="http://schemas.microsoft.com/office/powerpoint/2010/main" val="174626671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26423CB-098F-423F-A04F-3EF0F4F8C82C}"/>
              </a:ext>
            </a:extLst>
          </p:cNvPr>
          <p:cNvSpPr>
            <a:spLocks xmlns:a="http://schemas.openxmlformats.org/drawingml/2006/main" noGrp="1"/>
          </p:cNvSpPr>
          <p:nvPr/>
        </p:nvSpPr>
        <p:spPr>
          <a:xfrm xmlns:a="http://schemas.openxmlformats.org/drawingml/2006/main">
            <a:off x="548640" y="45720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1F7A5C"/>
                </a:solidFill>
                <a:latin typeface="Courier New"/>
                <a:ea typeface="Courier New"/>
                <a:cs typeface="Courier New"/>
              </a:rPr>
              <a:t>OPERATIONAL IMPACT</a:t>
            </a:r>
            <a:endParaRPr sz="1100"/>
          </a:p>
        </p:txBody>
      </p:sp>
      <p:sp>
        <p:nvSpPr>
          <p:cNvPr id="3" name="Text 1">
            <a:extLst xmlns:a="http://schemas.openxmlformats.org/drawingml/2006/main">
              <a:ext uri="{FF2B5EF4-FFF2-40B4-BE49-F238E27FC236}">
                <a16:creationId xmlns:a16="http://schemas.microsoft.com/office/drawing/2014/main" id="{FDFFCF11-8330-4FE7-B65A-6ECAEFCA9291}"/>
              </a:ext>
            </a:extLst>
          </p:cNvPr>
          <p:cNvSpPr>
            <a:spLocks xmlns:a="http://schemas.openxmlformats.org/drawingml/2006/main" noGrp="1"/>
          </p:cNvSpPr>
          <p:nvPr/>
        </p:nvSpPr>
        <p:spPr>
          <a:xfrm xmlns:a="http://schemas.openxmlformats.org/drawingml/2006/main">
            <a:off x="548640" y="749808"/>
            <a:ext cx="1078992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2500" b="1">
                <a:solidFill>
                  <a:srgbClr val="12242A"/>
                </a:solidFill>
                <a:latin typeface="Cambria"/>
                <a:ea typeface="Cambria"/>
                <a:cs typeface="Cambria"/>
              </a:rPr>
              <a:t>Sentinel turns fragmented CCTV into a governed operational network</a:t>
            </a:r>
            <a:endParaRPr sz="2500"/>
          </a:p>
        </p:txBody>
      </p:sp>
      <p:sp>
        <p:nvSpPr>
          <p:cNvPr id="4" name="Text 2">
            <a:extLst xmlns:a="http://schemas.openxmlformats.org/drawingml/2006/main">
              <a:ext uri="{FF2B5EF4-FFF2-40B4-BE49-F238E27FC236}">
                <a16:creationId xmlns:a16="http://schemas.microsoft.com/office/drawing/2014/main" id="{896E44B5-9654-40DB-A7FA-74DF9DFEDCF6}"/>
              </a:ext>
            </a:extLst>
          </p:cNvPr>
          <p:cNvSpPr>
            <a:spLocks xmlns:a="http://schemas.openxmlformats.org/drawingml/2006/main" noGrp="1"/>
          </p:cNvSpPr>
          <p:nvPr/>
        </p:nvSpPr>
        <p:spPr>
          <a:xfrm xmlns:a="http://schemas.openxmlformats.org/drawingml/2006/main">
            <a:off x="548640" y="1444752"/>
            <a:ext cx="9144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6B7570"/>
                </a:solidFill>
                <a:latin typeface="Calibri"/>
                <a:ea typeface="Calibri"/>
                <a:cs typeface="Calibri"/>
              </a:rPr>
              <a:t>The expected result is faster access to trusted context, with accountability.</a:t>
            </a:r>
            <a:endParaRPr sz="1400"/>
          </a:p>
        </p:txBody>
      </p:sp>
      <p:sp>
        <p:nvSpPr>
          <p:cNvPr id="5" name="Shape 3">
            <a:extLst xmlns:a="http://schemas.openxmlformats.org/drawingml/2006/main">
              <a:ext uri="{FF2B5EF4-FFF2-40B4-BE49-F238E27FC236}">
                <a16:creationId xmlns:a16="http://schemas.microsoft.com/office/drawing/2014/main" id="{B3785526-C8D1-4DEC-B8E4-394073DF8A2E}"/>
              </a:ext>
            </a:extLst>
          </p:cNvPr>
          <p:cNvSpPr>
            <a:spLocks xmlns:a="http://schemas.openxmlformats.org/drawingml/2006/main" noGrp="1"/>
          </p:cNvSpPr>
          <p:nvPr/>
        </p:nvSpPr>
        <p:spPr>
          <a:xfrm xmlns:a="http://schemas.openxmlformats.org/drawingml/2006/main">
            <a:off x="548640" y="2011680"/>
            <a:ext cx="5364328" cy="4023360"/>
          </a:xfrm>
          <a:prstGeom xmlns:a="http://schemas.openxmlformats.org/drawingml/2006/main" prst="roundRect">
            <a:avLst>
              <a:gd name="adj" fmla="val 1364"/>
            </a:avLst>
          </a:prstGeom>
          <a:solidFill xmlns:a="http://schemas.openxmlformats.org/drawingml/2006/main">
            <a:srgbClr val="12242A"/>
          </a:solidFill>
        </p:spPr>
        <p:txBody>
          <a:bodyPr xmlns:a="http://schemas.openxmlformats.org/drawingml/2006/main"/>
          <a:lstStyle xmlns:a="http://schemas.openxmlformats.org/drawingml/2006/main"/>
          <a:p xmlns:a="http://schemas.openxmlformats.org/drawingml/2006/main">
            <a:endParaRPr/>
          </a:p>
        </p:txBody>
      </p:sp>
      <p:sp>
        <p:nvSpPr>
          <p:cNvPr id="6" name="Shape 4">
            <a:extLst xmlns:a="http://schemas.openxmlformats.org/drawingml/2006/main">
              <a:ext uri="{FF2B5EF4-FFF2-40B4-BE49-F238E27FC236}">
                <a16:creationId xmlns:a16="http://schemas.microsoft.com/office/drawing/2014/main" id="{6913F96A-6A68-4EAF-8F11-2E99A955A526}"/>
              </a:ext>
            </a:extLst>
          </p:cNvPr>
          <p:cNvSpPr>
            <a:spLocks xmlns:a="http://schemas.openxmlformats.org/drawingml/2006/main" noGrp="1"/>
          </p:cNvSpPr>
          <p:nvPr/>
        </p:nvSpPr>
        <p:spPr>
          <a:xfrm xmlns:a="http://schemas.openxmlformats.org/drawingml/2006/main">
            <a:off x="822960" y="2267712"/>
            <a:ext cx="512064" cy="512064"/>
          </a:xfrm>
          <a:prstGeom xmlns:a="http://schemas.openxmlformats.org/drawingml/2006/main" prst="ellipse">
            <a:avLst/>
          </a:prstGeom>
          <a:solidFill xmlns:a="http://schemas.openxmlformats.org/drawingml/2006/main">
            <a:srgbClr val="1B2E31"/>
          </a:solidFill>
        </p:spPr>
        <p:txBody>
          <a:bodyPr xmlns:a="http://schemas.openxmlformats.org/drawingml/2006/main"/>
          <a:lstStyle xmlns:a="http://schemas.openxmlformats.org/drawingml/2006/main"/>
          <a:p xmlns:a="http://schemas.openxmlformats.org/drawingml/2006/main">
            <a:endParaRPr/>
          </a:p>
        </p:txBody>
      </p:sp>
      <p:pic>
        <p:nvPicPr>
          <p:cNvPr id="32" name="Image 0"/>
          <p:cNvPicPr>
            <a:picLocks xmlns:a="http://schemas.openxmlformats.org/drawingml/2006/main" noChangeAspect="1"/>
          </p:cNvPicPr>
          <p:nvPr/>
        </p:nvPicPr>
        <p:blipFill>
          <a:blip xmlns:r="http://schemas.openxmlformats.org/officeDocument/2006/relationships" xmlns:a="http://schemas.openxmlformats.org/drawingml/2006/main" r:embed="R8bf5053502ff47ff"/>
          <a:stretch xmlns:a="http://schemas.openxmlformats.org/drawingml/2006/main">
            <a:fillRect l="0" t="0" r="0" b="0"/>
          </a:stretch>
        </p:blipFill>
        <p:spPr>
          <a:xfrm xmlns:a="http://schemas.openxmlformats.org/drawingml/2006/main">
            <a:off x="938174" y="2382926"/>
            <a:ext cx="281635" cy="281635"/>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3DF753E4-189B-45CB-99FC-52321A7DF6CF}"/>
              </a:ext>
            </a:extLst>
          </p:cNvPr>
          <p:cNvSpPr>
            <a:spLocks xmlns:a="http://schemas.openxmlformats.org/drawingml/2006/main" noGrp="1"/>
          </p:cNvSpPr>
          <p:nvPr/>
        </p:nvSpPr>
        <p:spPr>
          <a:xfrm xmlns:a="http://schemas.openxmlformats.org/drawingml/2006/main">
            <a:off x="1463040" y="2340864"/>
            <a:ext cx="426704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8E9B96"/>
                </a:solidFill>
                <a:latin typeface="Cambria"/>
                <a:ea typeface="Cambria"/>
                <a:cs typeface="Cambria"/>
              </a:rPr>
              <a:t>Today</a:t>
            </a:r>
            <a:endParaRPr sz="1700"/>
          </a:p>
        </p:txBody>
      </p:sp>
      <p:sp>
        <p:nvSpPr>
          <p:cNvPr id="9" name="Text 6">
            <a:extLst xmlns:a="http://schemas.openxmlformats.org/drawingml/2006/main">
              <a:ext uri="{FF2B5EF4-FFF2-40B4-BE49-F238E27FC236}">
                <a16:creationId xmlns:a16="http://schemas.microsoft.com/office/drawing/2014/main" id="{07FE1777-079F-4D01-B0FB-1FE1B5A0EE52}"/>
              </a:ext>
            </a:extLst>
          </p:cNvPr>
          <p:cNvSpPr>
            <a:spLocks xmlns:a="http://schemas.openxmlformats.org/drawingml/2006/main" noGrp="1"/>
          </p:cNvSpPr>
          <p:nvPr/>
        </p:nvSpPr>
        <p:spPr>
          <a:xfrm xmlns:a="http://schemas.openxmlformats.org/drawingml/2006/main">
            <a:off x="822960" y="3017520"/>
            <a:ext cx="481568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250">
                <a:solidFill>
                  <a:srgbClr val="8E9B96"/>
                </a:solidFill>
                <a:latin typeface="Calibri"/>
                <a:ea typeface="Calibri"/>
                <a:cs typeface="Calibri"/>
              </a:rPr>
              <a:t>–  Camera context is split across systems.</a:t>
            </a:r>
            <a:endParaRPr sz="1250"/>
          </a:p>
        </p:txBody>
      </p:sp>
      <p:sp>
        <p:nvSpPr>
          <p:cNvPr id="10" name="Text 7">
            <a:extLst xmlns:a="http://schemas.openxmlformats.org/drawingml/2006/main">
              <a:ext uri="{FF2B5EF4-FFF2-40B4-BE49-F238E27FC236}">
                <a16:creationId xmlns:a16="http://schemas.microsoft.com/office/drawing/2014/main" id="{0AF6E1DF-7648-4C08-A12C-A144EF5C118C}"/>
              </a:ext>
            </a:extLst>
          </p:cNvPr>
          <p:cNvSpPr>
            <a:spLocks xmlns:a="http://schemas.openxmlformats.org/drawingml/2006/main" noGrp="1"/>
          </p:cNvSpPr>
          <p:nvPr/>
        </p:nvSpPr>
        <p:spPr>
          <a:xfrm xmlns:a="http://schemas.openxmlformats.org/drawingml/2006/main">
            <a:off x="822960" y="3547872"/>
            <a:ext cx="481568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250">
                <a:solidFill>
                  <a:srgbClr val="8E9B96"/>
                </a:solidFill>
                <a:latin typeface="Calibri"/>
                <a:ea typeface="Calibri"/>
                <a:cs typeface="Calibri"/>
              </a:rPr>
              <a:t>–  Operators switch between feeds and records.</a:t>
            </a:r>
            <a:endParaRPr sz="1250"/>
          </a:p>
        </p:txBody>
      </p:sp>
      <p:sp>
        <p:nvSpPr>
          <p:cNvPr id="11" name="Text 8">
            <a:extLst xmlns:a="http://schemas.openxmlformats.org/drawingml/2006/main">
              <a:ext uri="{FF2B5EF4-FFF2-40B4-BE49-F238E27FC236}">
                <a16:creationId xmlns:a16="http://schemas.microsoft.com/office/drawing/2014/main" id="{B64DA61D-5F3D-4804-A7F0-B592E369B61E}"/>
              </a:ext>
            </a:extLst>
          </p:cNvPr>
          <p:cNvSpPr>
            <a:spLocks xmlns:a="http://schemas.openxmlformats.org/drawingml/2006/main" noGrp="1"/>
          </p:cNvSpPr>
          <p:nvPr/>
        </p:nvSpPr>
        <p:spPr>
          <a:xfrm xmlns:a="http://schemas.openxmlformats.org/drawingml/2006/main">
            <a:off x="822960" y="4078224"/>
            <a:ext cx="481568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250">
                <a:solidFill>
                  <a:srgbClr val="8E9B96"/>
                </a:solidFill>
                <a:latin typeface="Calibri"/>
                <a:ea typeface="Calibri"/>
                <a:cs typeface="Calibri"/>
              </a:rPr>
              <a:t>–  Watchlist checks and cross-camera review are manual.</a:t>
            </a:r>
            <a:endParaRPr sz="1250"/>
          </a:p>
        </p:txBody>
      </p:sp>
      <p:sp>
        <p:nvSpPr>
          <p:cNvPr id="12" name="Text 9">
            <a:extLst xmlns:a="http://schemas.openxmlformats.org/drawingml/2006/main">
              <a:ext uri="{FF2B5EF4-FFF2-40B4-BE49-F238E27FC236}">
                <a16:creationId xmlns:a16="http://schemas.microsoft.com/office/drawing/2014/main" id="{C6B93C15-5AB9-42E5-B3C9-57E4EC2094BD}"/>
              </a:ext>
            </a:extLst>
          </p:cNvPr>
          <p:cNvSpPr>
            <a:spLocks xmlns:a="http://schemas.openxmlformats.org/drawingml/2006/main" noGrp="1"/>
          </p:cNvSpPr>
          <p:nvPr/>
        </p:nvSpPr>
        <p:spPr>
          <a:xfrm xmlns:a="http://schemas.openxmlformats.org/drawingml/2006/main">
            <a:off x="822960" y="4608576"/>
            <a:ext cx="481568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250">
                <a:solidFill>
                  <a:srgbClr val="8E9B96"/>
                </a:solidFill>
                <a:latin typeface="Calibri"/>
                <a:ea typeface="Calibri"/>
                <a:cs typeface="Calibri"/>
              </a:rPr>
              <a:t>–  Integration changes depend on individual vendors.</a:t>
            </a:r>
            <a:endParaRPr sz="1250"/>
          </a:p>
        </p:txBody>
      </p:sp>
      <p:sp>
        <p:nvSpPr>
          <p:cNvPr id="13" name="Text 10">
            <a:extLst xmlns:a="http://schemas.openxmlformats.org/drawingml/2006/main">
              <a:ext uri="{FF2B5EF4-FFF2-40B4-BE49-F238E27FC236}">
                <a16:creationId xmlns:a16="http://schemas.microsoft.com/office/drawing/2014/main" id="{25B5BEDC-BF27-45B8-B0AC-FBBB31E10322}"/>
              </a:ext>
            </a:extLst>
          </p:cNvPr>
          <p:cNvSpPr>
            <a:spLocks xmlns:a="http://schemas.openxmlformats.org/drawingml/2006/main" noGrp="1"/>
          </p:cNvSpPr>
          <p:nvPr/>
        </p:nvSpPr>
        <p:spPr>
          <a:xfrm xmlns:a="http://schemas.openxmlformats.org/drawingml/2006/main">
            <a:off x="822960" y="5138928"/>
            <a:ext cx="481568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250">
                <a:solidFill>
                  <a:srgbClr val="8E9B96"/>
                </a:solidFill>
                <a:latin typeface="Calibri"/>
                <a:ea typeface="Calibri"/>
                <a:cs typeface="Calibri"/>
              </a:rPr>
              <a:t>–  Access and alert decisions are hard to trace.</a:t>
            </a:r>
            <a:endParaRPr sz="1250"/>
          </a:p>
        </p:txBody>
      </p:sp>
      <p:sp>
        <p:nvSpPr>
          <p:cNvPr id="14" name="Shape 11">
            <a:extLst xmlns:a="http://schemas.openxmlformats.org/drawingml/2006/main">
              <a:ext uri="{FF2B5EF4-FFF2-40B4-BE49-F238E27FC236}">
                <a16:creationId xmlns:a16="http://schemas.microsoft.com/office/drawing/2014/main" id="{AB7ED761-6E41-4B6C-BDD0-921FED695B89}"/>
              </a:ext>
            </a:extLst>
          </p:cNvPr>
          <p:cNvSpPr>
            <a:spLocks xmlns:a="http://schemas.openxmlformats.org/drawingml/2006/main" noGrp="1"/>
          </p:cNvSpPr>
          <p:nvPr/>
        </p:nvSpPr>
        <p:spPr>
          <a:xfrm xmlns:a="http://schemas.openxmlformats.org/drawingml/2006/main">
            <a:off x="6278728" y="2011680"/>
            <a:ext cx="5364328" cy="4023360"/>
          </a:xfrm>
          <a:prstGeom xmlns:a="http://schemas.openxmlformats.org/drawingml/2006/main" prst="roundRect">
            <a:avLst>
              <a:gd name="adj" fmla="val 1364"/>
            </a:avLst>
          </a:prstGeom>
          <a:solidFill xmlns:a="http://schemas.openxmlformats.org/drawingml/2006/main">
            <a:srgbClr val="E4F1EA"/>
          </a:solidFill>
        </p:spPr>
        <p:txBody>
          <a:bodyPr xmlns:a="http://schemas.openxmlformats.org/drawingml/2006/main"/>
          <a:lstStyle xmlns:a="http://schemas.openxmlformats.org/drawingml/2006/main"/>
          <a:p xmlns:a="http://schemas.openxmlformats.org/drawingml/2006/main">
            <a:endParaRPr/>
          </a:p>
        </p:txBody>
      </p:sp>
      <p:sp>
        <p:nvSpPr>
          <p:cNvPr id="15" name="Shape 12">
            <a:extLst xmlns:a="http://schemas.openxmlformats.org/drawingml/2006/main">
              <a:ext uri="{FF2B5EF4-FFF2-40B4-BE49-F238E27FC236}">
                <a16:creationId xmlns:a16="http://schemas.microsoft.com/office/drawing/2014/main" id="{6EB02413-BB93-41C6-9D2E-F0B1985ADE93}"/>
              </a:ext>
            </a:extLst>
          </p:cNvPr>
          <p:cNvSpPr>
            <a:spLocks xmlns:a="http://schemas.openxmlformats.org/drawingml/2006/main" noGrp="1"/>
          </p:cNvSpPr>
          <p:nvPr/>
        </p:nvSpPr>
        <p:spPr>
          <a:xfrm xmlns:a="http://schemas.openxmlformats.org/drawingml/2006/main">
            <a:off x="6553048" y="2267712"/>
            <a:ext cx="512064" cy="512064"/>
          </a:xfrm>
          <a:prstGeom xmlns:a="http://schemas.openxmlformats.org/drawingml/2006/main" prst="ellipse">
            <a:avLst/>
          </a:prstGeom>
          <a:solidFill xmlns:a="http://schemas.openxmlformats.org/drawingml/2006/main">
            <a:srgbClr val="1F7A5C"/>
          </a:solidFill>
        </p:spPr>
        <p:txBody>
          <a:bodyPr xmlns:a="http://schemas.openxmlformats.org/drawingml/2006/main"/>
          <a:lstStyle xmlns:a="http://schemas.openxmlformats.org/drawingml/2006/main"/>
          <a:p xmlns:a="http://schemas.openxmlformats.org/drawingml/2006/main">
            <a:endParaRPr/>
          </a:p>
        </p:txBody>
      </p:sp>
      <p:sp>
        <p:nvSpPr>
          <p:cNvPr id="17" name="Text 13">
            <a:extLst xmlns:a="http://schemas.openxmlformats.org/drawingml/2006/main">
              <a:ext uri="{FF2B5EF4-FFF2-40B4-BE49-F238E27FC236}">
                <a16:creationId xmlns:a16="http://schemas.microsoft.com/office/drawing/2014/main" id="{86F263F4-CB76-43DA-81EC-AC5A92818D90}"/>
              </a:ext>
            </a:extLst>
          </p:cNvPr>
          <p:cNvSpPr>
            <a:spLocks xmlns:a="http://schemas.openxmlformats.org/drawingml/2006/main" noGrp="1"/>
          </p:cNvSpPr>
          <p:nvPr/>
        </p:nvSpPr>
        <p:spPr>
          <a:xfrm xmlns:a="http://schemas.openxmlformats.org/drawingml/2006/main">
            <a:off x="7193128" y="2340864"/>
            <a:ext cx="426704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55F48"/>
                </a:solidFill>
                <a:latin typeface="Cambria"/>
                <a:ea typeface="Cambria"/>
                <a:cs typeface="Cambria"/>
              </a:rPr>
              <a:t>With Sentinel</a:t>
            </a:r>
            <a:endParaRPr sz="1700"/>
          </a:p>
        </p:txBody>
      </p:sp>
      <p:sp>
        <p:nvSpPr>
          <p:cNvPr id="18" name="Text 14">
            <a:extLst xmlns:a="http://schemas.openxmlformats.org/drawingml/2006/main">
              <a:ext uri="{FF2B5EF4-FFF2-40B4-BE49-F238E27FC236}">
                <a16:creationId xmlns:a16="http://schemas.microsoft.com/office/drawing/2014/main" id="{0333129E-0D98-44FB-8F44-E43084991CF8}"/>
              </a:ext>
            </a:extLst>
          </p:cNvPr>
          <p:cNvSpPr>
            <a:spLocks xmlns:a="http://schemas.openxmlformats.org/drawingml/2006/main" noGrp="1"/>
          </p:cNvSpPr>
          <p:nvPr/>
        </p:nvSpPr>
        <p:spPr>
          <a:xfrm xmlns:a="http://schemas.openxmlformats.org/drawingml/2006/main">
            <a:off x="6553048" y="3017520"/>
            <a:ext cx="481568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250">
                <a:solidFill>
                  <a:srgbClr val="12242A"/>
                </a:solidFill>
                <a:latin typeface="Calibri"/>
                <a:ea typeface="Calibri"/>
                <a:cs typeface="Calibri"/>
              </a:rPr>
              <a:t>✓  One department-scoped registry and live operations view.</a:t>
            </a:r>
            <a:endParaRPr sz="1250"/>
          </a:p>
        </p:txBody>
      </p:sp>
      <p:sp>
        <p:nvSpPr>
          <p:cNvPr id="19" name="Text 15">
            <a:extLst xmlns:a="http://schemas.openxmlformats.org/drawingml/2006/main">
              <a:ext uri="{FF2B5EF4-FFF2-40B4-BE49-F238E27FC236}">
                <a16:creationId xmlns:a16="http://schemas.microsoft.com/office/drawing/2014/main" id="{4829B2B1-6C54-461E-AD4F-11207FA10405}"/>
              </a:ext>
            </a:extLst>
          </p:cNvPr>
          <p:cNvSpPr>
            <a:spLocks xmlns:a="http://schemas.openxmlformats.org/drawingml/2006/main" noGrp="1"/>
          </p:cNvSpPr>
          <p:nvPr/>
        </p:nvSpPr>
        <p:spPr>
          <a:xfrm xmlns:a="http://schemas.openxmlformats.org/drawingml/2006/main">
            <a:off x="6553048" y="3547872"/>
            <a:ext cx="481568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250">
                <a:solidFill>
                  <a:srgbClr val="12242A"/>
                </a:solidFill>
                <a:latin typeface="Calibri"/>
                <a:ea typeface="Calibri"/>
                <a:cs typeface="Calibri"/>
              </a:rPr>
              <a:t>✓  Governed observations correlate with watchlists automatically.</a:t>
            </a:r>
            <a:endParaRPr sz="1250"/>
          </a:p>
        </p:txBody>
      </p:sp>
      <p:sp>
        <p:nvSpPr>
          <p:cNvPr id="20" name="Text 16">
            <a:extLst xmlns:a="http://schemas.openxmlformats.org/drawingml/2006/main">
              <a:ext uri="{FF2B5EF4-FFF2-40B4-BE49-F238E27FC236}">
                <a16:creationId xmlns:a16="http://schemas.microsoft.com/office/drawing/2014/main" id="{72BD4474-7708-44CD-9D28-E5384DED730F}"/>
              </a:ext>
            </a:extLst>
          </p:cNvPr>
          <p:cNvSpPr>
            <a:spLocks xmlns:a="http://schemas.openxmlformats.org/drawingml/2006/main" noGrp="1"/>
          </p:cNvSpPr>
          <p:nvPr/>
        </p:nvSpPr>
        <p:spPr>
          <a:xfrm xmlns:a="http://schemas.openxmlformats.org/drawingml/2006/main">
            <a:off x="6553048" y="4078224"/>
            <a:ext cx="481568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250">
                <a:solidFill>
                  <a:srgbClr val="12242A"/>
                </a:solidFill>
                <a:latin typeface="Calibri"/>
                <a:ea typeface="Calibri"/>
                <a:cs typeface="Calibri"/>
              </a:rPr>
              <a:t>✓  Prioritised, deduplicated alerts include source context.</a:t>
            </a:r>
            <a:endParaRPr sz="1250"/>
          </a:p>
        </p:txBody>
      </p:sp>
      <p:sp>
        <p:nvSpPr>
          <p:cNvPr id="21" name="Text 17">
            <a:extLst xmlns:a="http://schemas.openxmlformats.org/drawingml/2006/main">
              <a:ext uri="{FF2B5EF4-FFF2-40B4-BE49-F238E27FC236}">
                <a16:creationId xmlns:a16="http://schemas.microsoft.com/office/drawing/2014/main" id="{2FC36CD2-8160-4C34-A0E4-88D46D72872B}"/>
              </a:ext>
            </a:extLst>
          </p:cNvPr>
          <p:cNvSpPr>
            <a:spLocks xmlns:a="http://schemas.openxmlformats.org/drawingml/2006/main" noGrp="1"/>
          </p:cNvSpPr>
          <p:nvPr/>
        </p:nvSpPr>
        <p:spPr>
          <a:xfrm xmlns:a="http://schemas.openxmlformats.org/drawingml/2006/main">
            <a:off x="6553048" y="4608576"/>
            <a:ext cx="481568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250">
                <a:solidFill>
                  <a:srgbClr val="12242A"/>
                </a:solidFill>
                <a:latin typeface="Calibri"/>
                <a:ea typeface="Calibri"/>
                <a:cs typeface="Calibri"/>
              </a:rPr>
              <a:t>✓  Journeys and recorded-footage investigation remain searchable.</a:t>
            </a:r>
            <a:endParaRPr sz="1250"/>
          </a:p>
        </p:txBody>
      </p:sp>
      <p:sp>
        <p:nvSpPr>
          <p:cNvPr id="22" name="Text 18">
            <a:extLst xmlns:a="http://schemas.openxmlformats.org/drawingml/2006/main">
              <a:ext uri="{FF2B5EF4-FFF2-40B4-BE49-F238E27FC236}">
                <a16:creationId xmlns:a16="http://schemas.microsoft.com/office/drawing/2014/main" id="{078D60A6-3C80-4858-AA02-59250EB6D8D4}"/>
              </a:ext>
            </a:extLst>
          </p:cNvPr>
          <p:cNvSpPr>
            <a:spLocks xmlns:a="http://schemas.openxmlformats.org/drawingml/2006/main" noGrp="1"/>
          </p:cNvSpPr>
          <p:nvPr/>
        </p:nvSpPr>
        <p:spPr>
          <a:xfrm xmlns:a="http://schemas.openxmlformats.org/drawingml/2006/main">
            <a:off x="6553048" y="5138928"/>
            <a:ext cx="481568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250">
                <a:solidFill>
                  <a:srgbClr val="12242A"/>
                </a:solidFill>
                <a:latin typeface="Calibri"/>
                <a:ea typeface="Calibri"/>
                <a:cs typeface="Calibri"/>
              </a:rPr>
              <a:t>✓  Access, decisions and operator actions remain auditable.</a:t>
            </a:r>
            <a:endParaRPr sz="1250"/>
          </a:p>
        </p:txBody>
      </p:sp>
      <p:sp>
        <p:nvSpPr>
          <p:cNvPr id="23" name="Text 19">
            <a:extLst xmlns:a="http://schemas.openxmlformats.org/drawingml/2006/main">
              <a:ext uri="{FF2B5EF4-FFF2-40B4-BE49-F238E27FC236}">
                <a16:creationId xmlns:a16="http://schemas.microsoft.com/office/drawing/2014/main" id="{D44CB4FE-67E7-49D8-ACCE-24115F14C44C}"/>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150">
                <a:solidFill>
                  <a:srgbClr val="6B7570"/>
                </a:solidFill>
                <a:latin typeface="Courier New"/>
                <a:ea typeface="Courier New"/>
                <a:cs typeface="Courier New"/>
              </a:rPr>
              <a:t>SENTINEL GUJARAT</a:t>
            </a:r>
            <a:endParaRPr sz="900"/>
          </a:p>
        </p:txBody>
      </p:sp>
      <p:sp>
        <p:nvSpPr>
          <p:cNvPr id="24" name="Text 20">
            <a:extLst xmlns:a="http://schemas.openxmlformats.org/drawingml/2006/main">
              <a:ext uri="{FF2B5EF4-FFF2-40B4-BE49-F238E27FC236}">
                <a16:creationId xmlns:a16="http://schemas.microsoft.com/office/drawing/2014/main" id="{BEB66916-9714-4E6C-A452-7AC3C0ABB5C5}"/>
              </a:ext>
            </a:extLst>
          </p:cNvPr>
          <p:cNvSpPr>
            <a:spLocks xmlns:a="http://schemas.openxmlformats.org/drawingml/2006/main" noGrp="1"/>
          </p:cNvSpPr>
          <p:nvPr/>
        </p:nvSpPr>
        <p:spPr>
          <a:xfrm xmlns:a="http://schemas.openxmlformats.org/drawingml/2006/main">
            <a:off x="10728655" y="6473952"/>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570"/>
                </a:solidFill>
                <a:latin typeface="Courier New"/>
                <a:ea typeface="Courier New"/>
                <a:cs typeface="Courier New"/>
              </a:rPr>
              <a:t>15</a:t>
            </a:r>
            <a:endParaRPr sz="900"/>
          </a:p>
        </p:txBody>
      </p:sp>
      <p:pic>
        <p:nvPicPr>
          <p:cNvPr id="49" name="Image 0"/>
          <p:cNvPicPr>
            <a:picLocks xmlns:a="http://schemas.openxmlformats.org/drawingml/2006/main" noChangeAspect="1"/>
          </p:cNvPicPr>
          <p:nvPr/>
        </p:nvPicPr>
        <p:blipFill>
          <a:blip xmlns:r="http://schemas.openxmlformats.org/officeDocument/2006/relationships" xmlns:a="http://schemas.openxmlformats.org/drawingml/2006/main" r:embed="R4c51f467349540bc">
            <a:extLst>
              <a:ext uri="{96DAC541-7B7A-43D3-8B79-37D633B846F1}">
                <asvg:svgBlip xmlns:asvg="http://schemas.microsoft.com/office/drawing/2016/SVG/main" r:embed="Rbd3f52c911e046bc"/>
              </a:ext>
            </a:extLst>
          </a:blip>
          <a:srcRect xmlns:a="http://schemas.openxmlformats.org/drawingml/2006/main" l="0" t="0" r="0" b="0"/>
          <a:stretch xmlns:a="http://schemas.openxmlformats.org/drawingml/2006/main"/>
        </p:blipFill>
        <p:spPr>
          <a:xfrm xmlns:a="http://schemas.openxmlformats.org/drawingml/2006/main">
            <a:off x="6670091" y="2382926"/>
            <a:ext cx="277978" cy="277978"/>
          </a:xfrm>
          <a:prstGeom xmlns:a="http://schemas.openxmlformats.org/drawingml/2006/main" prst="rect">
            <a:avLst/>
          </a:prstGeom>
        </p:spPr>
      </p:pic>
    </p:spTree>
    <p:extLst>
      <p:ext uri="{BB962C8B-B14F-4D97-AF65-F5344CB8AC3E}">
        <p14:creationId xmlns:p14="http://schemas.microsoft.com/office/powerpoint/2010/main" val="138052369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2026-09-01T18:46:57.2780000Z</dcterms:created>
  <dcterms:modified xsi:type="dcterms:W3CDTF">2026-09-01T18:46:57.2780000Z</dcterms:modified>
</coreProperties>
</file>